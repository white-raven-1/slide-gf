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0344" y="246955"/>
            <a:ext cx="2327865" cy="82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4"/>
              </a:lnSpc>
              <a:spcBef>
                <a:spcPts val="0"/>
              </a:spcBef>
              <a:spcAft>
                <a:spcPts val="0"/>
              </a:spcAft>
            </a:pPr>
            <a:r>
              <a:rPr sz="512" b="1" i="0" spc="139">
                <a:solidFill>
                  <a:srgbClr val="8A1C2B"/>
                </a:solidFill>
                <a:latin typeface="Arial"/>
              </a:rPr>
              <a:t>GO FINANCE 2026 · PITCHBOOK · PHỤ LỤC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344" y="341455"/>
            <a:ext cx="2327865" cy="1871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256" b="1" i="0" spc="-13">
                <a:solidFill>
                  <a:srgbClr val="3A3A3E"/>
                </a:solidFill>
                <a:latin typeface="Arial"/>
              </a:rPr>
              <a:t>Phụ lục: bằng chứng bổ trợ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344" y="540422"/>
            <a:ext cx="2327865" cy="1004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13"/>
              </a:lnSpc>
              <a:spcBef>
                <a:spcPts val="0"/>
              </a:spcBef>
              <a:spcAft>
                <a:spcPts val="0"/>
              </a:spcAft>
            </a:pPr>
            <a:r>
              <a:rPr sz="605" b="0" i="0">
                <a:solidFill>
                  <a:srgbClr val="5E5E63"/>
                </a:solidFill>
                <a:latin typeface="Arial"/>
              </a:rPr>
              <a:t>Vĩ mô, cơ cấu vốn, cầu nối lợi nhuận và dòng tiền, độ nhạy, DCF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1875" y="129938"/>
            <a:ext cx="1771875" cy="504984"/>
          </a:xfrm>
          <a:prstGeom prst="rect">
            <a:avLst/>
          </a:prstGeom>
          <a:solidFill>
            <a:srgbClr val="3A3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40469" y="177188"/>
            <a:ext cx="1594688" cy="4104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6"/>
              </a:lnSpc>
              <a:spcBef>
                <a:spcPts val="0"/>
              </a:spcBef>
              <a:spcAft>
                <a:spcPts val="0"/>
              </a:spcAft>
            </a:pPr>
            <a:r>
              <a:rPr sz="488" b="0" i="0">
                <a:solidFill>
                  <a:srgbClr val="D6D6DA"/>
                </a:solidFill>
                <a:latin typeface="Arial"/>
              </a:rPr>
              <a:t>PHỤ LỤC</a:t>
            </a:r>
          </a:p>
          <a:p>
            <a:pPr algn="l">
              <a:lnSpc>
                <a:spcPts val="1317"/>
              </a:lnSpc>
              <a:spcBef>
                <a:spcPts val="0"/>
              </a:spcBef>
              <a:spcAft>
                <a:spcPts val="0"/>
              </a:spcAft>
            </a:pPr>
            <a:r>
              <a:rPr sz="1116" b="1" i="0" spc="46">
                <a:solidFill>
                  <a:srgbClr val="F3C3C9"/>
                </a:solidFill>
                <a:latin typeface="Arial"/>
              </a:rPr>
              <a:t>CTD · HPG</a:t>
            </a:r>
          </a:p>
          <a:p>
            <a:pPr algn="l">
              <a:lnSpc>
                <a:spcPts val="836"/>
              </a:lnSpc>
              <a:spcBef>
                <a:spcPts val="0"/>
              </a:spcBef>
              <a:spcAft>
                <a:spcPts val="0"/>
              </a:spcAft>
            </a:pPr>
            <a:r>
              <a:rPr sz="488" b="0" i="0">
                <a:solidFill>
                  <a:srgbClr val="D6D6DA"/>
                </a:solidFill>
                <a:latin typeface="Arial"/>
              </a:rPr>
              <a:t>Số liệu bổ trợ cho trang 1–2</a:t>
            </a:r>
          </a:p>
        </p:txBody>
      </p:sp>
      <p:sp>
        <p:nvSpPr>
          <p:cNvPr id="7" name="Rectangle 6"/>
          <p:cNvSpPr/>
          <p:nvPr/>
        </p:nvSpPr>
        <p:spPr>
          <a:xfrm>
            <a:off x="236250" y="693984"/>
            <a:ext cx="7087500" cy="177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6250" y="753047"/>
            <a:ext cx="7087500" cy="141750"/>
          </a:xfrm>
          <a:prstGeom prst="rect">
            <a:avLst/>
          </a:prstGeom>
          <a:gradFill rotWithShape="1">
            <a:gsLst>
              <a:gs pos="0">
                <a:srgbClr val="8A1C2B"/>
              </a:gs>
              <a:gs pos="55000">
                <a:srgbClr val="C8102E"/>
              </a:gs>
              <a:gs pos="100000">
                <a:srgbClr val="E04A5F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219" y="776672"/>
            <a:ext cx="2012924" cy="9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6"/>
              </a:lnSpc>
              <a:spcBef>
                <a:spcPts val="0"/>
              </a:spcBef>
              <a:spcAft>
                <a:spcPts val="0"/>
              </a:spcAft>
            </a:pPr>
            <a:r>
              <a:rPr sz="581" b="1" i="0" spc="55">
                <a:solidFill>
                  <a:srgbClr val="FFFFFF"/>
                </a:solidFill>
                <a:latin typeface="Arial"/>
              </a:rPr>
              <a:t>A · VĨ MÔ: TĂNG TRƯỞNG VÀ LÃI SUẤT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0460" y="782578"/>
            <a:ext cx="2680884" cy="82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4"/>
              </a:lnSpc>
              <a:spcBef>
                <a:spcPts val="0"/>
              </a:spcBef>
              <a:spcAft>
                <a:spcPts val="0"/>
              </a:spcAft>
            </a:pPr>
            <a:r>
              <a:rPr sz="512" b="0" i="1">
                <a:solidFill>
                  <a:srgbClr val="FFFFFF"/>
                </a:solidFill>
                <a:latin typeface="Arial"/>
              </a:rPr>
              <a:t>Cơ sở GDP 8.6% thấp hơn mục tiêu ≥10%; lãi vay 10.7% là rủi ro cho chủ đầu tư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250" y="2725365"/>
            <a:ext cx="7087500" cy="141750"/>
          </a:xfrm>
          <a:prstGeom prst="rect">
            <a:avLst/>
          </a:prstGeom>
          <a:gradFill rotWithShape="1">
            <a:gsLst>
              <a:gs pos="0">
                <a:srgbClr val="8A1C2B"/>
              </a:gs>
              <a:gs pos="55000">
                <a:srgbClr val="C8102E"/>
              </a:gs>
              <a:gs pos="100000">
                <a:srgbClr val="E04A5F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219" y="2748990"/>
            <a:ext cx="2851519" cy="9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6"/>
              </a:lnSpc>
              <a:spcBef>
                <a:spcPts val="0"/>
              </a:spcBef>
              <a:spcAft>
                <a:spcPts val="0"/>
              </a:spcAft>
            </a:pPr>
            <a:r>
              <a:rPr sz="581" b="1" i="0" spc="55">
                <a:solidFill>
                  <a:srgbClr val="FFFFFF"/>
                </a:solidFill>
                <a:latin typeface="Arial"/>
              </a:rPr>
              <a:t>B · CTD: CƠ CẤU VỐN, CẦU NỐI LỢI NHUẬN VÀ DÒNG TIỀN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8415" y="2754896"/>
            <a:ext cx="2622929" cy="82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4"/>
              </a:lnSpc>
              <a:spcBef>
                <a:spcPts val="0"/>
              </a:spcBef>
              <a:spcAft>
                <a:spcPts val="0"/>
              </a:spcAft>
            </a:pPr>
            <a:r>
              <a:rPr sz="512" b="0" i="1">
                <a:solidFill>
                  <a:srgbClr val="FFFFFF"/>
                </a:solidFill>
                <a:latin typeface="Arial"/>
              </a:rPr>
              <a:t>Tăng trưởng được tài trợ bằng ứng trước và nhà cung cấp, không phải vốn chủ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6250" y="4686609"/>
            <a:ext cx="7087500" cy="141750"/>
          </a:xfrm>
          <a:prstGeom prst="rect">
            <a:avLst/>
          </a:prstGeom>
          <a:gradFill rotWithShape="1">
            <a:gsLst>
              <a:gs pos="0">
                <a:srgbClr val="8A1C2B"/>
              </a:gs>
              <a:gs pos="55000">
                <a:srgbClr val="C8102E"/>
              </a:gs>
              <a:gs pos="100000">
                <a:srgbClr val="E04A5F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219" y="4710234"/>
            <a:ext cx="2074109" cy="9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6"/>
              </a:lnSpc>
              <a:spcBef>
                <a:spcPts val="0"/>
              </a:spcBef>
              <a:spcAft>
                <a:spcPts val="0"/>
              </a:spcAft>
            </a:pPr>
            <a:r>
              <a:rPr sz="581" b="1" i="0" spc="55">
                <a:solidFill>
                  <a:srgbClr val="FFFFFF"/>
                </a:solidFill>
                <a:latin typeface="Arial"/>
              </a:rPr>
              <a:t>C · ĐỊNH GIÁ: EV, DCF VÀ BẢN ĐỒ NHIỆT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6224" y="4716141"/>
            <a:ext cx="1965120" cy="82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4"/>
              </a:lnSpc>
              <a:spcBef>
                <a:spcPts val="0"/>
              </a:spcBef>
              <a:spcAft>
                <a:spcPts val="0"/>
              </a:spcAft>
            </a:pPr>
            <a:r>
              <a:rPr sz="512" b="0" i="1">
                <a:solidFill>
                  <a:srgbClr val="FFFFFF"/>
                </a:solidFill>
                <a:latin typeface="Arial"/>
              </a:rPr>
              <a:t>EV chỉ 4,751 tỷ nhưng gấp đôi nếu 50% ứng trước là nợ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6250" y="7187168"/>
            <a:ext cx="7087500" cy="141750"/>
          </a:xfrm>
          <a:prstGeom prst="rect">
            <a:avLst/>
          </a:prstGeom>
          <a:gradFill rotWithShape="1">
            <a:gsLst>
              <a:gs pos="0">
                <a:srgbClr val="8A1C2B"/>
              </a:gs>
              <a:gs pos="55000">
                <a:srgbClr val="C8102E"/>
              </a:gs>
              <a:gs pos="100000">
                <a:srgbClr val="E04A5F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219" y="7210793"/>
            <a:ext cx="2130864" cy="9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6"/>
              </a:lnSpc>
              <a:spcBef>
                <a:spcPts val="0"/>
              </a:spcBef>
              <a:spcAft>
                <a:spcPts val="0"/>
              </a:spcAft>
            </a:pPr>
            <a:r>
              <a:rPr sz="581" b="1" i="0" spc="55">
                <a:solidFill>
                  <a:srgbClr val="FFFFFF"/>
                </a:solidFill>
                <a:latin typeface="Arial"/>
              </a:rPr>
              <a:t>D · NHÓM SO SÁNH VÀ CƠ CẤU BACKLOG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3571" y="7216699"/>
            <a:ext cx="3197773" cy="82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04"/>
              </a:lnSpc>
              <a:spcBef>
                <a:spcPts val="0"/>
              </a:spcBef>
              <a:spcAft>
                <a:spcPts val="0"/>
              </a:spcAft>
            </a:pPr>
            <a:r>
              <a:rPr sz="512" b="0" i="1">
                <a:solidFill>
                  <a:srgbClr val="FFFFFF"/>
                </a:solidFill>
                <a:latin typeface="Arial"/>
              </a:rPr>
              <a:t>P/E 9.5x và P/B 0.87x lấy từ nhóm so sánh; 24% backlog là hạ tầng và công nghiệp (biên cao hơn)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344" y="924328"/>
            <a:ext cx="2431308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Dự báo GDP 2026 của các tổ chức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344" y="2496498"/>
            <a:ext cx="2431308" cy="1520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WB (5/2026), IMF (7/2026), ADB (9/2026), SSI, BIDV, Viện CL&amp;CS, Standard Chartered, Quốc hội.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906" y="924328"/>
            <a:ext cx="2431308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Mặt bằng lãi suất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906" y="2496498"/>
            <a:ext cx="2431308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NHNN, HNX, biểu lãi suất Big4.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3469" y="924328"/>
            <a:ext cx="2327062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Độ nhạy giá mục tiêu (tornado)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(nghìn đồng)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3469" y="2496498"/>
            <a:ext cx="2327062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mô hình nhóm; nền 83.5.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344" y="2896646"/>
            <a:ext cx="2431308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Cơ cấu nguồn vốn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(tỷ đồng)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344" y="4527879"/>
            <a:ext cx="2431308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BCTC CTD (Vietcap).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906" y="2896646"/>
            <a:ext cx="2431308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Cầu nối OCF FY26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(tỷ đồng)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906" y="4527879"/>
            <a:ext cx="2431308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BCTC CTD (Vietcap), nhóm cộng 4 quý.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3469" y="2896646"/>
            <a:ext cx="2327062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Cầu nối LNST FY26 → FY27E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(tỷ đồng)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3469" y="4527879"/>
            <a:ext cx="2327062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mô hình nhóm (biên gộp 4.45%).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344" y="4857891"/>
            <a:ext cx="2431308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Từ vốn hoá đến EV (30/6/2026)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(tỷ đồng)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344" y="6401452"/>
            <a:ext cx="2431308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BCTC CTD (Vietcap); giá 59,300.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906" y="4857891"/>
            <a:ext cx="2400743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Bản đồ nhiệt giá mục tiêu: biên gộp × doanh thu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(nghìn đồng)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906" y="5912618"/>
            <a:ext cx="2400743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mô hình nhóm (P/E 9.5x, P/B 0.87x, DCF 40% scale theo EBITDA).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3938" y="4857891"/>
            <a:ext cx="2356594" cy="131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Giả định DCF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3938" y="7069781"/>
            <a:ext cx="2356594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mô hình nhóm.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344" y="7358449"/>
            <a:ext cx="4856055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Nhóm so sánh (chỉ các mã dùng cho P/E forward hoặc P/B)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344" y="9339996"/>
            <a:ext cx="4856055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stockanalysis.com (S&amp;P Global), Simplize, 17/7–2/10/2026; chưa kiểm chứng Bloomberg/FiinPro. Mã in đậm = dùng tính trung vị.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4657" y="7358449"/>
            <a:ext cx="2405874" cy="132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605" b="1" i="0">
                <a:solidFill>
                  <a:srgbClr val="3A3A3E"/>
                </a:solidFill>
                <a:latin typeface="Arial"/>
              </a:rPr>
              <a:t>Cơ cấu backlog cuối FY26 (~70,000 tỷ) </a:t>
            </a:r>
            <a:r>
              <a:rPr sz="465" b="0" i="0">
                <a:solidFill>
                  <a:srgbClr val="8C8C91"/>
                </a:solidFill>
                <a:latin typeface="Arial"/>
              </a:rPr>
              <a:t>(%)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94657" y="8576244"/>
            <a:ext cx="2405874" cy="819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2"/>
              </a:lnSpc>
              <a:spcBef>
                <a:spcPts val="0"/>
              </a:spcBef>
              <a:spcAft>
                <a:spcPts val="0"/>
              </a:spcAft>
            </a:pPr>
            <a:r>
              <a:rPr sz="442" b="0" i="1">
                <a:solidFill>
                  <a:srgbClr val="8C8C91"/>
                </a:solidFill>
                <a:latin typeface="Arial"/>
              </a:rPr>
              <a:t>Nguồn: CTD, Elibook (4/9/2026), pitchbook Hình 8; phần làm tròn.</a:t>
            </a:r>
          </a:p>
        </p:txBody>
      </p:sp>
      <p:pic>
        <p:nvPicPr>
          <p:cNvPr id="42" name="Picture 41" descr="p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50" y="1063125"/>
            <a:ext cx="2303438" cy="1240312"/>
          </a:xfrm>
          <a:prstGeom prst="rect">
            <a:avLst/>
          </a:prstGeom>
        </p:spPr>
      </p:pic>
      <p:pic>
        <p:nvPicPr>
          <p:cNvPr id="43" name="Picture 42" descr="p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812" y="1063125"/>
            <a:ext cx="2303438" cy="1240312"/>
          </a:xfrm>
          <a:prstGeom prst="rect">
            <a:avLst/>
          </a:prstGeom>
        </p:spPr>
      </p:pic>
      <p:pic>
        <p:nvPicPr>
          <p:cNvPr id="44" name="Picture 43" descr="p0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375" y="1063125"/>
            <a:ext cx="2303438" cy="1240312"/>
          </a:xfrm>
          <a:prstGeom prst="rect">
            <a:avLst/>
          </a:prstGeom>
        </p:spPr>
      </p:pic>
      <p:pic>
        <p:nvPicPr>
          <p:cNvPr id="45" name="Picture 44" descr="p0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50" y="3035443"/>
            <a:ext cx="2303438" cy="1299375"/>
          </a:xfrm>
          <a:prstGeom prst="rect">
            <a:avLst/>
          </a:prstGeom>
        </p:spPr>
      </p:pic>
      <p:pic>
        <p:nvPicPr>
          <p:cNvPr id="46" name="Picture 45" descr="p0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812" y="3035443"/>
            <a:ext cx="2303438" cy="1299375"/>
          </a:xfrm>
          <a:prstGeom prst="rect">
            <a:avLst/>
          </a:prstGeom>
        </p:spPr>
      </p:pic>
      <p:pic>
        <p:nvPicPr>
          <p:cNvPr id="47" name="Picture 46" descr="p0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375" y="3035443"/>
            <a:ext cx="2303438" cy="1299375"/>
          </a:xfrm>
          <a:prstGeom prst="rect">
            <a:avLst/>
          </a:prstGeom>
        </p:spPr>
      </p:pic>
      <p:pic>
        <p:nvPicPr>
          <p:cNvPr id="48" name="Picture 47" descr="p0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250" y="4996688"/>
            <a:ext cx="2303438" cy="1299375"/>
          </a:xfrm>
          <a:prstGeom prst="rect">
            <a:avLst/>
          </a:prstGeom>
        </p:spPr>
      </p:pic>
      <p:pic>
        <p:nvPicPr>
          <p:cNvPr id="49" name="Picture 48" descr="p0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563" y="7497246"/>
            <a:ext cx="2303438" cy="885938"/>
          </a:xfrm>
          <a:prstGeom prst="rect">
            <a:avLst/>
          </a:prstGeom>
        </p:spPr>
      </p:pic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2657812" y="4996688"/>
          <a:ext cx="2273907" cy="71991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24420"/>
                <a:gridCol w="269842"/>
                <a:gridCol w="269842"/>
                <a:gridCol w="269842"/>
                <a:gridCol w="269842"/>
                <a:gridCol w="270119"/>
              </a:tblGrid>
              <a:tr h="100406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Biên gộp \ Doanh thu FY27E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36,000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38,000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40,000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42,000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44,000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</a:tr>
              <a:tr h="121540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3.95%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70.8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72.8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74.7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76.6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78.6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</a:tr>
              <a:tr h="124493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4.20%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75.0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77.1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79.3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81.5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83.6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</a:tr>
              <a:tr h="124493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4.45%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79.1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81.5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FFFFFF"/>
                          </a:solidFill>
                          <a:latin typeface="Arial"/>
                        </a:rPr>
                        <a:t>83.9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86.3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88.7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</a:tr>
              <a:tr h="124493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4.70%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83.3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1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85.9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88.5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91.2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93.8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</a:tr>
              <a:tr h="124493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4.95%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87.4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90.3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93.1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96.0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98.9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7D3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049844" y="4995211"/>
          <a:ext cx="2273906" cy="19662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3073"/>
                <a:gridCol w="1500833"/>
              </a:tblGrid>
              <a:tr h="100406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</a:tr>
              <a:tr h="204688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WACC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10.9% (chi phí vốn chủ 12.1%; chi phí vay sau thuế 6.1%; nợ/vốn 20%)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207642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Tăng trưởng vĩnh viễn (g)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3.0%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207642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Nhân EBITDA cuối kỳ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6.0x EBITDA FY29E (trung vị nhà thầu Việt Nam 5.8x)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207642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FCF không vay FY27E–FY29E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92 / 208 / 360 tỷ đồng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207642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FCF cuối kỳ chuẩn hoá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876 tỷ (vốn lưu động tăng theo g; capex = khấu hao + g × PP&amp;E)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207642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EV: nhân EBITDA / Gordon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7,333 / 9,316 tỷ đồng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124493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Giá trị cuối kỳ / EV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92% / 94%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290791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Cầu nối vốn chủ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+ tiền và tiền gửi 7,823 − vay 5,943; ứng trước coi là nợ 0% (stress 25%/50%: −20,200 / −40,400 đồng/cổ phiếu)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207642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1" i="0">
                          <a:solidFill>
                            <a:srgbClr val="2B2B2E"/>
                          </a:solidFill>
                          <a:latin typeface="Arial"/>
                        </a:rPr>
                        <a:t>Giá trị/cổ phiếu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2" b="0" i="0">
                          <a:solidFill>
                            <a:srgbClr val="2B2B2E"/>
                          </a:solidFill>
                          <a:latin typeface="Arial"/>
                        </a:rPr>
                        <a:t>82,385 (nhân EBITDA) · 100,121 (Gordon) · trung bình 91,253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36250" y="7497246"/>
          <a:ext cx="4646188" cy="17344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7934"/>
                <a:gridCol w="1848656"/>
                <a:gridCol w="722500"/>
                <a:gridCol w="547066"/>
                <a:gridCol w="420913"/>
                <a:gridCol w="459119"/>
              </a:tblGrid>
              <a:tr h="100406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Mã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Công ty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Thị trường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P/E fwd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P/B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ROE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A3A3E"/>
                    </a:solidFill>
                  </a:tcPr>
                </a:tc>
              </a:tr>
              <a:tr h="113972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VCG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Vinaconex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Vietnam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9A9AA0"/>
                          </a:solidFill>
                          <a:latin typeface="Arial"/>
                        </a:rPr>
                        <a:t>4.9x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0.81x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33.8%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HHV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Deo Ca Infrastructure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Vietnam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7.3x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0.41x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5.9%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FCN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FECON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Vietnam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9A9AA0"/>
                          </a:solidFill>
                          <a:latin typeface="Arial"/>
                        </a:rPr>
                        <a:t>–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0.52x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4.6%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LCG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Lizen (ex Licogi 16)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Vietnam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6.6x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0.55x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5.7%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PC1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PC1 Group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Vietnam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7.8x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0.91x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18.2%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CK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CH. Karnchang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Thailand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12.0x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1.00x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11.7%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STECON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Stecon Group (ex Sino-Thai E&amp;C)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Thailand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18.5x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1.28x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12.7%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GAMUDA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Gamuda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Malaysia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22.4x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2.25x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8.7%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1802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Obayashi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Japan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14.5x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1.63x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16.2%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1812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Kajima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Japan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11.6x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2B2B2E"/>
                          </a:solidFill>
                          <a:latin typeface="Arial"/>
                        </a:rPr>
                        <a:t>1.61x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2B2B2E"/>
                          </a:solidFill>
                          <a:latin typeface="Arial"/>
                        </a:rPr>
                        <a:t>–</a:t>
                      </a:r>
                      <a:endParaRPr sz="600" lang="vi-VN"/>
                    </a:p>
                  </a:txBody>
                  <a:tcPr marL="35438" marR="35438" marT="11812" marB="11812" anchor="t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</a:tcPr>
                </a:tc>
              </a:tr>
              <a:tr h="116925">
                <a:tc gridSpan="3"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Trung vị nhóm Việt Nam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600"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600" lang="vi-VN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7.3x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0.55x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72" b="0" i="0">
                          <a:solidFill>
                            <a:srgbClr val="2B2B2E"/>
                          </a:solidFill>
                          <a:latin typeface="Arial"/>
                        </a:rPr>
                        <a:t> 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</a:tr>
              <a:tr h="116925">
                <a:tc gridSpan="3"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Trung vị nhóm khu vực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600"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600" lang="vi-VN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14.5x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1.61x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72" b="0" i="0">
                          <a:solidFill>
                            <a:srgbClr val="2B2B2E"/>
                          </a:solidFill>
                          <a:latin typeface="Arial"/>
                        </a:rPr>
                        <a:t> 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</a:tr>
              <a:tr h="116925">
                <a:tc gridSpan="3"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Mục tiêu dùng: 70% Việt Nam + 30% khu vực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600"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600" lang="vi-VN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9.5x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3A3A3E"/>
                          </a:solidFill>
                          <a:latin typeface="Arial"/>
                        </a:rPr>
                        <a:t>0.87x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72" b="0" i="0">
                          <a:solidFill>
                            <a:srgbClr val="2B2B2E"/>
                          </a:solidFill>
                          <a:latin typeface="Arial"/>
                        </a:rPr>
                        <a:t> 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E9E6E7"/>
                    </a:solidFill>
                  </a:tcPr>
                </a:tc>
              </a:tr>
              <a:tr h="116925"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1" i="0">
                          <a:solidFill>
                            <a:srgbClr val="FFFFFF"/>
                          </a:solidFill>
                          <a:latin typeface="Arial"/>
                        </a:rPr>
                        <a:t>CTD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FFFFFF"/>
                          </a:solidFill>
                          <a:latin typeface="Arial"/>
                        </a:rPr>
                        <a:t>Coteccons (giá 59,300)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FFFFFF"/>
                          </a:solidFill>
                          <a:latin typeface="Arial"/>
                        </a:rPr>
                        <a:t>Việt Nam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FFFFFF"/>
                          </a:solidFill>
                          <a:latin typeface="Arial"/>
                        </a:rPr>
                        <a:t>7.4x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FFFFFF"/>
                          </a:solidFill>
                          <a:latin typeface="Arial"/>
                        </a:rPr>
                        <a:t>0.69x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3A3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ts val="6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65" b="0" i="0">
                          <a:solidFill>
                            <a:srgbClr val="FFFFFF"/>
                          </a:solidFill>
                          <a:latin typeface="Arial"/>
                        </a:rPr>
                        <a:t>8.5%</a:t>
                      </a:r>
                      <a:endParaRPr sz="600" lang="vi-VN"/>
                    </a:p>
                  </a:txBody>
                  <a:tcPr marL="35438" marR="35438" marT="11812" marB="1181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0E0"/>
                      </a:solidFill>
                    </a:lnB>
                    <a:solidFill>
                      <a:srgbClr val="3A3A3E"/>
                    </a:solidFill>
                  </a:tcPr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230344" y="10554469"/>
            <a:ext cx="2608679" cy="70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94"/>
              </a:lnSpc>
              <a:spcBef>
                <a:spcPts val="0"/>
              </a:spcBef>
              <a:spcAft>
                <a:spcPts val="0"/>
              </a:spcAft>
            </a:pPr>
            <a:r>
              <a:rPr sz="419" b="0" i="0">
                <a:solidFill>
                  <a:srgbClr val="8C8C91"/>
                </a:solidFill>
                <a:latin typeface="Arial"/>
              </a:rPr>
              <a:t>Số liệu tính đến 1/10/2026. (F) = dự phóng của nhóm, không phải số công bố. Nguồn ghi dưới từng hình.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0344" y="10554469"/>
            <a:ext cx="1250187" cy="70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94"/>
              </a:lnSpc>
              <a:spcBef>
                <a:spcPts val="0"/>
              </a:spcBef>
              <a:spcAft>
                <a:spcPts val="0"/>
              </a:spcAft>
            </a:pPr>
            <a:r>
              <a:rPr sz="419" b="0" i="0">
                <a:solidFill>
                  <a:srgbClr val="8C8C91"/>
                </a:solidFill>
                <a:latin typeface="Arial"/>
              </a:rPr>
              <a:t>Không phải khuyến nghị đầu tư cá nhân · Phụ lục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6250" y="10530844"/>
            <a:ext cx="7087500" cy="5906"/>
          </a:xfrm>
          <a:prstGeom prst="rect">
            <a:avLst/>
          </a:prstGeom>
          <a:solidFill>
            <a:srgbClr val="E3E0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