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Vốn đăng ký</c:v>
                </c:pt>
              </c:strCache>
            </c:strRef>
          </c:tx>
          <c:spPr>
            <a:solidFill>
              <a:srgbClr val="F5C3C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2026F</c:v>
                </c:pt>
                <c:pt idx="9">
                  <c:v>2027F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35.5</c:v>
                </c:pt>
                <c:pt idx="1">
                  <c:v>38.0</c:v>
                </c:pt>
                <c:pt idx="2">
                  <c:v>28.5</c:v>
                </c:pt>
                <c:pt idx="3">
                  <c:v>31.2</c:v>
                </c:pt>
                <c:pt idx="4">
                  <c:v>27.7</c:v>
                </c:pt>
                <c:pt idx="5">
                  <c:v>36.6</c:v>
                </c:pt>
                <c:pt idx="6">
                  <c:v>38.2</c:v>
                </c:pt>
                <c:pt idx="7">
                  <c:v>38.4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Giải ngân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</c:spPr>
          <c:dPt>
            <c:idx val="8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dPt>
            <c:idx val="9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cat>
            <c:strRef>
              <c:f>Sheet1!$A$2:$A$11</c:f>
              <c:strCache>
                <c:ptCount val="10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2026F</c:v>
                </c:pt>
                <c:pt idx="9">
                  <c:v>2027F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19.0</c:v>
                </c:pt>
                <c:pt idx="1">
                  <c:v>20.4</c:v>
                </c:pt>
                <c:pt idx="2">
                  <c:v>20.0</c:v>
                </c:pt>
                <c:pt idx="3">
                  <c:v>19.7</c:v>
                </c:pt>
                <c:pt idx="4">
                  <c:v>22.4</c:v>
                </c:pt>
                <c:pt idx="5">
                  <c:v>23.2</c:v>
                </c:pt>
                <c:pt idx="6">
                  <c:v>25.4</c:v>
                </c:pt>
                <c:pt idx="7">
                  <c:v>27.6</c:v>
                </c:pt>
                <c:pt idx="8">
                  <c:v>30.9</c:v>
                </c:pt>
                <c:pt idx="9">
                  <c:v>33.4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3A3A3E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Kế hoạch</c:v>
                </c:pt>
              </c:strCache>
            </c:strRef>
          </c:tx>
          <c:spPr>
            <a:solidFill>
              <a:srgbClr val="F5C3CA"/>
            </a:solidFill>
            <a:ln>
              <a:noFill/>
            </a:ln>
          </c:spPr>
          <c:dPt>
            <c:idx val="4"/>
            <c:spPr>
              <a:solidFill>
                <a:srgbClr val="3A3A3E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2026*</c:v>
                </c:pt>
                <c:pt idx="3">
                  <c:v>2026F</c:v>
                </c:pt>
                <c:pt idx="4">
                  <c:v>2027-30F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683</c:v>
                </c:pt>
                <c:pt idx="1">
                  <c:v>906</c:v>
                </c:pt>
                <c:pt idx="2">
                  <c:v>1023</c:v>
                </c:pt>
                <c:pt idx="3">
                  <c:v>1023</c:v>
                </c:pt>
                <c:pt idx="4">
                  <c:v>1800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Giải ngân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</c:spPr>
          <c:dPt>
            <c:idx val="3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cat>
            <c:strRef>
              <c:f>Sheet1!$A$2:$A$6</c:f>
              <c:strCache>
                <c:ptCount val="5"/>
                <c:pt idx="0">
                  <c:v>2024</c:v>
                </c:pt>
                <c:pt idx="1">
                  <c:v>2025</c:v>
                </c:pt>
                <c:pt idx="2">
                  <c:v>2026*</c:v>
                </c:pt>
                <c:pt idx="3">
                  <c:v>2026F</c:v>
                </c:pt>
                <c:pt idx="4">
                  <c:v>2027-30F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549</c:v>
                </c:pt>
                <c:pt idx="1">
                  <c:v>755</c:v>
                </c:pt>
                <c:pt idx="2">
                  <c:v>568</c:v>
                </c:pt>
                <c:pt idx="3">
                  <c:v>856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3A3A3E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Tăng giá</c:v>
                </c:pt>
              </c:strCache>
            </c:strRef>
          </c:tx>
          <c:spPr>
            <a:solidFill>
              <a:srgbClr val="E07A86"/>
            </a:solidFill>
            <a:ln>
              <a:noFill/>
            </a:ln>
          </c:spPr>
          <c:dPt>
            <c:idx val="0"/>
            <c:spPr>
              <a:solidFill>
                <a:srgbClr val="F5C3CA"/>
              </a:solidFill>
              <a:ln>
                <a:noFill/>
              </a:ln>
            </c:spPr>
          </c:dPt>
          <c:dPt>
            <c:idx val="1"/>
            <c:spPr>
              <a:solidFill>
                <a:srgbClr val="E07A86"/>
              </a:solidFill>
              <a:ln>
                <a:noFill/>
              </a:ln>
            </c:spPr>
          </c:dPt>
          <c:dPt>
            <c:idx val="2"/>
            <c:spPr>
              <a:solidFill>
                <a:srgbClr val="E07A86"/>
              </a:solidFill>
              <a:ln>
                <a:noFill/>
              </a:ln>
            </c:spPr>
          </c:dPt>
          <c:dPt>
            <c:idx val="3"/>
            <c:spPr>
              <a:solidFill>
                <a:srgbClr val="C8102E"/>
              </a:solidFill>
              <a:ln>
                <a:noFill/>
              </a:ln>
            </c:spPr>
          </c:dPt>
          <c:dPt>
            <c:idx val="4"/>
            <c:spPr>
              <a:solidFill>
                <a:srgbClr val="C8102E"/>
              </a:solidFill>
              <a:ln>
                <a:noFill/>
              </a:ln>
            </c:spPr>
          </c:dPt>
          <c:dPt>
            <c:idx val="5"/>
            <c:spPr>
              <a:solidFill>
                <a:srgbClr val="8A1C2B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Xi măng (Q1/26)</c:v>
                </c:pt>
                <c:pt idx="1">
                  <c:v>Thép CB300 D10</c:v>
                </c:pt>
                <c:pt idx="2">
                  <c:v>Dầu diesel (8T/26)</c:v>
                </c:pt>
                <c:pt idx="3">
                  <c:v>Cát, đá (Q1/26)</c:v>
                </c:pt>
                <c:pt idx="4">
                  <c:v>HRC (đỉnh 5/26)</c:v>
                </c:pt>
                <c:pt idx="5">
                  <c:v>Nhựa đường (Q1/26)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</c:v>
                </c:pt>
                <c:pt idx="1">
                  <c:v>20.1</c:v>
                </c:pt>
                <c:pt idx="2">
                  <c:v>22.2</c:v>
                </c:pt>
                <c:pt idx="3">
                  <c:v>23.3</c:v>
                </c:pt>
                <c:pt idx="4">
                  <c:v>28.4</c:v>
                </c:pt>
                <c:pt idx="5">
                  <c:v>32.0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Đăng ký/giải ngân</c:v>
                </c:pt>
              </c:strCache>
            </c:strRef>
          </c:tx>
          <c:spPr>
            <a:ln w="28575">
              <a:solidFill>
                <a:srgbClr val="C8102E"/>
              </a:solidFill>
            </a:ln>
          </c:spPr>
          <c:marker>
            <c:symbol val="circle"/>
            <c:size val="7"/>
            <c:spPr>
              <a:solidFill>
                <a:srgbClr val="FFFFFF"/>
              </a:solidFill>
              <a:ln>
                <a:solidFill>
                  <a:srgbClr val="C8102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2026F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1.74</c:v>
                </c:pt>
                <c:pt idx="1">
                  <c:v>1.9</c:v>
                </c:pt>
                <c:pt idx="2">
                  <c:v>1.45</c:v>
                </c:pt>
                <c:pt idx="3">
                  <c:v>1.39</c:v>
                </c:pt>
                <c:pt idx="4">
                  <c:v>1.19</c:v>
                </c:pt>
                <c:pt idx="5">
                  <c:v>1.44</c:v>
                </c:pt>
                <c:pt idx="6">
                  <c:v>1.38</c:v>
                </c:pt>
                <c:pt idx="7">
                  <c:v>1.24</c:v>
                </c:pt>
              </c:numCache>
            </c:numRef>
          </c:val>
          <c:smooth val="0"/>
        </c:ser>
        <c:dLbls>
          <c:numFmt formatCode="0.00&quot;x&quot;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1"/>
          <c:min val="0.8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Hoàn thành/giải ngân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/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ĐSTĐC Bắc-Nam</c:v>
                </c:pt>
                <c:pt idx="1">
                  <c:v>Cao tốc toàn quốc</c:v>
                </c:pt>
                <c:pt idx="2">
                  <c:v>Vành đai 3 TP.HCM</c:v>
                </c:pt>
                <c:pt idx="3">
                  <c:v>Vành đai 4 Hà Nội</c:v>
                </c:pt>
                <c:pt idx="4">
                  <c:v>Long Thành GĐ1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66.9</c:v>
                </c:pt>
                <c:pt idx="2">
                  <c:v>75</c:v>
                </c:pt>
                <c:pt idx="3">
                  <c:v>79.4</c:v>
                </c:pt>
                <c:pt idx="4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Còn lại</c:v>
                </c:pt>
              </c:strCache>
            </c:strRef>
          </c:tx>
          <c:spPr>
            <a:pattFill prst="wdUpDiag">
              <a:fgClr>
                <a:srgbClr val="8C8C91"/>
              </a:fgClr>
              <a:bgClr>
                <a:srgbClr val="FFFFFF"/>
              </a:bgClr>
            </a:pattFill>
            <a:ln>
              <a:solidFill>
                <a:srgbClr val="8C8C91"/>
              </a:solidFill>
              <a:prstDash val="dash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ĐSTĐC Bắc-Nam</c:v>
                </c:pt>
                <c:pt idx="1">
                  <c:v>Cao tốc toàn quốc</c:v>
                </c:pt>
                <c:pt idx="2">
                  <c:v>Vành đai 3 TP.HCM</c:v>
                </c:pt>
                <c:pt idx="3">
                  <c:v>Vành đai 4 Hà Nội</c:v>
                </c:pt>
                <c:pt idx="4">
                  <c:v>Long Thành GĐ1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33.099999999999994</c:v>
                </c:pt>
                <c:pt idx="2">
                  <c:v>25</c:v>
                </c:pt>
                <c:pt idx="3">
                  <c:v>20.599999999999994</c:v>
                </c:pt>
                <c:pt idx="4">
                  <c:v>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forward (x)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  <a:ln>
                <a:noFill/>
              </a:ln>
            </c:spPr>
          </c:dPt>
          <c:dPt>
            <c:idx val="1"/>
            <c:spPr>
              <a:solidFill>
                <a:srgbClr val="F5C3CA"/>
              </a:solidFill>
              <a:ln>
                <a:noFill/>
              </a:ln>
            </c:spPr>
          </c:dPt>
          <c:dPt>
            <c:idx val="2"/>
            <c:spPr>
              <a:solidFill>
                <a:srgbClr val="E07A86"/>
              </a:solidFill>
              <a:ln>
                <a:noFill/>
              </a:ln>
            </c:spPr>
          </c:dPt>
          <c:dPt>
            <c:idx val="3"/>
            <c:spPr>
              <a:solidFill>
                <a:srgbClr val="3A3A3E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CTD</c:v>
                </c:pt>
                <c:pt idx="1">
                  <c:v>Trung vị VN</c:v>
                </c:pt>
                <c:pt idx="2">
                  <c:v>Mục tiêu dùng</c:v>
                </c:pt>
                <c:pt idx="3">
                  <c:v>Trung vị khu vực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7.4</c:v>
                </c:pt>
                <c:pt idx="1">
                  <c:v>7.3</c:v>
                </c:pt>
                <c:pt idx="2">
                  <c:v>9.5</c:v>
                </c:pt>
                <c:pt idx="3">
                  <c:v>14.5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P/B (x)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  <a:ln>
                <a:noFill/>
              </a:ln>
            </c:spPr>
          </c:dPt>
          <c:dPt>
            <c:idx val="1"/>
            <c:spPr>
              <a:solidFill>
                <a:srgbClr val="F5C3CA"/>
              </a:solidFill>
              <a:ln>
                <a:noFill/>
              </a:ln>
            </c:spPr>
          </c:dPt>
          <c:dPt>
            <c:idx val="2"/>
            <c:spPr>
              <a:solidFill>
                <a:srgbClr val="E07A86"/>
              </a:solidFill>
              <a:ln>
                <a:noFill/>
              </a:ln>
            </c:spPr>
          </c:dPt>
          <c:dPt>
            <c:idx val="3"/>
            <c:spPr>
              <a:solidFill>
                <a:srgbClr val="3A3A3E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CTD</c:v>
                </c:pt>
                <c:pt idx="1">
                  <c:v>Trung vị VN</c:v>
                </c:pt>
                <c:pt idx="2">
                  <c:v>Mục tiêu dùng</c:v>
                </c:pt>
                <c:pt idx="3">
                  <c:v>Trung vị khu vực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0.55</c:v>
                </c:pt>
                <c:pt idx="2">
                  <c:v>0.87</c:v>
                </c:pt>
                <c:pt idx="3">
                  <c:v>1.61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FDI</c:v>
                </c:pt>
              </c:strCache>
            </c:strRef>
          </c:tx>
          <c:spPr>
            <a:solidFill>
              <a:srgbClr val="3A3A3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FY26A</c:v>
                </c:pt>
                <c:pt idx="1">
                  <c:v>FY27E</c:v>
                </c:pt>
                <c:pt idx="2">
                  <c:v>FY28E</c:v>
                </c:pt>
                <c:pt idx="3">
                  <c:v>FY29E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17170</c:v>
                </c:pt>
                <c:pt idx="1">
                  <c:v>20000</c:v>
                </c:pt>
                <c:pt idx="2">
                  <c:v>22400</c:v>
                </c:pt>
                <c:pt idx="3">
                  <c:v>24650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Dân sinh</c:v>
                </c:pt>
              </c:strCache>
            </c:strRef>
          </c:tx>
          <c:spPr>
            <a:solidFill>
              <a:srgbClr val="E07A8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FY26A</c:v>
                </c:pt>
                <c:pt idx="1">
                  <c:v>FY27E</c:v>
                </c:pt>
                <c:pt idx="2">
                  <c:v>FY28E</c:v>
                </c:pt>
                <c:pt idx="3">
                  <c:v>FY29E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15453</c:v>
                </c:pt>
                <c:pt idx="1">
                  <c:v>18000</c:v>
                </c:pt>
                <c:pt idx="2">
                  <c:v>20160</c:v>
                </c:pt>
                <c:pt idx="3">
                  <c:v>22185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Khách sạn - du lịch</c:v>
                </c:pt>
              </c:strCache>
            </c:strRef>
          </c:tx>
          <c:spPr>
            <a:solidFill>
              <a:srgbClr val="F5C3CA"/>
            </a:solidFill>
            <a:ln>
              <a:noFill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FY26A</c:v>
                </c:pt>
                <c:pt idx="1">
                  <c:v>FY27E</c:v>
                </c:pt>
                <c:pt idx="2">
                  <c:v>FY28E</c:v>
                </c:pt>
                <c:pt idx="3">
                  <c:v>FY29E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1717</c:v>
                </c:pt>
                <c:pt idx="1">
                  <c:v>2000</c:v>
                </c:pt>
                <c:pt idx="2">
                  <c:v>2240</c:v>
                </c:pt>
                <c:pt idx="3">
                  <c:v>2465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 b="0">
              <a:solidFill>
                <a:srgbClr val="3A3A3E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Backlog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  <a:ln>
                <a:noFill/>
              </a:ln>
            </c:spPr>
          </c:dPt>
          <c:dPt>
            <c:idx val="1"/>
            <c:spPr>
              <a:solidFill>
                <a:srgbClr val="3A3A3E"/>
              </a:solidFill>
              <a:ln>
                <a:noFill/>
              </a:ln>
            </c:spPr>
          </c:dPt>
          <c:dPt>
            <c:idx val="2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dPt>
            <c:idx val="3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dPt>
            <c:idx val="4"/>
            <c:spPr>
              <a:pattFill prst="wdUpDiag">
                <a:fgClr>
                  <a:srgbClr val="3A3A3E"/>
                </a:fgClr>
                <a:bgClr>
                  <a:srgbClr val="E3E0E0"/>
                </a:bgClr>
              </a:pattFill>
              <a:ln w="9525">
                <a:solidFill>
                  <a:srgbClr val="3A3A3E"/>
                </a:solidFill>
                <a:prstDash val="dash"/>
              </a:ln>
            </c:spPr>
          </c:dPt>
          <c:cat>
            <c:strRef>
              <c:f>Sheet1!$A$2:$A$6</c:f>
              <c:strCache>
                <c:ptCount val="5"/>
                <c:pt idx="0">
                  <c:v>FY25A
1.42x</c:v>
                </c:pt>
                <c:pt idx="1">
                  <c:v>FY26A
2.04x</c:v>
                </c:pt>
                <c:pt idx="2">
                  <c:v>FY27E
1.88x</c:v>
                </c:pt>
                <c:pt idx="3">
                  <c:v>FY28E
1.75x</c:v>
                </c:pt>
                <c:pt idx="4">
                  <c:v>FY29E
1.60x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35353</c:v>
                </c:pt>
                <c:pt idx="1">
                  <c:v>70000</c:v>
                </c:pt>
                <c:pt idx="2">
                  <c:v>75000</c:v>
                </c:pt>
                <c:pt idx="3">
                  <c:v>78200</c:v>
                </c:pt>
                <c:pt idx="4">
                  <c:v>78900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Biên gộp = 3.5% + 2.25 × tỉ trọng</c:v>
                </c:pt>
              </c:strCache>
            </c:strRef>
          </c:tx>
          <c:spPr>
            <a:ln w="31750">
              <a:solidFill>
                <a:srgbClr val="E07A86"/>
              </a:solidFill>
            </a:ln>
          </c:spPr>
          <c:marker>
            <c:symbol val="none"/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3.5</c:v>
                </c:pt>
                <c:pt idx="1">
                  <c:v>3.725</c:v>
                </c:pt>
                <c:pt idx="2">
                  <c:v>3.95</c:v>
                </c:pt>
                <c:pt idx="3">
                  <c:v>4.175</c:v>
                </c:pt>
                <c:pt idx="4">
                  <c:v>4.4</c:v>
                </c:pt>
                <c:pt idx="5">
                  <c:v>4.625</c:v>
                </c:pt>
                <c:pt idx="6">
                  <c:v>4.85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Mốc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8102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1C2B"/>
                        </a:solidFill>
                      </a:rPr>
                      <a:t>Hiện ~24%: ~4.0%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1C2B"/>
                        </a:solidFill>
                      </a:rPr>
                      <a:t>Cần ~42%: 4.45%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8A1C2B"/>
                        </a:solidFill>
                      </a:rPr>
                      <a:t>FDI ~50%: ~4.6%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Sheet1!$A$11:$A$13</c:f>
              <c:numCache>
                <c:formatCode>General</c:formatCode>
                <c:ptCount val="3"/>
                <c:pt idx="0">
                  <c:v>24</c:v>
                </c:pt>
                <c:pt idx="1">
                  <c:v>42</c:v>
                </c:pt>
                <c:pt idx="2">
                  <c:v>50</c:v>
                </c:pt>
              </c:numCache>
            </c:numRef>
          </c:xVal>
          <c:yVal>
            <c:numRef>
              <c:f>Sheet1!$B$11:$B$13</c:f>
              <c:numCache>
                <c:formatCode>General</c:formatCode>
                <c:ptCount val="3"/>
                <c:pt idx="0">
                  <c:v>4.0</c:v>
                </c:pt>
                <c:pt idx="1">
                  <c:v>4.45</c:v>
                </c:pt>
                <c:pt idx="2">
                  <c:v>4.6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0.0"/>
          <c:min val="0.0"/>
        </c:scaling>
        <c:delete val="0"/>
        <c:axPos val="b"/>
        <c:numFmt formatCode="0&quot;%&quot;" sourceLinked="0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5.2"/>
          <c:min val="3.0"/>
        </c:scaling>
        <c:delete val="0"/>
        <c:axPos val="l"/>
        <c:majorGridlines>
          <c:spPr>
            <a:ln>
              <a:solidFill>
                <a:srgbClr val="E3E0E0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Thấp</c:v>
                </c:pt>
              </c:strCache>
            </c:strRef>
          </c:tx>
          <c:spPr>
            <a:solidFill>
              <a:srgbClr val="F5C3C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FY27E</c:v>
                </c:pt>
                <c:pt idx="1">
                  <c:v>FY28E</c:v>
                </c:pt>
                <c:pt idx="2">
                  <c:v>FY29E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666</c:v>
                </c:pt>
                <c:pt idx="1">
                  <c:v>663</c:v>
                </c:pt>
                <c:pt idx="2">
                  <c:v>704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Cơ sở</c:v>
                </c:pt>
              </c:strCache>
            </c:strRef>
          </c:tx>
          <c:spPr>
            <a:solidFill>
              <a:srgbClr val="3A3A3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FY27E</c:v>
                </c:pt>
                <c:pt idx="1">
                  <c:v>FY28E</c:v>
                </c:pt>
                <c:pt idx="2">
                  <c:v>FY29E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894</c:v>
                </c:pt>
                <c:pt idx="1">
                  <c:v>1010</c:v>
                </c:pt>
                <c:pt idx="2">
                  <c:v>1129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Cao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FY27E</c:v>
                </c:pt>
                <c:pt idx="1">
                  <c:v>FY28E</c:v>
                </c:pt>
                <c:pt idx="2">
                  <c:v>FY29E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1046</c:v>
                </c:pt>
                <c:pt idx="1">
                  <c:v>1302</c:v>
                </c:pt>
                <c:pt idx="2">
                  <c:v>1565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 b="0">
              <a:solidFill>
                <a:srgbClr val="3A3A3E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OCF</c:v>
                </c:pt>
              </c:strCache>
            </c:strRef>
          </c:tx>
          <c:invertIfNegative val="0"/>
          <c:dPt>
            <c:idx val="0"/>
            <c:spPr>
              <a:solidFill>
                <a:srgbClr val="3A3A3E"/>
              </a:solidFill>
              <a:ln>
                <a:noFill/>
              </a:ln>
            </c:spPr>
          </c:dPt>
          <c:dPt>
            <c:idx val="1"/>
            <c:spPr>
              <a:solidFill>
                <a:srgbClr val="C8102E"/>
              </a:solidFill>
              <a:ln>
                <a:noFill/>
              </a:ln>
            </c:spPr>
          </c:dPt>
          <c:dPt>
            <c:idx val="2"/>
            <c:spPr>
              <a:solidFill>
                <a:srgbClr val="C8102E"/>
              </a:solidFill>
              <a:ln>
                <a:noFill/>
              </a:ln>
            </c:spPr>
          </c:dPt>
          <c:dPt>
            <c:idx val="3"/>
            <c:spPr>
              <a:solidFill>
                <a:srgbClr val="E07A86"/>
              </a:solidFill>
              <a:ln>
                <a:noFill/>
              </a:ln>
            </c:spPr>
          </c:dPt>
          <c:dPt>
            <c:idx val="4"/>
            <c:spPr>
              <a:solidFill>
                <a:srgbClr val="C8102E"/>
              </a:solidFill>
              <a:ln>
                <a:noFill/>
              </a:ln>
            </c:spPr>
          </c:dPt>
          <c:dPt>
            <c:idx val="5"/>
            <c:spPr>
              <a:solidFill>
                <a:srgbClr val="3A3A3E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LN trước
vốn LĐ</c:v>
                </c:pt>
                <c:pt idx="1">
                  <c:v>Δ Phải
thu</c:v>
                </c:pt>
                <c:pt idx="2">
                  <c:v>Δ Tồn
kho</c:v>
                </c:pt>
                <c:pt idx="3">
                  <c:v>Δ Phải trả
+ ứng trước</c:v>
                </c:pt>
                <c:pt idx="4">
                  <c:v>Lãi, thuế,
khác</c:v>
                </c:pt>
                <c:pt idx="5">
                  <c:v>OCF
FY26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1210</c:v>
                </c:pt>
                <c:pt idx="1">
                  <c:v>-1475</c:v>
                </c:pt>
                <c:pt idx="2">
                  <c:v>-3884</c:v>
                </c:pt>
                <c:pt idx="3">
                  <c:v>5465</c:v>
                </c:pt>
                <c:pt idx="4">
                  <c:v>-501</c:v>
                </c:pt>
                <c:pt idx="5">
                  <c:v>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50" b="0">
                  <a:solidFill>
                    <a:srgbClr val="3A3A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low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LNST
FY26</c:v>
                </c:pt>
                <c:pt idx="1">
                  <c:v>Khối
lượng</c:v>
                </c:pt>
                <c:pt idx="2">
                  <c:v>Biên
gộp</c:v>
                </c:pt>
                <c:pt idx="3">
                  <c:v>SG&amp;A</c:v>
                </c:pt>
                <c:pt idx="4">
                  <c:v>Khác</c:v>
                </c:pt>
                <c:pt idx="5">
                  <c:v>Tài chính
ròng</c:v>
                </c:pt>
                <c:pt idx="6">
                  <c:v>Không
lặp lại</c:v>
                </c:pt>
                <c:pt idx="7">
                  <c:v>LNST
FY27E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788</c:v>
                </c:pt>
                <c:pt idx="2">
                  <c:v>972</c:v>
                </c:pt>
                <c:pt idx="3">
                  <c:v>998</c:v>
                </c:pt>
                <c:pt idx="4">
                  <c:v>998</c:v>
                </c:pt>
                <c:pt idx="5">
                  <c:v>1000</c:v>
                </c:pt>
                <c:pt idx="6">
                  <c:v>894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Tăng</c:v>
                </c:pt>
              </c:strCache>
            </c:strRef>
          </c:tx>
          <c:spPr>
            <a:solidFill>
              <a:srgbClr val="E07A86"/>
            </a:solidFill>
            <a:ln>
              <a:noFill/>
            </a:ln>
          </c:spPr>
          <c:dLbls>
            <c:numFmt formatCode="&quot;+&quot;#,##0;;;" sourceLinked="0"/>
            <c:txPr>
              <a:bodyPr/>
              <a:lstStyle/>
              <a:p>
                <a:pPr>
                  <a:defRPr sz="750"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LNST
FY26</c:v>
                </c:pt>
                <c:pt idx="1">
                  <c:v>Khối
lượng</c:v>
                </c:pt>
                <c:pt idx="2">
                  <c:v>Biên
gộp</c:v>
                </c:pt>
                <c:pt idx="3">
                  <c:v>SG&amp;A</c:v>
                </c:pt>
                <c:pt idx="4">
                  <c:v>Khác</c:v>
                </c:pt>
                <c:pt idx="5">
                  <c:v>Tài chính
ròng</c:v>
                </c:pt>
                <c:pt idx="6">
                  <c:v>Không
lặp lại</c:v>
                </c:pt>
                <c:pt idx="7">
                  <c:v>LNST
FY27E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184</c:v>
                </c:pt>
                <c:pt idx="2">
                  <c:v>74</c:v>
                </c:pt>
                <c:pt idx="3">
                  <c:v>0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Giảm</c:v>
                </c:pt>
              </c:strCache>
            </c:strRef>
          </c:tx>
          <c:spPr>
            <a:solidFill>
              <a:srgbClr val="C8102E"/>
            </a:solidFill>
            <a:ln>
              <a:noFill/>
            </a:ln>
          </c:spPr>
          <c:dLbls>
            <c:numFmt formatCode="&quot;−&quot;#,##0;;;" sourceLinked="0"/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LNST
FY26</c:v>
                </c:pt>
                <c:pt idx="1">
                  <c:v>Khối
lượng</c:v>
                </c:pt>
                <c:pt idx="2">
                  <c:v>Biên
gộp</c:v>
                </c:pt>
                <c:pt idx="3">
                  <c:v>SG&amp;A</c:v>
                </c:pt>
                <c:pt idx="4">
                  <c:v>Khác</c:v>
                </c:pt>
                <c:pt idx="5">
                  <c:v>Tài chính
ròng</c:v>
                </c:pt>
                <c:pt idx="6">
                  <c:v>Không
lặp lại</c:v>
                </c:pt>
                <c:pt idx="7">
                  <c:v>LNST
FY27E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48</c:v>
                </c:pt>
                <c:pt idx="4">
                  <c:v>0</c:v>
                </c:pt>
                <c:pt idx="5">
                  <c:v>0</c:v>
                </c:pt>
                <c:pt idx="6">
                  <c:v>107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Tổng</c:v>
                </c:pt>
              </c:strCache>
            </c:strRef>
          </c:tx>
          <c:spPr>
            <a:solidFill>
              <a:srgbClr val="3A3A3E"/>
            </a:solidFill>
            <a:ln>
              <a:noFill/>
            </a:ln>
          </c:spPr>
          <c:dLbls>
            <c:numFmt formatCode="#,##0;;;" sourceLinked="0"/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LNST
FY26</c:v>
                </c:pt>
                <c:pt idx="1">
                  <c:v>Khối
lượng</c:v>
                </c:pt>
                <c:pt idx="2">
                  <c:v>Biên
gộp</c:v>
                </c:pt>
                <c:pt idx="3">
                  <c:v>SG&amp;A</c:v>
                </c:pt>
                <c:pt idx="4">
                  <c:v>Khác</c:v>
                </c:pt>
                <c:pt idx="5">
                  <c:v>Tài chính
ròng</c:v>
                </c:pt>
                <c:pt idx="6">
                  <c:v>Không
lặp lại</c:v>
                </c:pt>
                <c:pt idx="7">
                  <c:v>LNST
FY27E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788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894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0.0"/>
          <c:min val="60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"/>
          <c:y val="0.02"/>
          <c:w val="0.57"/>
          <c:h val="0.86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Kịch bản thấp - cao</c:v>
                </c:pt>
                <c:pt idx="1">
                  <c:v>DCF stress: 50% ứng trước là nợ</c:v>
                </c:pt>
                <c:pt idx="2">
                  <c:v>DCF: nhân EBITDA - Gordon</c:v>
                </c:pt>
                <c:pt idx="3">
                  <c:v>Nhóm so sánh (phân vị 25-75)</c:v>
                </c:pt>
                <c:pt idx="4">
                  <c:v>P/E 8-12x × EPS FY28E, chiết khấu 14%</c:v>
                </c:pt>
                <c:pt idx="5">
                  <c:v>P/B 0.8-1.2x × BVPS 6/2027E</c:v>
                </c:pt>
                <c:pt idx="6">
                  <c:v>P/E 8-12x × EPS 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64.3</c:v>
                </c:pt>
                <c:pt idx="1">
                  <c:v>42.0</c:v>
                </c:pt>
                <c:pt idx="2">
                  <c:v>82.4</c:v>
                </c:pt>
                <c:pt idx="3">
                  <c:v>67.0</c:v>
                </c:pt>
                <c:pt idx="4">
                  <c:v>63.4</c:v>
                </c:pt>
                <c:pt idx="5">
                  <c:v>74.7</c:v>
                </c:pt>
                <c:pt idx="6">
                  <c:v>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E07A86"/>
            </a:solidFill>
            <a:ln>
              <a:noFill/>
            </a:ln>
          </c:spPr>
          <c:dPt>
            <c:idx val="0"/>
            <c:spPr>
              <a:solidFill>
                <a:srgbClr val="C8102E"/>
              </a:solidFill>
              <a:ln>
                <a:noFill/>
              </a:ln>
            </c:spPr>
          </c:dPt>
          <c:dPt>
            <c:idx val="1"/>
            <c:spPr>
              <a:solidFill>
                <a:srgbClr val="8A1C2B"/>
              </a:solidFill>
              <a:ln>
                <a:noFill/>
              </a:ln>
            </c:spPr>
          </c:dPt>
          <c:dPt>
            <c:idx val="2"/>
            <c:spPr>
              <a:solidFill>
                <a:srgbClr val="3A3A3E"/>
              </a:solidFill>
              <a:ln>
                <a:noFill/>
              </a:ln>
            </c:spPr>
          </c:dPt>
          <c:dPt>
            <c:idx val="3"/>
            <c:spPr>
              <a:solidFill>
                <a:srgbClr val="F5C3CA"/>
              </a:solidFill>
              <a:ln>
                <a:noFill/>
              </a:ln>
            </c:spPr>
          </c:dPt>
          <c:dPt>
            <c:idx val="4"/>
            <c:spPr>
              <a:solidFill>
                <a:srgbClr val="F5C3CA"/>
              </a:solidFill>
              <a:ln>
                <a:noFill/>
              </a:ln>
            </c:spPr>
          </c:dPt>
          <c:dPt>
            <c:idx val="5"/>
            <c:spPr>
              <a:solidFill>
                <a:srgbClr val="E07A86"/>
              </a:solidFill>
              <a:ln>
                <a:noFill/>
              </a:ln>
            </c:spPr>
          </c:dPt>
          <c:dPt>
            <c:idx val="6"/>
            <c:spPr>
              <a:solidFill>
                <a:srgbClr val="E07A86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64.3 – 106.0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42.0 – 59.7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82.4 – 100.1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2B2B2E"/>
                        </a:solidFill>
                      </a:rPr>
                      <a:t>67.0 – 82.4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2B2B2E"/>
                        </a:solidFill>
                      </a:rPr>
                      <a:t>63.4 – 95.1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74.7 – 112.1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00" b="1">
                        <a:solidFill>
                          <a:srgbClr val="FFFFFF"/>
                        </a:solidFill>
                      </a:rPr>
                      <a:t>64.0 – 96.0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Kịch bản thấp - cao</c:v>
                </c:pt>
                <c:pt idx="1">
                  <c:v>DCF stress: 50% ứng trước là nợ</c:v>
                </c:pt>
                <c:pt idx="2">
                  <c:v>DCF: nhân EBITDA - Gordon</c:v>
                </c:pt>
                <c:pt idx="3">
                  <c:v>Nhóm so sánh (phân vị 25-75)</c:v>
                </c:pt>
                <c:pt idx="4">
                  <c:v>P/E 8-12x × EPS FY28E, chiết khấu 14%</c:v>
                </c:pt>
                <c:pt idx="5">
                  <c:v>P/B 0.8-1.2x × BVPS 6/2027E</c:v>
                </c:pt>
                <c:pt idx="6">
                  <c:v>P/E 8-12x × EPS FY27E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41.7</c:v>
                </c:pt>
                <c:pt idx="1">
                  <c:v>17.7</c:v>
                </c:pt>
                <c:pt idx="2">
                  <c:v>17.7</c:v>
                </c:pt>
                <c:pt idx="3">
                  <c:v>15.4</c:v>
                </c:pt>
                <c:pt idx="4">
                  <c:v>31.7</c:v>
                </c:pt>
                <c:pt idx="5">
                  <c:v>37.4</c:v>
                </c:pt>
                <c:pt idx="6">
                  <c:v>32.0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in"/>
        <c:minorTickMark val="none"/>
        <c:tickLblPos val="nextTo"/>
        <c:spPr>
          <a:ln>
            <a:solidFill>
              <a:srgbClr val="8C8C91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30.0"/>
        </c:scaling>
        <c:delete val="0"/>
        <c:axPos val="b"/>
        <c:majorGridlines>
          <c:spPr>
            <a:ln>
              <a:solidFill>
                <a:srgbClr val="E3E0E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800">
          <a:solidFill>
            <a:srgbClr val="3A3A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64008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C8C91"/>
                </a:solidFill>
                <a:latin typeface="Arial"/>
              </a:rPr>
              <a:t>CHƯƠNG 1 – ĐẦU TƯ CÔNG &amp; VLXD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B2B2E"/>
                </a:solidFill>
                <a:latin typeface="Arial"/>
              </a:rPr>
              <a:t>Hai dòng cầu đến cùng lúc, vật liệu thiếu cung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19456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Arial"/>
              </a:rPr>
              <a:t>GO FINANCE 2026 · PITCHBOOK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84048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Số liệu tính đến 1/10/2026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607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8C8C91"/>
                </a:solidFill>
                <a:latin typeface="Arial"/>
              </a:rPr>
              <a:t>(F)/(E) = dự phóng của nhóm, không phải số công bố. Không phải khuyến nghị đầu tư cá nhân.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83680"/>
            <a:ext cx="57607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| 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78408"/>
            <a:ext cx="11640312" cy="731520"/>
          </a:xfrm>
          <a:prstGeom prst="rect">
            <a:avLst/>
          </a:prstGeom>
          <a:solidFill>
            <a:srgbClr val="F6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74320" y="1709928"/>
            <a:ext cx="11640312" cy="0"/>
          </a:xfrm>
          <a:prstGeom prst="line">
            <a:avLst/>
          </a:prstGeom>
          <a:ln w="15875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4048" y="1042416"/>
            <a:ext cx="114300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B2B2E"/>
                </a:solidFill>
                <a:latin typeface="Arial"/>
              </a:rPr>
              <a:t>FDI và đầu tư công cùng ở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đầu chu kỳ</a:t>
            </a:r>
            <a:r>
              <a:rPr sz="1000" b="0" i="0">
                <a:solidFill>
                  <a:srgbClr val="2B2B2E"/>
                </a:solidFill>
                <a:latin typeface="Arial"/>
              </a:rPr>
              <a:t>: [1] FDI giải ngân kỷ lục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27.6 tỷ USD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(2025), vốn đăng ký 8T/2026 (</a:t>
            </a:r>
            <a:r>
              <a:rPr sz="1000" b="1" i="0">
                <a:solidFill>
                  <a:srgbClr val="2B2B2E"/>
                </a:solidFill>
                <a:latin typeface="Arial"/>
              </a:rPr>
              <a:t>40.6 tỷ USD</a:t>
            </a:r>
            <a:r>
              <a:rPr sz="1000" b="0" i="0">
                <a:solidFill>
                  <a:srgbClr val="2B2B2E"/>
                </a:solidFill>
                <a:latin typeface="Arial"/>
              </a:rPr>
              <a:t>) đã vượt cả năm 2025; [2] đầu tư công mới giải ngân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55.5%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kế hoạch 2026, kế hoạch 2027-30 bình quân ~1,800 nghìn tỷ/năm (</a:t>
            </a:r>
            <a:r>
              <a:rPr sz="1000" b="1" i="0">
                <a:solidFill>
                  <a:srgbClr val="2B2B2E"/>
                </a:solidFill>
                <a:latin typeface="Arial"/>
              </a:rPr>
              <a:t>+76%</a:t>
            </a:r>
            <a:r>
              <a:rPr sz="1000" b="0" i="0">
                <a:solidFill>
                  <a:srgbClr val="2B2B2E"/>
                </a:solidFill>
                <a:latin typeface="Arial"/>
              </a:rPr>
              <a:t>); [3] vật liệu thiếu cung, giá đầu vào tăng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20-32%</a:t>
            </a:r>
            <a:r>
              <a:rPr sz="1000" b="0" i="0">
                <a:solidFill>
                  <a:srgbClr val="2B2B2E"/>
                </a:solidFill>
                <a:latin typeface="Arial"/>
              </a:rPr>
              <a:t>. Hưởng lợi rõ nhất: </a:t>
            </a:r>
            <a:r>
              <a:rPr sz="1000" b="1" i="0">
                <a:solidFill>
                  <a:srgbClr val="C8102E"/>
                </a:solidFill>
                <a:latin typeface="Arial"/>
              </a:rPr>
              <a:t>CTD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(nhà thầu FDI, dự án phức tạp) và </a:t>
            </a:r>
            <a:r>
              <a:rPr sz="1000" b="1" i="0">
                <a:solidFill>
                  <a:srgbClr val="C8102E"/>
                </a:solidFill>
                <a:latin typeface="Arial"/>
              </a:rPr>
              <a:t>HPG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(thép đầu ngành).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FDI giải ngân kỷ lục, còn tăng ~10%/năm (tỷ USD)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274320" y="2121408"/>
          <a:ext cx="379476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402336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TCTK, Bộ KH&amp;ĐT; 2026F-27F ước tính nhóm. CAGR giải ngân 25-27F: +10%.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Đầu tư công 2027-30F: +76% (nghìn tỷ đồng)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87952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187952" y="2121408"/>
          <a:ext cx="379476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187952" y="402336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Bộ Tài chính (1/10/2026). *Đến 24/9/2026 (55.5% KH); 2026F = kịch bản cơ sở 83.7%.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Giá đầu vào xây dựng tăng 20-32% (%)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19872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119872" y="2121408"/>
          <a:ext cx="3794760" cy="187451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119872" y="402336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Bộ Xây dựng, VSA, TCTK. Vật liệu ~70% giá vốn nhà thầu; hợp đồng giá cố định hết hạn 2027.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Vốn đăng ký (t−1) luôn vượt giải ngân (t) (lần)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74320" y="4544568"/>
          <a:ext cx="37947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4320" y="635508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tính từ TCTK/Bộ KH&amp;ĐT. Cầu 2026-27 phần lớn đã nằm trong vốn đăng ký.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Dự án trọng điểm: còn nhiều khối lượng (%)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87952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187952" y="4544568"/>
          <a:ext cx="3794760" cy="17830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187952" y="635508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Bộ Xây dựng, Bộ Tài chính (4-9/2026). Vành đai 4: tỉ lệ giải ngân. Phần gạch = khối lượng còn lại.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Chuyển pha mega project nên chu kỳ không đứt đoạn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19872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8119872" y="4599432"/>
          <a:ext cx="3794759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67878"/>
                <a:gridCol w="882502"/>
                <a:gridCol w="1544379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Dự án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Quy mô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Mốc chính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8102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Long Thành GĐ1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~16 tỷ USD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Khai thác kỹ thuật cuối 2026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Gia Bình GĐ1 (Bắc Ninh)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141,000 tỷ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Vận hành đầu 2027 (APEC)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Metro 2 TP.HCM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47,890 tỷ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Khởi công 1/2026, 5-7 năm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Cảng Cần Giờ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4.96 tỷ USD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GĐ1 trước 2030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ĐSTĐC Bắc-Nam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67.3 tỷ USD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Khởi công 12/2027 → 2035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8119872" y="6153912"/>
            <a:ext cx="3794760" cy="274320"/>
          </a:xfrm>
          <a:prstGeom prst="rect">
            <a:avLst/>
          </a:prstGeom>
          <a:noFill/>
          <a:ln w="9525">
            <a:solidFill>
              <a:srgbClr val="C810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93024" y="6153912"/>
            <a:ext cx="36484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B2B2E"/>
                </a:solidFill>
                <a:latin typeface="Arial"/>
              </a:rPr>
              <a:t>Phần giá trị cao nhất là </a:t>
            </a:r>
            <a:r>
              <a:rPr sz="750" b="1" i="0">
                <a:solidFill>
                  <a:srgbClr val="2B2B2E"/>
                </a:solidFill>
                <a:latin typeface="Arial"/>
              </a:rPr>
              <a:t>phần phức tạp</a:t>
            </a:r>
            <a:r>
              <a:rPr sz="750" b="0" i="0">
                <a:solidFill>
                  <a:srgbClr val="2B2B2E"/>
                </a:solidFill>
                <a:latin typeface="Arial"/>
              </a:rPr>
              <a:t>: ngầm, nhà ga, nhà để xe, siêu công trình ven biển → vùng mục tiêu của </a:t>
            </a:r>
            <a:r>
              <a:rPr sz="750" b="1" i="0">
                <a:solidFill>
                  <a:srgbClr val="C8102E"/>
                </a:solidFill>
                <a:latin typeface="Arial"/>
              </a:rPr>
              <a:t>CTD</a:t>
            </a:r>
            <a:r>
              <a:rPr sz="750" b="0" i="0">
                <a:solidFill>
                  <a:srgbClr val="2B2B2E"/>
                </a:solidFill>
                <a:latin typeface="Arial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6464808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Cổng TTĐT Chính phủ, Bộ Xây dựng, UBND địa phương.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64008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C8C91"/>
                </a:solidFill>
                <a:latin typeface="Arial"/>
              </a:rPr>
              <a:t>CHƯƠNG 1 – ĐẦU TƯ CÔNG &amp; VLXD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B2B2E"/>
                </a:solidFill>
                <a:latin typeface="Arial"/>
              </a:rPr>
              <a:t>Sàng lọc mã: CTD là điểm sáng của chu kỳ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19456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Arial"/>
              </a:rPr>
              <a:t>GO FINANCE 2026 · PITCHBOOK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84048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Số liệu tính đến 1/10/2026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607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8C8C91"/>
                </a:solidFill>
                <a:latin typeface="Arial"/>
              </a:rPr>
              <a:t>(F)/(E) = dự phóng của nhóm, không phải số công bố. Không phải khuyến nghị đầu tư cá nhân.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83680"/>
            <a:ext cx="57607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| 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78408"/>
            <a:ext cx="11640312" cy="731520"/>
          </a:xfrm>
          <a:prstGeom prst="rect">
            <a:avLst/>
          </a:prstGeom>
          <a:solidFill>
            <a:srgbClr val="F6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74320" y="1709928"/>
            <a:ext cx="11640312" cy="0"/>
          </a:xfrm>
          <a:prstGeom prst="line">
            <a:avLst/>
          </a:prstGeom>
          <a:ln w="15875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4048" y="1042416"/>
            <a:ext cx="114300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B2B2E"/>
                </a:solidFill>
                <a:latin typeface="Arial"/>
              </a:rPr>
              <a:t>Chúng tôi chọn mã theo ba tiêu chí: [1]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hưởng lợi trực tiếp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từ hai dòng cầu FDI và đầu tư công, [2]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vị thế dẫn đầu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trong phân khúc, [3] câu chuyện đầu tư rõ ràng. Hai mã đạt chuẩn là CTD (nhà thầu) và HPG (thép). Trong 2026-27, </a:t>
            </a:r>
            <a:r>
              <a:rPr sz="1000" b="1" i="0">
                <a:solidFill>
                  <a:srgbClr val="C8102E"/>
                </a:solidFill>
                <a:latin typeface="Arial"/>
              </a:rPr>
              <a:t>CTD là điểm sáng nhất</a:t>
            </a:r>
            <a:r>
              <a:rPr sz="1000" b="0" i="0">
                <a:solidFill>
                  <a:srgbClr val="2B2B2E"/>
                </a:solidFill>
                <a:latin typeface="Arial"/>
              </a:rPr>
              <a:t>: FDI ~50% doanh thu, backlog 70,000 tỷ (2.04x), tiền ròng 1,880 tỷ và định giá chỉ bằng ~một nửa nhóm khu vực.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28800"/>
            <a:ext cx="5577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Định giá CTD thấp hơn nhiều so với nhóm khu vực…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" y="2075688"/>
            <a:ext cx="5577839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274320" y="2359152"/>
          <a:ext cx="2697480" cy="1783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2139696"/>
            <a:ext cx="2697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A3A3E"/>
                </a:solidFill>
                <a:latin typeface="Arial"/>
              </a:rPr>
              <a:t>P/E forward (x)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3108960" y="2359152"/>
          <a:ext cx="269748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108960" y="2139696"/>
            <a:ext cx="26974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3A3A3E"/>
                </a:solidFill>
                <a:latin typeface="Arial"/>
              </a:rPr>
              <a:t>P/B 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187952"/>
            <a:ext cx="55778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stockanalysis.com, Simplize (17/7-2/10/2026); chưa kiểm chứng Bloomberg/FiinPro. Mục tiêu dùng = 70% Việt Nam + 30% khu vực.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828800"/>
            <a:ext cx="578815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…và câu chuyện 2026-27 thuộc về CTD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26480" y="2075688"/>
            <a:ext cx="5788152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80" y="2176272"/>
          <a:ext cx="5788152" cy="18653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39400"/>
                <a:gridCol w="2187648"/>
                <a:gridCol w="2461104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Tiêu chí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CTD · Nhà thầu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HPG · Thép đầu ngành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Vị thế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Nhà thầu FDI và dự án phức tạp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Thị phần thép xây dựng ~36-38%; HRC ~8.6 triệu tấn/năm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Cầu FDI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FDI ~50% doanh thu; 38 dự án LEED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Gián tiếp qua cầu xây dựng công nghiệp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Cầu đầu tư công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Backlog 70,000 tỷ (2.04x doanh thu)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Hưởng lợi cầu thép từ mega project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Giá vật liệu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Rủi ro biên: vật liệu ~70% giá vốn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Hưởng lợi giá thép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Phân tích trong pitchbook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C8102E"/>
                          </a:solidFill>
                          <a:latin typeface="Arial"/>
                        </a:rPr>
                        <a:t>MUA · mục tiêu 83,500 (+41%)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Giữ trong danh mục, không phân tích chi tiết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126480" y="2139696"/>
            <a:ext cx="5788152" cy="365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14800"/>
            <a:ext cx="5788152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CTD, BSC, KBSV, mô hình nhóm.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343400"/>
            <a:ext cx="55778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Doanh thu quy đổi: FDI ~20,000 tỷ năm FY27E (tỷ đồng)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4590288"/>
            <a:ext cx="5577839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74320" y="4892040"/>
          <a:ext cx="5577840" cy="1508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4320" y="4645152"/>
            <a:ext cx="5577840" cy="201168"/>
          </a:xfrm>
          <a:prstGeom prst="rect">
            <a:avLst/>
          </a:prstGeom>
          <a:solidFill>
            <a:srgbClr val="3A3A3E"/>
          </a:solidFill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Tổng 34,340 → 49,300 · CAGR FY26-29: +12.8%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28232"/>
            <a:ext cx="557784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Coteccons, mô hình nhóm; giữ cơ cấu hiện tại cho FY26A-FY29E.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43400"/>
            <a:ext cx="578815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CTD nổi bật trên ba lợi thế cạnh tranh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126480" y="4590288"/>
            <a:ext cx="5788152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26480" y="4681728"/>
            <a:ext cx="5788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681728"/>
            <a:ext cx="16459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B2B2E"/>
                </a:solidFill>
                <a:latin typeface="Arial"/>
              </a:rPr>
              <a:t>FDI &amp; công nghiệp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745736"/>
            <a:ext cx="1920240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474573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~50%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9368" y="474573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doanh thu từ FDI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4745736"/>
            <a:ext cx="1920240" cy="438912"/>
          </a:xfrm>
          <a:prstGeom prst="rect">
            <a:avLst/>
          </a:prstGeom>
          <a:solidFill>
            <a:srgbClr val="F5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8" y="474573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1C2B"/>
                </a:solidFill>
                <a:latin typeface="Arial"/>
              </a:rPr>
              <a:t>&gt;75%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71048" y="474573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B2B2E"/>
                </a:solidFill>
                <a:latin typeface="Arial"/>
              </a:rPr>
              <a:t>doanh thu từ khách cũ (repeat sales)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321808"/>
            <a:ext cx="5788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321808"/>
            <a:ext cx="16459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B2B2E"/>
                </a:solidFill>
                <a:latin typeface="Arial"/>
              </a:rPr>
              <a:t>ESG chuẩn quốc tế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5385816"/>
            <a:ext cx="1920240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538581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9368" y="538581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dự án đạt chuẩn LEED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5385816"/>
            <a:ext cx="1920240" cy="438912"/>
          </a:xfrm>
          <a:prstGeom prst="rect">
            <a:avLst/>
          </a:prstGeom>
          <a:solidFill>
            <a:srgbClr val="F5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85248" y="538581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1C2B"/>
                </a:solidFill>
                <a:latin typeface="Arial"/>
              </a:rPr>
              <a:t>76%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71048" y="538581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B2B2E"/>
                </a:solidFill>
                <a:latin typeface="Arial"/>
              </a:rPr>
              <a:t>điểm ESG HOSE, vượt VN100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961888"/>
            <a:ext cx="578815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5961888"/>
            <a:ext cx="16459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B2B2E"/>
                </a:solidFill>
                <a:latin typeface="Arial"/>
              </a:rPr>
              <a:t>Sức khoẻ tài chính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6025896"/>
            <a:ext cx="1920240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602589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2.04x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59368" y="602589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Arial"/>
              </a:rPr>
              <a:t>backlog / doanh thu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6025896"/>
            <a:ext cx="1920240" cy="438912"/>
          </a:xfrm>
          <a:prstGeom prst="rect">
            <a:avLst/>
          </a:prstGeom>
          <a:solidFill>
            <a:srgbClr val="F5C3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85248" y="6025896"/>
            <a:ext cx="73152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A1C2B"/>
                </a:solidFill>
                <a:latin typeface="Arial"/>
              </a:rPr>
              <a:t>1,880 tỷ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1048" y="6025896"/>
            <a:ext cx="1143000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2B2B2E"/>
                </a:solidFill>
                <a:latin typeface="Arial"/>
              </a:rPr>
              <a:t>tiền ròng FY26A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6601968"/>
            <a:ext cx="5788152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Coteccons (ĐHCĐ, báo cáo thường niên), HOSE, mô hình nhóm.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64008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C8C91"/>
                </a:solidFill>
                <a:latin typeface="Arial"/>
              </a:rPr>
              <a:t>CÔNG TY CỔ PHẦN XÂY DỰNG COTECCONS (HOSE: CTD)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B2B2E"/>
                </a:solidFill>
                <a:latin typeface="Arial"/>
              </a:rPr>
              <a:t>Backlog bảo chứng doanh thu, mix phức tạp kéo biên lên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19456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Arial"/>
              </a:rPr>
              <a:t>GO FINANCE 2026 · PITCHBOOK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84048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Số liệu tính đến 1/10/2026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607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8C8C91"/>
                </a:solidFill>
                <a:latin typeface="Arial"/>
              </a:rPr>
              <a:t>(F)/(E) = dự phóng của nhóm, không phải số công bố. Không phải khuyến nghị đầu tư cá nhân.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83680"/>
            <a:ext cx="57607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|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78408"/>
            <a:ext cx="11640312" cy="731520"/>
          </a:xfrm>
          <a:prstGeom prst="rect">
            <a:avLst/>
          </a:prstGeom>
          <a:solidFill>
            <a:srgbClr val="F6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74320" y="1709928"/>
            <a:ext cx="11640312" cy="0"/>
          </a:xfrm>
          <a:prstGeom prst="line">
            <a:avLst/>
          </a:prstGeom>
          <a:ln w="15875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4048" y="1042416"/>
            <a:ext cx="114300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B2B2E"/>
                </a:solidFill>
                <a:latin typeface="Arial"/>
              </a:rPr>
              <a:t>Cơ hội đến từ ba lớp: [1]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backlog ~70,000 tỷ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phủ 2.04x doanh thu, trong đó ~30,000 tỷ gối đầu sang FY28+; [2] chuyển trọng tâm sang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dự án phức tạp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(biên 5-6.5% so với 3-4% của nhà ở) giúp biên gộp lên 4.45%; [3] LNST FY27E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894 tỷ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(+13%). Điểm cần theo dõi: dòng tiền hoạt động còn phụ thuộc </a:t>
            </a:r>
            <a:r>
              <a:rPr sz="1000" b="1" i="0">
                <a:solidFill>
                  <a:srgbClr val="2B2B2E"/>
                </a:solidFill>
                <a:latin typeface="Arial"/>
              </a:rPr>
              <a:t>ứng trước khách hàng</a:t>
            </a:r>
            <a:r>
              <a:rPr sz="1000" b="0" i="0">
                <a:solidFill>
                  <a:srgbClr val="2B2B2E"/>
                </a:solidFill>
                <a:latin typeface="Arial"/>
              </a:rPr>
              <a:t> (9,029 tỷ).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[1] Backlog phủ 2.04x doanh thu (tỷ đồng)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274320" y="2121408"/>
          <a:ext cx="379476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402336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CTD, mô hình nhóm (ký mới 45-50 nghìn tỷ/năm). Độ phủ vẫn trên ngưỡng cảnh báo 1.5x.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[2] Tỉ trọng dự án phức tạp quyết định biên gộp (%)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87952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187952" y="2121408"/>
          <a:ext cx="379476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187952" y="402336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Kirin: nhà ở 3-4%, công nghiệp và hạ tầng 5-6.5%; tính nhóm. Trục x = tỉ trọng dự án phức tạp trong doanh thu.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182880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[3] Vùng mục tiêu: các hạng mục kỹ thuật phức tạp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19872" y="207568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119872" y="2176272"/>
          <a:ext cx="3794759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30630"/>
                <a:gridCol w="246412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Cụm dự án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Cấu phần phức tạp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C810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Đường sắt đô thị, kết cấu ngầm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Tường vây sâu, cọc barrette, nhà ga ngầm, xử lý nền yếu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Hàng không, ga trung chuyển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Nhà để xe &gt;200,000 m² sàn, thép khẩu độ lớn, MEP phức tạp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Siêu công trình, hạ tầng đặc thù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Hội nghị quốc tế, cọc khoan nhồi cảng nước sâu, depot kỹ thuật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119872" y="411480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Bộ Xây dựng, UBND địa phương; tổng hợp nhóm. Biên mục tiêu 5-6.5%.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[4] LNST ba kịch bản (tỷ đồng); kế hoạch FY27: 1,050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74320" y="4544568"/>
          <a:ext cx="379476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74320" y="635508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mô hình nhóm. Biên gộp thấp 4.1-4.2%, cơ sở 4.45%, cao 4.6-5.0%.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[5] OCF FY26 dương nhờ ứng trước (tỷ đồng)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87952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187952" y="4544568"/>
          <a:ext cx="3794760" cy="17830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187952" y="635508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BCTC CTD (Vietcap), nhóm cộng 4 quý. Phải thu 15,381 tỷ (DSO ~176 ngày), tồn kho 9,906 tỷ.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2" y="4251960"/>
            <a:ext cx="379476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B2B2E"/>
                </a:solidFill>
                <a:latin typeface="Arial"/>
              </a:rPr>
              <a:t>[6] Cầu nối LNST FY26 → FY27E (tỷ đồng)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19872" y="4498848"/>
            <a:ext cx="379476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8119872" y="4544568"/>
          <a:ext cx="3794760" cy="17830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119872" y="6355080"/>
            <a:ext cx="379476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mô hình nhóm (biên gộp 4.45%). Trục bắt đầu từ 600 để thấy rõ các bước.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01168"/>
            <a:ext cx="64008" cy="65836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8C8C91"/>
                </a:solidFill>
                <a:latin typeface="Arial"/>
              </a:rPr>
              <a:t>CÔNG TY CỔ PHẦN XÂY DỰNG COTECCONS (HOSE: CTD)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51560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B2B2E"/>
                </a:solidFill>
                <a:latin typeface="Arial"/>
              </a:rPr>
              <a:t>MUA CTD: mục tiêu 83,500 đồng, upside +41%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19456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Arial"/>
              </a:rPr>
              <a:t>GO FINANCE 2026 · PITCHBOOK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384048"/>
            <a:ext cx="222199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Số liệu tính đến 1/10/2026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0607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8C8C91"/>
                </a:solidFill>
                <a:latin typeface="Arial"/>
              </a:rPr>
              <a:t>(F)/(E) = dự phóng của nhóm, không phải số công bố. Không phải khuyến nghị đầu tư cá nhân.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83680"/>
            <a:ext cx="576072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8C8C91"/>
                </a:solidFill>
                <a:latin typeface="Arial"/>
              </a:rPr>
              <a:t>|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45720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Football field: giá mục tiêu nằm giữa các vùng định giá (nghìn đồng/cp)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234440"/>
            <a:ext cx="457200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508760"/>
          <a:ext cx="45720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2951530" y="1505102"/>
            <a:ext cx="0" cy="1854403"/>
          </a:xfrm>
          <a:prstGeom prst="line">
            <a:avLst/>
          </a:prstGeom>
          <a:ln w="15875">
            <a:solidFill>
              <a:srgbClr val="8C8C9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585770" y="1280160"/>
            <a:ext cx="731520" cy="164592"/>
          </a:xfrm>
          <a:prstGeom prst="rect">
            <a:avLst/>
          </a:prstGeom>
          <a:solidFill>
            <a:srgbClr val="8C8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5770" y="1280160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Giá 59.3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2266" y="1505102"/>
            <a:ext cx="0" cy="1854403"/>
          </a:xfrm>
          <a:prstGeom prst="line">
            <a:avLst/>
          </a:prstGeom>
          <a:ln w="15875">
            <a:solidFill>
              <a:srgbClr val="2B2B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86506" y="1280160"/>
            <a:ext cx="731520" cy="164592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86506" y="1280160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Arial"/>
              </a:rPr>
              <a:t>Mục tiêu 83.5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685032"/>
            <a:ext cx="45720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mô hình nhóm; đồng thuận 9 báo cáo: trung bình 84.4 (tổng hợp thứ cấp).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005840"/>
            <a:ext cx="29718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TÓM TẮT KHUYẾN NGHỊ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74920" y="1234440"/>
            <a:ext cx="2971800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74920" y="1280160"/>
          <a:ext cx="2971799" cy="22402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88720"/>
                <a:gridCol w="1783079"/>
              </a:tblGrid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Khuyến nghị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8102E"/>
                          </a:solidFill>
                          <a:latin typeface="Arial"/>
                        </a:rPr>
                        <a:t>MUA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Giá hiện tại (đồng)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59,300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Giá mục tiêu (đồng)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83,500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Upside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C8102E"/>
                          </a:solidFill>
                          <a:latin typeface="Arial"/>
                        </a:rPr>
                        <a:t>+41%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P/E FY27E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7.4x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P/B 6/2027E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0.63x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EV/EBIT FY26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5.8x (11.2x nếu 50% nợ)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WACC / g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10.9% / 3.0%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Backlog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~70,000 tỷ (2.04x)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Phương pháp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30% P/E + 30% P/B + 40% DCF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74920" y="3685032"/>
            <a:ext cx="29718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Stress ứng trước 25% nợ → 75,600 (+27%); 50% → 67,500 (+14%).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005840"/>
            <a:ext cx="3639312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TÀI CHÍNH (tỷ đồng)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75320" y="1234440"/>
            <a:ext cx="3639312" cy="0"/>
          </a:xfrm>
          <a:prstGeom prst="line">
            <a:avLst/>
          </a:prstGeom>
          <a:ln w="9525">
            <a:solidFill>
              <a:srgbClr val="8C8C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75320" y="1280160"/>
          <a:ext cx="3639309" cy="20985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54124"/>
                <a:gridCol w="557037"/>
                <a:gridCol w="557037"/>
                <a:gridCol w="557037"/>
                <a:gridCol w="557037"/>
                <a:gridCol w="557037"/>
              </a:tblGrid>
              <a:tr h="233172"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FY25A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FY26A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FY27E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FY28E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FY29E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Doanh thu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24,885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34,340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40,000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44,800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49,300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Tăng trưởng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18.2%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38.0%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Biên gộp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3.28%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4.21%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4.45%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4.45%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4.45%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1,100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1,247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1,391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LNST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1,010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1,129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EPS (đồng)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4,079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7,045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7,998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9,032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10,097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OCF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−1,154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816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2B2B2E"/>
                          </a:solidFill>
                          <a:latin typeface="Arial"/>
                        </a:rPr>
                        <a:t>Tiền ròng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1,315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1,880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1,915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2,068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2B2B2E"/>
                          </a:solidFill>
                          <a:latin typeface="Arial"/>
                        </a:rPr>
                        <a:t>2,381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275320" y="3685032"/>
            <a:ext cx="3639312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 i="1">
                <a:solidFill>
                  <a:srgbClr val="8C8C91"/>
                </a:solidFill>
                <a:latin typeface="Arial"/>
              </a:rPr>
              <a:t>Nguồn: CTD (BCTC, Vietcap), mô hình nhóm CTD_Financial_Model_v4_analyst.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11640312" cy="1417320"/>
          </a:xfrm>
          <a:prstGeom prst="rect">
            <a:avLst/>
          </a:prstGeom>
          <a:solidFill>
            <a:srgbClr val="F6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3886200"/>
            <a:ext cx="3657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C8102E"/>
                </a:solidFill>
                <a:latin typeface="Arial"/>
              </a:rPr>
              <a:t>LUẬN ĐIỂM ĐẦU TƯ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4114800"/>
            <a:ext cx="3657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FDI và dự án phức tạp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334256"/>
            <a:ext cx="361188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2B2B2E"/>
                </a:solidFill>
                <a:latin typeface="Arial"/>
              </a:rPr>
              <a:t>FDI ~50% doanh thu, repeat sales &gt;75%, dẫn đầu LEED (38 dự án). Giải ngân FDI dự phóng tăng từ 27.6 lên 33.4 tỷ USD (2025-27F). Chuyển sang hạng mục ngầm, thép khẩu độ lớn, MEP nâng biên lên </a:t>
            </a:r>
            <a:r>
              <a:rPr sz="850" b="1" i="0">
                <a:solidFill>
                  <a:srgbClr val="2B2B2E"/>
                </a:solidFill>
                <a:latin typeface="Arial"/>
              </a:rPr>
              <a:t>4.45%</a:t>
            </a:r>
            <a:r>
              <a:rPr sz="850" b="0" i="0">
                <a:solidFill>
                  <a:srgbClr val="2B2B2E"/>
                </a:solidFill>
                <a:latin typeface="Arial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4114800"/>
            <a:ext cx="3657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Backlog bảo chứng, dòng tiền cần theo dõi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4334256"/>
            <a:ext cx="361188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2B2B2E"/>
                </a:solidFill>
                <a:latin typeface="Arial"/>
              </a:rPr>
              <a:t>Backlog 70,000 tỷ phủ </a:t>
            </a:r>
            <a:r>
              <a:rPr sz="850" b="1" i="0">
                <a:solidFill>
                  <a:srgbClr val="2B2B2E"/>
                </a:solidFill>
                <a:latin typeface="Arial"/>
              </a:rPr>
              <a:t>2.04x</a:t>
            </a:r>
            <a:r>
              <a:rPr sz="850" b="0" i="0">
                <a:solidFill>
                  <a:srgbClr val="2B2B2E"/>
                </a:solidFill>
                <a:latin typeface="Arial"/>
              </a:rPr>
              <a:t> doanh thu, ~30,000 tỷ gối đầu FY28+. OCF dương nhờ ứng trước 9,029 tỷ; OCF FY27E chỉ 236 tỷ, tiền ròng 1,915 tỷ. Phải thu (DSO ~176 ngày) và tồn kho 9,906 tỷ là điểm cần theo dõi.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33088" y="4133088"/>
            <a:ext cx="0" cy="1051560"/>
          </a:xfrm>
          <a:prstGeom prst="line">
            <a:avLst/>
          </a:prstGeom>
          <a:ln w="12700">
            <a:solidFill>
              <a:srgbClr val="E3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65008" y="4114800"/>
            <a:ext cx="3657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B2B2E"/>
                </a:solidFill>
                <a:latin typeface="Arial"/>
              </a:rPr>
              <a:t>Định giá đã chiết khấu thấp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4334256"/>
            <a:ext cx="361188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 i="0">
                <a:solidFill>
                  <a:srgbClr val="2B2B2E"/>
                </a:solidFill>
                <a:latin typeface="Arial"/>
              </a:rPr>
              <a:t>P/E FY27E </a:t>
            </a:r>
            <a:r>
              <a:rPr sz="850" b="1" i="0">
                <a:solidFill>
                  <a:srgbClr val="2B2B2E"/>
                </a:solidFill>
                <a:latin typeface="Arial"/>
              </a:rPr>
              <a:t>7.4x</a:t>
            </a:r>
            <a:r>
              <a:rPr sz="850" b="0" i="0">
                <a:solidFill>
                  <a:srgbClr val="2B2B2E"/>
                </a:solidFill>
                <a:latin typeface="Arial"/>
              </a:rPr>
              <a:t>, P/B 0.63x, EV/EBIT 5.8x so với nhóm khu vực 14.5x và 1.61x. Giá mục tiêu </a:t>
            </a:r>
            <a:r>
              <a:rPr sz="850" b="1" i="0">
                <a:solidFill>
                  <a:srgbClr val="2B2B2E"/>
                </a:solidFill>
                <a:latin typeface="Arial"/>
              </a:rPr>
              <a:t>83,500</a:t>
            </a:r>
            <a:r>
              <a:rPr sz="850" b="0" i="0">
                <a:solidFill>
                  <a:srgbClr val="2B2B2E"/>
                </a:solidFill>
                <a:latin typeface="Arial"/>
              </a:rPr>
              <a:t> (+41%) = 30% P/E (75,980) + 30% P/B (81,267) + 40% DCF (91,253). Kể cả stress 25% ứng trước là nợ vẫn cho +27%; 50% → +14%.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73568" y="4133088"/>
            <a:ext cx="0" cy="1051560"/>
          </a:xfrm>
          <a:prstGeom prst="line">
            <a:avLst/>
          </a:prstGeom>
          <a:ln w="12700">
            <a:solidFill>
              <a:srgbClr val="E3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20" y="5321808"/>
            <a:ext cx="36576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8102E"/>
                </a:solidFill>
                <a:latin typeface="Arial"/>
              </a:rPr>
              <a:t>RỦI RO CHÍNH VÀ ĐIỀU KIỆN XEM XÉT LẠI KHUYẾN NGHỊ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74320" y="5522976"/>
          <a:ext cx="11640312" cy="914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50592"/>
                <a:gridCol w="4084320"/>
                <a:gridCol w="4390644"/>
                <a:gridCol w="714756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Rủi ro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Tín hiệu theo dõi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Ngưỡng xem xét lại MUA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Mức độ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B2B2E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2B2B2E"/>
                          </a:solidFill>
                          <a:latin typeface="Arial"/>
                        </a:rPr>
                        <a:t>BĐS, nhà ở cao tầng (65% backlog)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Phải thu 15,381 tỷ (40% tài sản), dự phòng 1,374 tỷ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Trích lập thêm dự phòng &gt;500 tỷ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5C3CA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2B2B2E"/>
                          </a:solidFill>
                          <a:latin typeface="Arial"/>
                        </a:rPr>
                        <a:t>Giá vật liệu và biên gộp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Vật liệu +20-32%; hợp đồng giá cố định hết hạn 2027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Biên gộp &lt;3.8% hai quý (0.1 điểm ≈ 2.2% giá mục tiêu)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5C3CA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2B2B2E"/>
                          </a:solidFill>
                          <a:latin typeface="Arial"/>
                        </a:rPr>
                        <a:t>Dòng tiền phụ thuộc ứng trước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OCF FY25 −1,154 tỷ; ứng trước 9,029 tỷ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OCF âm hai quý, ứng trước giảm; độ phủ &lt;1.5x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Cao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5C3CA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2B2B2E"/>
                          </a:solidFill>
                          <a:latin typeface="Arial"/>
                        </a:rPr>
                        <a:t>Lãi suất, quản trị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Vay 5,943 tỷ, lãi vay +146%; CFO rời 26/4/2026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Thu nhập tài chính ±100 tỷ = ±4.6% giá mục tiêu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2B2B2E"/>
                          </a:solidFill>
                          <a:latin typeface="Arial"/>
                        </a:rPr>
                        <a:t>Vừa</a:t>
                      </a:r>
                    </a:p>
                  </a:txBody>
                  <a:tcPr marL="45720" marR="45720" marT="13716" marB="1371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E3E0E0"/>
                      </a:solidFill>
                    </a:lnB>
                    <a:solidFill>
                      <a:srgbClr val="F6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