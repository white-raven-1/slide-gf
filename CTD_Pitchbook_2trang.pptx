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A3E"/>
    <a:srgbClr val="FCFBF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50" d="100"/>
          <a:sy n="150" d="100"/>
        </p:scale>
        <p:origin x="254" y="-63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03-Oct-26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03-Oct-26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03-Oct-26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03-Oct-26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BFB"/>
        </a:solidFill>
        <a:effectLst/>
      </p:bgPr>
    </p:bg>
    <p:spTree>
      <p:nvGrpSpPr>
        <p:cNvPr id="1" name=""/>
        <p:cNvGrpSpPr/>
        <p:nvPr/>
      </p:nvGrpSpPr>
      <p:grpSpPr>
        <a:xfrm>
          <a:off x="0" y="0"/>
          <a:ext cx="0" cy="0"/>
          <a:chOff x="0" y="0"/>
          <a:chExt cx="0" cy="0"/>
        </a:xfrm>
      </p:grpSpPr>
      <p:sp>
        <p:nvSpPr>
          <p:cNvPr id="2" name="TextBox 1"/>
          <p:cNvSpPr txBox="1"/>
          <p:nvPr/>
        </p:nvSpPr>
        <p:spPr>
          <a:xfrm>
            <a:off x="230344" y="246955"/>
            <a:ext cx="5002384" cy="82688"/>
          </a:xfrm>
          <a:prstGeom prst="rect">
            <a:avLst/>
          </a:prstGeom>
          <a:noFill/>
        </p:spPr>
        <p:txBody>
          <a:bodyPr wrap="square" lIns="0" tIns="0" rIns="0" bIns="0" anchor="t"/>
          <a:lstStyle/>
          <a:p>
            <a:pPr algn="l">
              <a:lnSpc>
                <a:spcPts val="604"/>
              </a:lnSpc>
              <a:spcBef>
                <a:spcPts val="0"/>
              </a:spcBef>
              <a:spcAft>
                <a:spcPts val="0"/>
              </a:spcAft>
            </a:pPr>
            <a:r>
              <a:rPr sz="512" b="1" i="0" spc="139" dirty="0">
                <a:solidFill>
                  <a:srgbClr val="8A1C2B"/>
                </a:solidFill>
                <a:latin typeface="Arial"/>
              </a:rPr>
              <a:t>GO FINANCE 2026 · </a:t>
            </a:r>
            <a:r>
              <a:rPr lang="en-US" sz="512" b="1" i="0" spc="139" dirty="0">
                <a:solidFill>
                  <a:srgbClr val="8A1C2B"/>
                </a:solidFill>
                <a:latin typeface="Arial"/>
              </a:rPr>
              <a:t>PITCHBOOK </a:t>
            </a:r>
            <a:endParaRPr sz="512" b="1" i="0" spc="139" dirty="0">
              <a:solidFill>
                <a:srgbClr val="8A1C2B"/>
              </a:solidFill>
              <a:latin typeface="Arial"/>
            </a:endParaRPr>
          </a:p>
        </p:txBody>
      </p:sp>
      <p:sp>
        <p:nvSpPr>
          <p:cNvPr id="3" name="TextBox 2"/>
          <p:cNvSpPr txBox="1"/>
          <p:nvPr/>
        </p:nvSpPr>
        <p:spPr>
          <a:xfrm>
            <a:off x="230343" y="341454"/>
            <a:ext cx="7329332" cy="311186"/>
          </a:xfrm>
          <a:prstGeom prst="rect">
            <a:avLst/>
          </a:prstGeom>
          <a:noFill/>
        </p:spPr>
        <p:txBody>
          <a:bodyPr wrap="square" lIns="0" tIns="0" rIns="0" bIns="0" anchor="t"/>
          <a:lstStyle/>
          <a:p>
            <a:pPr algn="l">
              <a:lnSpc>
                <a:spcPts val="1482"/>
              </a:lnSpc>
              <a:spcBef>
                <a:spcPts val="0"/>
              </a:spcBef>
              <a:spcAft>
                <a:spcPts val="0"/>
              </a:spcAft>
            </a:pPr>
            <a:r>
              <a:rPr lang="en-US" sz="1400" b="1" spc="-13" dirty="0" err="1">
                <a:solidFill>
                  <a:srgbClr val="3A3A3E"/>
                </a:solidFill>
                <a:latin typeface="Arial"/>
              </a:rPr>
              <a:t>Đầu</a:t>
            </a:r>
            <a:r>
              <a:rPr lang="en-US" sz="1400" b="1" spc="-13" dirty="0">
                <a:solidFill>
                  <a:srgbClr val="3A3A3E"/>
                </a:solidFill>
                <a:latin typeface="Arial"/>
              </a:rPr>
              <a:t> </a:t>
            </a:r>
            <a:r>
              <a:rPr lang="en-US" sz="1400" b="1" spc="-13" dirty="0" err="1">
                <a:solidFill>
                  <a:srgbClr val="3A3A3E"/>
                </a:solidFill>
                <a:latin typeface="Arial"/>
              </a:rPr>
              <a:t>tư</a:t>
            </a:r>
            <a:r>
              <a:rPr lang="en-US" sz="1400" b="1" spc="-13" dirty="0">
                <a:solidFill>
                  <a:srgbClr val="3A3A3E"/>
                </a:solidFill>
                <a:latin typeface="Arial"/>
              </a:rPr>
              <a:t> </a:t>
            </a:r>
            <a:r>
              <a:rPr lang="en-US" sz="1400" b="1" spc="-13" dirty="0" err="1">
                <a:solidFill>
                  <a:srgbClr val="3A3A3E"/>
                </a:solidFill>
                <a:latin typeface="Arial"/>
              </a:rPr>
              <a:t>công</a:t>
            </a:r>
            <a:r>
              <a:rPr lang="en-US" sz="1400" b="1" spc="-13" dirty="0">
                <a:solidFill>
                  <a:srgbClr val="3A3A3E"/>
                </a:solidFill>
                <a:latin typeface="Arial"/>
              </a:rPr>
              <a:t> </a:t>
            </a:r>
            <a:r>
              <a:rPr lang="en-US" sz="1400" b="1" spc="-13" dirty="0" err="1">
                <a:solidFill>
                  <a:srgbClr val="3A3A3E"/>
                </a:solidFill>
                <a:latin typeface="Arial"/>
              </a:rPr>
              <a:t>và</a:t>
            </a:r>
            <a:r>
              <a:rPr lang="en-US" sz="1400" b="1" spc="-13" dirty="0">
                <a:solidFill>
                  <a:srgbClr val="3A3A3E"/>
                </a:solidFill>
                <a:latin typeface="Arial"/>
              </a:rPr>
              <a:t> VLXD: </a:t>
            </a:r>
            <a:r>
              <a:rPr sz="1400" b="1" i="0" spc="-13" dirty="0">
                <a:solidFill>
                  <a:srgbClr val="3A3A3E"/>
                </a:solidFill>
                <a:latin typeface="Arial"/>
              </a:rPr>
              <a:t>FDI </a:t>
            </a:r>
            <a:r>
              <a:rPr sz="1400" b="1" i="0" spc="-13" dirty="0" err="1">
                <a:solidFill>
                  <a:srgbClr val="3A3A3E"/>
                </a:solidFill>
                <a:latin typeface="Arial"/>
              </a:rPr>
              <a:t>kỷ</a:t>
            </a:r>
            <a:r>
              <a:rPr sz="1400" b="1" i="0" spc="-13" dirty="0">
                <a:solidFill>
                  <a:srgbClr val="3A3A3E"/>
                </a:solidFill>
                <a:latin typeface="Arial"/>
              </a:rPr>
              <a:t> </a:t>
            </a:r>
            <a:r>
              <a:rPr sz="1400" b="1" i="0" spc="-13" dirty="0" err="1">
                <a:solidFill>
                  <a:srgbClr val="3A3A3E"/>
                </a:solidFill>
                <a:latin typeface="Arial"/>
              </a:rPr>
              <a:t>lục</a:t>
            </a:r>
            <a:r>
              <a:rPr sz="1400" b="1" i="0" spc="-13" dirty="0">
                <a:solidFill>
                  <a:srgbClr val="3A3A3E"/>
                </a:solidFill>
                <a:latin typeface="Arial"/>
              </a:rPr>
              <a:t> </a:t>
            </a:r>
            <a:r>
              <a:rPr sz="1400" b="1" i="0" spc="-13" dirty="0" err="1">
                <a:solidFill>
                  <a:srgbClr val="3A3A3E"/>
                </a:solidFill>
                <a:latin typeface="Arial"/>
              </a:rPr>
              <a:t>và</a:t>
            </a:r>
            <a:r>
              <a:rPr sz="1400" b="1" i="0" spc="-13" dirty="0">
                <a:solidFill>
                  <a:srgbClr val="3A3A3E"/>
                </a:solidFill>
                <a:latin typeface="Arial"/>
              </a:rPr>
              <a:t> mega project </a:t>
            </a:r>
            <a:r>
              <a:rPr sz="1400" b="1" i="0" spc="-13" dirty="0" err="1">
                <a:solidFill>
                  <a:srgbClr val="3A3A3E"/>
                </a:solidFill>
                <a:latin typeface="Arial"/>
              </a:rPr>
              <a:t>đẩy</a:t>
            </a:r>
            <a:r>
              <a:rPr sz="1400" b="1" i="0" spc="-13" dirty="0">
                <a:solidFill>
                  <a:srgbClr val="3A3A3E"/>
                </a:solidFill>
                <a:latin typeface="Arial"/>
              </a:rPr>
              <a:t> </a:t>
            </a:r>
            <a:r>
              <a:rPr sz="1400" b="1" i="0" spc="-13" dirty="0" err="1">
                <a:solidFill>
                  <a:srgbClr val="3A3A3E"/>
                </a:solidFill>
                <a:latin typeface="Arial"/>
              </a:rPr>
              <a:t>cầu</a:t>
            </a:r>
            <a:r>
              <a:rPr sz="1400" b="1" i="0" spc="-13" dirty="0">
                <a:solidFill>
                  <a:srgbClr val="3A3A3E"/>
                </a:solidFill>
                <a:latin typeface="Arial"/>
              </a:rPr>
              <a:t> </a:t>
            </a:r>
            <a:r>
              <a:rPr sz="1400" b="1" i="0" spc="-13" dirty="0" err="1">
                <a:solidFill>
                  <a:srgbClr val="3A3A3E"/>
                </a:solidFill>
                <a:latin typeface="Arial"/>
              </a:rPr>
              <a:t>xây</a:t>
            </a:r>
            <a:r>
              <a:rPr sz="1400" b="1" i="0" spc="-13" dirty="0">
                <a:solidFill>
                  <a:srgbClr val="3A3A3E"/>
                </a:solidFill>
                <a:latin typeface="Arial"/>
              </a:rPr>
              <a:t> </a:t>
            </a:r>
            <a:r>
              <a:rPr sz="1400" b="1" i="0" spc="-13" dirty="0" err="1">
                <a:solidFill>
                  <a:srgbClr val="3A3A3E"/>
                </a:solidFill>
                <a:latin typeface="Arial"/>
              </a:rPr>
              <a:t>dựng</a:t>
            </a:r>
            <a:r>
              <a:rPr sz="1400" b="1" i="0" spc="-13" dirty="0">
                <a:solidFill>
                  <a:srgbClr val="3A3A3E"/>
                </a:solidFill>
                <a:latin typeface="Arial"/>
              </a:rPr>
              <a:t>, </a:t>
            </a:r>
            <a:r>
              <a:rPr sz="1400" b="1" i="0" spc="-13" dirty="0" err="1">
                <a:solidFill>
                  <a:srgbClr val="3A3A3E"/>
                </a:solidFill>
                <a:latin typeface="Arial"/>
              </a:rPr>
              <a:t>vật</a:t>
            </a:r>
            <a:r>
              <a:rPr sz="1400" b="1" i="0" spc="-13" dirty="0">
                <a:solidFill>
                  <a:srgbClr val="3A3A3E"/>
                </a:solidFill>
                <a:latin typeface="Arial"/>
              </a:rPr>
              <a:t> </a:t>
            </a:r>
            <a:r>
              <a:rPr sz="1400" b="1" i="0" spc="-13" dirty="0" err="1">
                <a:solidFill>
                  <a:srgbClr val="3A3A3E"/>
                </a:solidFill>
                <a:latin typeface="Arial"/>
              </a:rPr>
              <a:t>liệu</a:t>
            </a:r>
            <a:r>
              <a:rPr sz="1400" b="1" i="0" spc="-13" dirty="0">
                <a:solidFill>
                  <a:srgbClr val="3A3A3E"/>
                </a:solidFill>
                <a:latin typeface="Arial"/>
              </a:rPr>
              <a:t> </a:t>
            </a:r>
            <a:r>
              <a:rPr sz="1400" b="1" i="0" spc="-13" dirty="0" err="1">
                <a:solidFill>
                  <a:srgbClr val="3A3A3E"/>
                </a:solidFill>
                <a:latin typeface="Arial"/>
              </a:rPr>
              <a:t>thiếu</a:t>
            </a:r>
            <a:r>
              <a:rPr sz="1400" b="1" i="0" spc="-13" dirty="0">
                <a:solidFill>
                  <a:srgbClr val="3A3A3E"/>
                </a:solidFill>
                <a:latin typeface="Arial"/>
              </a:rPr>
              <a:t> </a:t>
            </a:r>
            <a:r>
              <a:rPr sz="1400" b="1" i="0" spc="-13" dirty="0" err="1">
                <a:solidFill>
                  <a:srgbClr val="3A3A3E"/>
                </a:solidFill>
                <a:latin typeface="Arial"/>
              </a:rPr>
              <a:t>cung</a:t>
            </a:r>
            <a:endParaRPr sz="1400" b="1" i="0" spc="-13" dirty="0">
              <a:solidFill>
                <a:srgbClr val="3A3A3E"/>
              </a:solidFill>
              <a:latin typeface="Arial"/>
            </a:endParaRPr>
          </a:p>
        </p:txBody>
      </p:sp>
      <p:sp>
        <p:nvSpPr>
          <p:cNvPr id="4" name="TextBox 3"/>
          <p:cNvSpPr txBox="1"/>
          <p:nvPr/>
        </p:nvSpPr>
        <p:spPr>
          <a:xfrm>
            <a:off x="230344" y="540422"/>
            <a:ext cx="5002384" cy="100406"/>
          </a:xfrm>
          <a:prstGeom prst="rect">
            <a:avLst/>
          </a:prstGeom>
          <a:noFill/>
        </p:spPr>
        <p:txBody>
          <a:bodyPr wrap="square" lIns="0" tIns="0" rIns="0" bIns="0" anchor="t"/>
          <a:lstStyle/>
          <a:p>
            <a:pPr algn="l">
              <a:lnSpc>
                <a:spcPts val="713"/>
              </a:lnSpc>
              <a:spcBef>
                <a:spcPts val="0"/>
              </a:spcBef>
              <a:spcAft>
                <a:spcPts val="0"/>
              </a:spcAft>
            </a:pPr>
            <a:endParaRPr sz="605" b="0" i="0" dirty="0">
              <a:solidFill>
                <a:srgbClr val="5E5E63"/>
              </a:solidFill>
              <a:latin typeface="Arial"/>
            </a:endParaRPr>
          </a:p>
        </p:txBody>
      </p:sp>
      <p:sp>
        <p:nvSpPr>
          <p:cNvPr id="7" name="Rectangle 6"/>
          <p:cNvSpPr/>
          <p:nvPr/>
        </p:nvSpPr>
        <p:spPr>
          <a:xfrm>
            <a:off x="236250" y="693984"/>
            <a:ext cx="7087500" cy="17719"/>
          </a:xfrm>
          <a:prstGeom prst="rect">
            <a:avLst/>
          </a:prstGeom>
          <a:solidFill>
            <a:srgbClr val="C8102E"/>
          </a:solidFill>
          <a:ln>
            <a:noFill/>
          </a:ln>
          <a:effectLst/>
        </p:spPr>
        <p:txBody>
          <a:bodyPr rtlCol="0" anchor="ctr"/>
          <a:lstStyle/>
          <a:p>
            <a:pPr algn="ctr"/>
            <a:endParaRPr/>
          </a:p>
        </p:txBody>
      </p:sp>
      <p:sp>
        <p:nvSpPr>
          <p:cNvPr id="8" name="TextBox 7"/>
          <p:cNvSpPr txBox="1"/>
          <p:nvPr/>
        </p:nvSpPr>
        <p:spPr>
          <a:xfrm>
            <a:off x="230344" y="758953"/>
            <a:ext cx="7170188" cy="370617"/>
          </a:xfrm>
          <a:prstGeom prst="rect">
            <a:avLst/>
          </a:prstGeom>
          <a:noFill/>
        </p:spPr>
        <p:txBody>
          <a:bodyPr wrap="square" lIns="0" tIns="0" rIns="0" bIns="0" anchor="t"/>
          <a:lstStyle/>
          <a:p>
            <a:pPr algn="l">
              <a:lnSpc>
                <a:spcPts val="942"/>
              </a:lnSpc>
              <a:spcBef>
                <a:spcPts val="0"/>
              </a:spcBef>
              <a:spcAft>
                <a:spcPts val="0"/>
              </a:spcAft>
            </a:pPr>
            <a:r>
              <a:rPr sz="628" b="1" i="0" dirty="0" err="1">
                <a:solidFill>
                  <a:srgbClr val="3A3A3E"/>
                </a:solidFill>
                <a:latin typeface="Arial"/>
              </a:rPr>
              <a:t>Kết</a:t>
            </a:r>
            <a:r>
              <a:rPr sz="628" b="1" i="0" dirty="0">
                <a:solidFill>
                  <a:srgbClr val="3A3A3E"/>
                </a:solidFill>
                <a:latin typeface="Arial"/>
              </a:rPr>
              <a:t> </a:t>
            </a:r>
            <a:r>
              <a:rPr sz="628" b="1" i="0" dirty="0" err="1">
                <a:solidFill>
                  <a:srgbClr val="3A3A3E"/>
                </a:solidFill>
                <a:latin typeface="Arial"/>
              </a:rPr>
              <a:t>luận</a:t>
            </a:r>
            <a:r>
              <a:rPr sz="628" b="1" i="0" dirty="0">
                <a:solidFill>
                  <a:srgbClr val="3A3A3E"/>
                </a:solidFill>
                <a:latin typeface="Arial"/>
              </a:rPr>
              <a:t> </a:t>
            </a:r>
            <a:r>
              <a:rPr sz="628" b="1" i="0" dirty="0" err="1">
                <a:solidFill>
                  <a:srgbClr val="3A3A3E"/>
                </a:solidFill>
                <a:latin typeface="Arial"/>
              </a:rPr>
              <a:t>trang</a:t>
            </a:r>
            <a:r>
              <a:rPr sz="628" b="1" i="0" dirty="0">
                <a:solidFill>
                  <a:srgbClr val="3A3A3E"/>
                </a:solidFill>
                <a:latin typeface="Arial"/>
              </a:rPr>
              <a:t> 1:</a:t>
            </a:r>
            <a:r>
              <a:rPr sz="628" b="0" i="0" dirty="0">
                <a:solidFill>
                  <a:srgbClr val="2B2B2E"/>
                </a:solidFill>
                <a:latin typeface="Arial"/>
              </a:rPr>
              <a:t> </a:t>
            </a:r>
            <a:r>
              <a:rPr sz="628" b="0" i="0" dirty="0" err="1">
                <a:solidFill>
                  <a:srgbClr val="2B2B2E"/>
                </a:solidFill>
                <a:latin typeface="Arial"/>
              </a:rPr>
              <a:t>hai</a:t>
            </a:r>
            <a:r>
              <a:rPr sz="628" b="0" i="0" dirty="0">
                <a:solidFill>
                  <a:srgbClr val="2B2B2E"/>
                </a:solidFill>
                <a:latin typeface="Arial"/>
              </a:rPr>
              <a:t> </a:t>
            </a:r>
            <a:r>
              <a:rPr sz="628" b="0" i="0" dirty="0" err="1">
                <a:solidFill>
                  <a:srgbClr val="2B2B2E"/>
                </a:solidFill>
                <a:latin typeface="Arial"/>
              </a:rPr>
              <a:t>dòng</a:t>
            </a:r>
            <a:r>
              <a:rPr sz="628" b="0" i="0" dirty="0">
                <a:solidFill>
                  <a:srgbClr val="2B2B2E"/>
                </a:solidFill>
                <a:latin typeface="Arial"/>
              </a:rPr>
              <a:t> </a:t>
            </a:r>
            <a:r>
              <a:rPr sz="628" b="0" i="0" dirty="0" err="1">
                <a:solidFill>
                  <a:srgbClr val="2B2B2E"/>
                </a:solidFill>
                <a:latin typeface="Arial"/>
              </a:rPr>
              <a:t>cầu</a:t>
            </a:r>
            <a:r>
              <a:rPr sz="628" b="0" i="0" dirty="0">
                <a:solidFill>
                  <a:srgbClr val="2B2B2E"/>
                </a:solidFill>
                <a:latin typeface="Arial"/>
              </a:rPr>
              <a:t> </a:t>
            </a:r>
            <a:r>
              <a:rPr sz="628" b="0" i="0" dirty="0" err="1">
                <a:solidFill>
                  <a:srgbClr val="2B2B2E"/>
                </a:solidFill>
                <a:latin typeface="Arial"/>
              </a:rPr>
              <a:t>đến</a:t>
            </a:r>
            <a:r>
              <a:rPr sz="628" b="0" i="0" dirty="0">
                <a:solidFill>
                  <a:srgbClr val="2B2B2E"/>
                </a:solidFill>
                <a:latin typeface="Arial"/>
              </a:rPr>
              <a:t> </a:t>
            </a:r>
            <a:r>
              <a:rPr sz="628" b="0" i="0" dirty="0" err="1">
                <a:solidFill>
                  <a:srgbClr val="2B2B2E"/>
                </a:solidFill>
                <a:latin typeface="Arial"/>
              </a:rPr>
              <a:t>cùng</a:t>
            </a:r>
            <a:r>
              <a:rPr sz="628" b="0" i="0" dirty="0">
                <a:solidFill>
                  <a:srgbClr val="2B2B2E"/>
                </a:solidFill>
                <a:latin typeface="Arial"/>
              </a:rPr>
              <a:t> </a:t>
            </a:r>
            <a:r>
              <a:rPr sz="628" b="0" i="0" dirty="0" err="1">
                <a:solidFill>
                  <a:srgbClr val="2B2B2E"/>
                </a:solidFill>
                <a:latin typeface="Arial"/>
              </a:rPr>
              <a:t>lúc</a:t>
            </a:r>
            <a:r>
              <a:rPr sz="628" b="0" i="0" dirty="0">
                <a:solidFill>
                  <a:srgbClr val="2B2B2E"/>
                </a:solidFill>
                <a:latin typeface="Arial"/>
              </a:rPr>
              <a:t> </a:t>
            </a:r>
            <a:r>
              <a:rPr sz="628" b="0" i="0" dirty="0" err="1">
                <a:solidFill>
                  <a:srgbClr val="2B2B2E"/>
                </a:solidFill>
                <a:latin typeface="Arial"/>
              </a:rPr>
              <a:t>và</a:t>
            </a:r>
            <a:r>
              <a:rPr sz="628" b="0" i="0" dirty="0">
                <a:solidFill>
                  <a:srgbClr val="2B2B2E"/>
                </a:solidFill>
                <a:latin typeface="Arial"/>
              </a:rPr>
              <a:t> </a:t>
            </a:r>
            <a:r>
              <a:rPr sz="628" b="0" i="0" dirty="0" err="1">
                <a:solidFill>
                  <a:srgbClr val="2B2B2E"/>
                </a:solidFill>
                <a:latin typeface="Arial"/>
              </a:rPr>
              <a:t>còn</a:t>
            </a:r>
            <a:r>
              <a:rPr sz="628" b="0" i="0" dirty="0">
                <a:solidFill>
                  <a:srgbClr val="2B2B2E"/>
                </a:solidFill>
                <a:latin typeface="Arial"/>
              </a:rPr>
              <a:t> ở </a:t>
            </a:r>
            <a:r>
              <a:rPr sz="628" b="0" i="0" dirty="0" err="1">
                <a:solidFill>
                  <a:srgbClr val="2B2B2E"/>
                </a:solidFill>
                <a:latin typeface="Arial"/>
              </a:rPr>
              <a:t>đầu</a:t>
            </a:r>
            <a:r>
              <a:rPr sz="628" b="0" i="0" dirty="0">
                <a:solidFill>
                  <a:srgbClr val="2B2B2E"/>
                </a:solidFill>
                <a:latin typeface="Arial"/>
              </a:rPr>
              <a:t> chu </a:t>
            </a:r>
            <a:r>
              <a:rPr sz="628" b="0" i="0" dirty="0" err="1">
                <a:solidFill>
                  <a:srgbClr val="2B2B2E"/>
                </a:solidFill>
                <a:latin typeface="Arial"/>
              </a:rPr>
              <a:t>kỳ</a:t>
            </a:r>
            <a:r>
              <a:rPr sz="628" b="0" i="0" dirty="0">
                <a:solidFill>
                  <a:srgbClr val="2B2B2E"/>
                </a:solidFill>
                <a:latin typeface="Arial"/>
              </a:rPr>
              <a:t>. (1) </a:t>
            </a:r>
            <a:r>
              <a:rPr sz="628" b="1" i="0" dirty="0">
                <a:solidFill>
                  <a:srgbClr val="3A3A3E"/>
                </a:solidFill>
                <a:latin typeface="Arial"/>
              </a:rPr>
              <a:t>FDI</a:t>
            </a:r>
            <a:r>
              <a:rPr sz="628" b="0" i="0" dirty="0">
                <a:solidFill>
                  <a:srgbClr val="2B2B2E"/>
                </a:solidFill>
                <a:latin typeface="Arial"/>
              </a:rPr>
              <a:t>: </a:t>
            </a:r>
            <a:r>
              <a:rPr sz="628" b="0" i="0" dirty="0" err="1">
                <a:solidFill>
                  <a:srgbClr val="2B2B2E"/>
                </a:solidFill>
                <a:latin typeface="Arial"/>
              </a:rPr>
              <a:t>giải</a:t>
            </a:r>
            <a:r>
              <a:rPr sz="628" b="0" i="0" dirty="0">
                <a:solidFill>
                  <a:srgbClr val="2B2B2E"/>
                </a:solidFill>
                <a:latin typeface="Arial"/>
              </a:rPr>
              <a:t> </a:t>
            </a:r>
            <a:r>
              <a:rPr sz="628" b="0" i="0" dirty="0" err="1">
                <a:solidFill>
                  <a:srgbClr val="2B2B2E"/>
                </a:solidFill>
                <a:latin typeface="Arial"/>
              </a:rPr>
              <a:t>ngân</a:t>
            </a:r>
            <a:r>
              <a:rPr sz="628" b="0" i="0" dirty="0">
                <a:solidFill>
                  <a:srgbClr val="2B2B2E"/>
                </a:solidFill>
                <a:latin typeface="Arial"/>
              </a:rPr>
              <a:t> </a:t>
            </a:r>
            <a:r>
              <a:rPr sz="628" b="0" i="0" dirty="0" err="1">
                <a:solidFill>
                  <a:srgbClr val="2B2B2E"/>
                </a:solidFill>
                <a:latin typeface="Arial"/>
              </a:rPr>
              <a:t>kỷ</a:t>
            </a:r>
            <a:r>
              <a:rPr sz="628" b="0" i="0" dirty="0">
                <a:solidFill>
                  <a:srgbClr val="2B2B2E"/>
                </a:solidFill>
                <a:latin typeface="Arial"/>
              </a:rPr>
              <a:t> </a:t>
            </a:r>
            <a:r>
              <a:rPr sz="628" b="0" i="0" dirty="0" err="1">
                <a:solidFill>
                  <a:srgbClr val="2B2B2E"/>
                </a:solidFill>
                <a:latin typeface="Arial"/>
              </a:rPr>
              <a:t>lục</a:t>
            </a:r>
            <a:r>
              <a:rPr sz="628" b="0" i="0" dirty="0">
                <a:solidFill>
                  <a:srgbClr val="2B2B2E"/>
                </a:solidFill>
                <a:latin typeface="Arial"/>
              </a:rPr>
              <a:t> </a:t>
            </a:r>
            <a:r>
              <a:rPr sz="628" b="1" i="0" dirty="0">
                <a:solidFill>
                  <a:srgbClr val="C8102E"/>
                </a:solidFill>
                <a:latin typeface="Arial"/>
              </a:rPr>
              <a:t>27.6 </a:t>
            </a:r>
            <a:r>
              <a:rPr sz="628" b="1" i="0" dirty="0" err="1">
                <a:solidFill>
                  <a:srgbClr val="C8102E"/>
                </a:solidFill>
                <a:latin typeface="Arial"/>
              </a:rPr>
              <a:t>tỷ</a:t>
            </a:r>
            <a:r>
              <a:rPr sz="628" b="1" i="0" dirty="0">
                <a:solidFill>
                  <a:srgbClr val="C8102E"/>
                </a:solidFill>
                <a:latin typeface="Arial"/>
              </a:rPr>
              <a:t> USD</a:t>
            </a:r>
            <a:r>
              <a:rPr sz="628" b="0" i="0" dirty="0">
                <a:solidFill>
                  <a:srgbClr val="2B2B2E"/>
                </a:solidFill>
                <a:latin typeface="Arial"/>
              </a:rPr>
              <a:t> </a:t>
            </a:r>
            <a:r>
              <a:rPr sz="628" b="0" i="0" dirty="0" err="1">
                <a:solidFill>
                  <a:srgbClr val="2B2B2E"/>
                </a:solidFill>
                <a:latin typeface="Arial"/>
              </a:rPr>
              <a:t>năm</a:t>
            </a:r>
            <a:r>
              <a:rPr sz="628" b="0" i="0" dirty="0">
                <a:solidFill>
                  <a:srgbClr val="2B2B2E"/>
                </a:solidFill>
                <a:latin typeface="Arial"/>
              </a:rPr>
              <a:t> 2025, </a:t>
            </a:r>
            <a:r>
              <a:rPr sz="628" b="0" i="0" dirty="0" err="1">
                <a:solidFill>
                  <a:srgbClr val="2B2B2E"/>
                </a:solidFill>
                <a:latin typeface="Arial"/>
              </a:rPr>
              <a:t>vốn</a:t>
            </a:r>
            <a:r>
              <a:rPr sz="628" b="0" i="0" dirty="0">
                <a:solidFill>
                  <a:srgbClr val="2B2B2E"/>
                </a:solidFill>
                <a:latin typeface="Arial"/>
              </a:rPr>
              <a:t> </a:t>
            </a:r>
            <a:r>
              <a:rPr sz="628" b="0" i="0" dirty="0" err="1">
                <a:solidFill>
                  <a:srgbClr val="2B2B2E"/>
                </a:solidFill>
                <a:latin typeface="Arial"/>
              </a:rPr>
              <a:t>đăng</a:t>
            </a:r>
            <a:r>
              <a:rPr sz="628" b="0" i="0" dirty="0">
                <a:solidFill>
                  <a:srgbClr val="2B2B2E"/>
                </a:solidFill>
                <a:latin typeface="Arial"/>
              </a:rPr>
              <a:t> </a:t>
            </a:r>
            <a:r>
              <a:rPr sz="628" b="0" i="0" dirty="0" err="1">
                <a:solidFill>
                  <a:srgbClr val="2B2B2E"/>
                </a:solidFill>
                <a:latin typeface="Arial"/>
              </a:rPr>
              <a:t>ký</a:t>
            </a:r>
            <a:r>
              <a:rPr sz="628" b="0" i="0" dirty="0">
                <a:solidFill>
                  <a:srgbClr val="2B2B2E"/>
                </a:solidFill>
                <a:latin typeface="Arial"/>
              </a:rPr>
              <a:t> 8T/2026 (40.6 </a:t>
            </a:r>
            <a:r>
              <a:rPr sz="628" b="0" i="0" dirty="0" err="1">
                <a:solidFill>
                  <a:srgbClr val="2B2B2E"/>
                </a:solidFill>
                <a:latin typeface="Arial"/>
              </a:rPr>
              <a:t>tỷ</a:t>
            </a:r>
            <a:r>
              <a:rPr sz="628" b="0" i="0" dirty="0">
                <a:solidFill>
                  <a:srgbClr val="2B2B2E"/>
                </a:solidFill>
                <a:latin typeface="Arial"/>
              </a:rPr>
              <a:t> USD) </a:t>
            </a:r>
            <a:r>
              <a:rPr sz="628" b="0" i="0" dirty="0" err="1">
                <a:solidFill>
                  <a:srgbClr val="2B2B2E"/>
                </a:solidFill>
                <a:latin typeface="Arial"/>
              </a:rPr>
              <a:t>đã</a:t>
            </a:r>
            <a:r>
              <a:rPr sz="628" b="0" i="0" dirty="0">
                <a:solidFill>
                  <a:srgbClr val="2B2B2E"/>
                </a:solidFill>
                <a:latin typeface="Arial"/>
              </a:rPr>
              <a:t> </a:t>
            </a:r>
            <a:r>
              <a:rPr sz="628" b="0" i="0" dirty="0" err="1">
                <a:solidFill>
                  <a:srgbClr val="2B2B2E"/>
                </a:solidFill>
                <a:latin typeface="Arial"/>
              </a:rPr>
              <a:t>vượt</a:t>
            </a:r>
            <a:r>
              <a:rPr sz="628" b="0" i="0" dirty="0">
                <a:solidFill>
                  <a:srgbClr val="2B2B2E"/>
                </a:solidFill>
                <a:latin typeface="Arial"/>
              </a:rPr>
              <a:t> </a:t>
            </a:r>
            <a:r>
              <a:rPr sz="628" b="0" i="0" dirty="0" err="1">
                <a:solidFill>
                  <a:srgbClr val="2B2B2E"/>
                </a:solidFill>
                <a:latin typeface="Arial"/>
              </a:rPr>
              <a:t>cả</a:t>
            </a:r>
            <a:r>
              <a:rPr sz="628" b="0" i="0" dirty="0">
                <a:solidFill>
                  <a:srgbClr val="2B2B2E"/>
                </a:solidFill>
                <a:latin typeface="Arial"/>
              </a:rPr>
              <a:t> </a:t>
            </a:r>
            <a:r>
              <a:rPr sz="628" b="0" i="0" dirty="0" err="1">
                <a:solidFill>
                  <a:srgbClr val="2B2B2E"/>
                </a:solidFill>
                <a:latin typeface="Arial"/>
              </a:rPr>
              <a:t>năm</a:t>
            </a:r>
            <a:r>
              <a:rPr sz="628" b="0" i="0" dirty="0">
                <a:solidFill>
                  <a:srgbClr val="2B2B2E"/>
                </a:solidFill>
                <a:latin typeface="Arial"/>
              </a:rPr>
              <a:t> 2025 (38.4). (2) </a:t>
            </a:r>
            <a:r>
              <a:rPr sz="628" b="1" i="0" dirty="0" err="1">
                <a:solidFill>
                  <a:srgbClr val="3A3A3E"/>
                </a:solidFill>
                <a:latin typeface="Arial"/>
              </a:rPr>
              <a:t>Đầu</a:t>
            </a:r>
            <a:r>
              <a:rPr sz="628" b="1" i="0" dirty="0">
                <a:solidFill>
                  <a:srgbClr val="3A3A3E"/>
                </a:solidFill>
                <a:latin typeface="Arial"/>
              </a:rPr>
              <a:t> </a:t>
            </a:r>
            <a:r>
              <a:rPr sz="628" b="1" i="0" dirty="0" err="1">
                <a:solidFill>
                  <a:srgbClr val="3A3A3E"/>
                </a:solidFill>
                <a:latin typeface="Arial"/>
              </a:rPr>
              <a:t>tư</a:t>
            </a:r>
            <a:r>
              <a:rPr sz="628" b="1" i="0" dirty="0">
                <a:solidFill>
                  <a:srgbClr val="3A3A3E"/>
                </a:solidFill>
                <a:latin typeface="Arial"/>
              </a:rPr>
              <a:t> </a:t>
            </a:r>
            <a:r>
              <a:rPr sz="628" b="1" i="0" dirty="0" err="1">
                <a:solidFill>
                  <a:srgbClr val="3A3A3E"/>
                </a:solidFill>
                <a:latin typeface="Arial"/>
              </a:rPr>
              <a:t>công</a:t>
            </a:r>
            <a:r>
              <a:rPr sz="628" b="0" i="0" dirty="0">
                <a:solidFill>
                  <a:srgbClr val="2B2B2E"/>
                </a:solidFill>
                <a:latin typeface="Arial"/>
              </a:rPr>
              <a:t>: </a:t>
            </a:r>
            <a:r>
              <a:rPr sz="628" b="0" i="0" dirty="0" err="1">
                <a:solidFill>
                  <a:srgbClr val="2B2B2E"/>
                </a:solidFill>
                <a:latin typeface="Arial"/>
              </a:rPr>
              <a:t>giải</a:t>
            </a:r>
            <a:r>
              <a:rPr sz="628" b="0" i="0" dirty="0">
                <a:solidFill>
                  <a:srgbClr val="2B2B2E"/>
                </a:solidFill>
                <a:latin typeface="Arial"/>
              </a:rPr>
              <a:t> </a:t>
            </a:r>
            <a:r>
              <a:rPr sz="628" b="0" i="0" dirty="0" err="1">
                <a:solidFill>
                  <a:srgbClr val="2B2B2E"/>
                </a:solidFill>
                <a:latin typeface="Arial"/>
              </a:rPr>
              <a:t>ngân</a:t>
            </a:r>
            <a:r>
              <a:rPr sz="628" b="0" i="0" dirty="0">
                <a:solidFill>
                  <a:srgbClr val="2B2B2E"/>
                </a:solidFill>
                <a:latin typeface="Arial"/>
              </a:rPr>
              <a:t> </a:t>
            </a:r>
            <a:r>
              <a:rPr sz="628" b="0" i="0" dirty="0" err="1">
                <a:solidFill>
                  <a:srgbClr val="2B2B2E"/>
                </a:solidFill>
                <a:latin typeface="Arial"/>
              </a:rPr>
              <a:t>mới</a:t>
            </a:r>
            <a:r>
              <a:rPr sz="628" b="0" i="0" dirty="0">
                <a:solidFill>
                  <a:srgbClr val="2B2B2E"/>
                </a:solidFill>
                <a:latin typeface="Arial"/>
              </a:rPr>
              <a:t> </a:t>
            </a:r>
            <a:r>
              <a:rPr sz="628" b="1" i="0" dirty="0">
                <a:solidFill>
                  <a:srgbClr val="C8102E"/>
                </a:solidFill>
                <a:latin typeface="Arial"/>
              </a:rPr>
              <a:t>55.5%</a:t>
            </a:r>
            <a:r>
              <a:rPr sz="628" b="0" i="0" dirty="0">
                <a:solidFill>
                  <a:srgbClr val="2B2B2E"/>
                </a:solidFill>
                <a:latin typeface="Arial"/>
              </a:rPr>
              <a:t> </a:t>
            </a:r>
            <a:r>
              <a:rPr sz="628" b="0" i="0" dirty="0" err="1">
                <a:solidFill>
                  <a:srgbClr val="2B2B2E"/>
                </a:solidFill>
                <a:latin typeface="Arial"/>
              </a:rPr>
              <a:t>kế</a:t>
            </a:r>
            <a:r>
              <a:rPr sz="628" b="0" i="0" dirty="0">
                <a:solidFill>
                  <a:srgbClr val="2B2B2E"/>
                </a:solidFill>
                <a:latin typeface="Arial"/>
              </a:rPr>
              <a:t> </a:t>
            </a:r>
            <a:r>
              <a:rPr sz="628" b="0" i="0" dirty="0" err="1">
                <a:solidFill>
                  <a:srgbClr val="2B2B2E"/>
                </a:solidFill>
                <a:latin typeface="Arial"/>
              </a:rPr>
              <a:t>hoạch</a:t>
            </a:r>
            <a:r>
              <a:rPr sz="628" b="0" i="0" dirty="0">
                <a:solidFill>
                  <a:srgbClr val="2B2B2E"/>
                </a:solidFill>
                <a:latin typeface="Arial"/>
              </a:rPr>
              <a:t> 2026, </a:t>
            </a:r>
            <a:r>
              <a:rPr sz="628" b="0" i="0" dirty="0" err="1">
                <a:solidFill>
                  <a:srgbClr val="2B2B2E"/>
                </a:solidFill>
                <a:latin typeface="Arial"/>
              </a:rPr>
              <a:t>kế</a:t>
            </a:r>
            <a:r>
              <a:rPr sz="628" b="0" i="0" dirty="0">
                <a:solidFill>
                  <a:srgbClr val="2B2B2E"/>
                </a:solidFill>
                <a:latin typeface="Arial"/>
              </a:rPr>
              <a:t> </a:t>
            </a:r>
            <a:r>
              <a:rPr sz="628" b="0" i="0" dirty="0" err="1">
                <a:solidFill>
                  <a:srgbClr val="2B2B2E"/>
                </a:solidFill>
                <a:latin typeface="Arial"/>
              </a:rPr>
              <a:t>hoạch</a:t>
            </a:r>
            <a:r>
              <a:rPr sz="628" b="0" i="0" dirty="0">
                <a:solidFill>
                  <a:srgbClr val="2B2B2E"/>
                </a:solidFill>
                <a:latin typeface="Arial"/>
              </a:rPr>
              <a:t> 2027</a:t>
            </a:r>
            <a:r>
              <a:rPr lang="en-US" sz="628" b="0" i="0" dirty="0">
                <a:solidFill>
                  <a:srgbClr val="2B2B2E"/>
                </a:solidFill>
                <a:latin typeface="Arial"/>
              </a:rPr>
              <a:t>-</a:t>
            </a:r>
            <a:r>
              <a:rPr sz="628" b="0" i="0" dirty="0">
                <a:solidFill>
                  <a:srgbClr val="2B2B2E"/>
                </a:solidFill>
                <a:latin typeface="Arial"/>
              </a:rPr>
              <a:t>30 </a:t>
            </a:r>
            <a:r>
              <a:rPr sz="628" b="0" i="0" dirty="0" err="1">
                <a:solidFill>
                  <a:srgbClr val="2B2B2E"/>
                </a:solidFill>
                <a:latin typeface="Arial"/>
              </a:rPr>
              <a:t>bình</a:t>
            </a:r>
            <a:r>
              <a:rPr sz="628" b="0" i="0" dirty="0">
                <a:solidFill>
                  <a:srgbClr val="2B2B2E"/>
                </a:solidFill>
                <a:latin typeface="Arial"/>
              </a:rPr>
              <a:t> </a:t>
            </a:r>
            <a:r>
              <a:rPr sz="628" b="0" i="0" dirty="0" err="1">
                <a:solidFill>
                  <a:srgbClr val="2B2B2E"/>
                </a:solidFill>
                <a:latin typeface="Arial"/>
              </a:rPr>
              <a:t>quân</a:t>
            </a:r>
            <a:r>
              <a:rPr sz="628" b="0" i="0" dirty="0">
                <a:solidFill>
                  <a:srgbClr val="2B2B2E"/>
                </a:solidFill>
                <a:latin typeface="Arial"/>
              </a:rPr>
              <a:t> ~1,800 </a:t>
            </a:r>
            <a:r>
              <a:rPr sz="628" b="0" i="0" dirty="0" err="1">
                <a:solidFill>
                  <a:srgbClr val="2B2B2E"/>
                </a:solidFill>
                <a:latin typeface="Arial"/>
              </a:rPr>
              <a:t>nghìn</a:t>
            </a:r>
            <a:r>
              <a:rPr sz="628" b="0" i="0" dirty="0">
                <a:solidFill>
                  <a:srgbClr val="2B2B2E"/>
                </a:solidFill>
                <a:latin typeface="Arial"/>
              </a:rPr>
              <a:t> </a:t>
            </a:r>
            <a:r>
              <a:rPr sz="628" b="0" i="0" dirty="0" err="1">
                <a:solidFill>
                  <a:srgbClr val="2B2B2E"/>
                </a:solidFill>
                <a:latin typeface="Arial"/>
              </a:rPr>
              <a:t>tỷ</a:t>
            </a:r>
            <a:r>
              <a:rPr sz="628" b="0" i="0" dirty="0">
                <a:solidFill>
                  <a:srgbClr val="2B2B2E"/>
                </a:solidFill>
                <a:latin typeface="Arial"/>
              </a:rPr>
              <a:t>/</a:t>
            </a:r>
            <a:r>
              <a:rPr sz="628" b="0" i="0" dirty="0" err="1">
                <a:solidFill>
                  <a:srgbClr val="2B2B2E"/>
                </a:solidFill>
                <a:latin typeface="Arial"/>
              </a:rPr>
              <a:t>năm</a:t>
            </a:r>
            <a:r>
              <a:rPr sz="628" b="0" i="0" dirty="0">
                <a:solidFill>
                  <a:srgbClr val="2B2B2E"/>
                </a:solidFill>
                <a:latin typeface="Arial"/>
              </a:rPr>
              <a:t> (+76% so </a:t>
            </a:r>
            <a:r>
              <a:rPr sz="628" b="0" i="0" dirty="0" err="1">
                <a:solidFill>
                  <a:srgbClr val="2B2B2E"/>
                </a:solidFill>
                <a:latin typeface="Arial"/>
              </a:rPr>
              <a:t>với</a:t>
            </a:r>
            <a:r>
              <a:rPr sz="628" b="0" i="0" dirty="0">
                <a:solidFill>
                  <a:srgbClr val="2B2B2E"/>
                </a:solidFill>
                <a:latin typeface="Arial"/>
              </a:rPr>
              <a:t> 2026); </a:t>
            </a:r>
            <a:r>
              <a:rPr sz="628" b="0" i="0" dirty="0" err="1">
                <a:solidFill>
                  <a:srgbClr val="2B2B2E"/>
                </a:solidFill>
                <a:latin typeface="Arial"/>
              </a:rPr>
              <a:t>đường</a:t>
            </a:r>
            <a:r>
              <a:rPr sz="628" b="0" i="0" dirty="0">
                <a:solidFill>
                  <a:srgbClr val="2B2B2E"/>
                </a:solidFill>
                <a:latin typeface="Arial"/>
              </a:rPr>
              <a:t> </a:t>
            </a:r>
            <a:r>
              <a:rPr sz="628" b="0" i="0" dirty="0" err="1">
                <a:solidFill>
                  <a:srgbClr val="2B2B2E"/>
                </a:solidFill>
                <a:latin typeface="Arial"/>
              </a:rPr>
              <a:t>sắt</a:t>
            </a:r>
            <a:r>
              <a:rPr sz="628" b="0" i="0" dirty="0">
                <a:solidFill>
                  <a:srgbClr val="2B2B2E"/>
                </a:solidFill>
                <a:latin typeface="Arial"/>
              </a:rPr>
              <a:t> </a:t>
            </a:r>
            <a:r>
              <a:rPr sz="628" b="0" i="0" dirty="0" err="1">
                <a:solidFill>
                  <a:srgbClr val="2B2B2E"/>
                </a:solidFill>
                <a:latin typeface="Arial"/>
              </a:rPr>
              <a:t>tốc</a:t>
            </a:r>
            <a:r>
              <a:rPr sz="628" b="0" i="0" dirty="0">
                <a:solidFill>
                  <a:srgbClr val="2B2B2E"/>
                </a:solidFill>
                <a:latin typeface="Arial"/>
              </a:rPr>
              <a:t> </a:t>
            </a:r>
            <a:r>
              <a:rPr sz="628" b="0" i="0" dirty="0" err="1">
                <a:solidFill>
                  <a:srgbClr val="2B2B2E"/>
                </a:solidFill>
                <a:latin typeface="Arial"/>
              </a:rPr>
              <a:t>độ</a:t>
            </a:r>
            <a:r>
              <a:rPr sz="628" b="0" i="0" dirty="0">
                <a:solidFill>
                  <a:srgbClr val="2B2B2E"/>
                </a:solidFill>
                <a:latin typeface="Arial"/>
              </a:rPr>
              <a:t> </a:t>
            </a:r>
            <a:r>
              <a:rPr sz="628" b="0" i="0" dirty="0" err="1">
                <a:solidFill>
                  <a:srgbClr val="2B2B2E"/>
                </a:solidFill>
                <a:latin typeface="Arial"/>
              </a:rPr>
              <a:t>cao</a:t>
            </a:r>
            <a:r>
              <a:rPr sz="628" b="0" i="0" dirty="0">
                <a:solidFill>
                  <a:srgbClr val="2B2B2E"/>
                </a:solidFill>
                <a:latin typeface="Arial"/>
              </a:rPr>
              <a:t> </a:t>
            </a:r>
            <a:r>
              <a:rPr sz="628" b="0" i="0" dirty="0" err="1">
                <a:solidFill>
                  <a:srgbClr val="2B2B2E"/>
                </a:solidFill>
                <a:latin typeface="Arial"/>
              </a:rPr>
              <a:t>mới</a:t>
            </a:r>
            <a:r>
              <a:rPr sz="628" b="0" i="0" dirty="0">
                <a:solidFill>
                  <a:srgbClr val="2B2B2E"/>
                </a:solidFill>
                <a:latin typeface="Arial"/>
              </a:rPr>
              <a:t> </a:t>
            </a:r>
            <a:r>
              <a:rPr sz="628" b="0" i="0" dirty="0" err="1">
                <a:solidFill>
                  <a:srgbClr val="2B2B2E"/>
                </a:solidFill>
                <a:latin typeface="Arial"/>
              </a:rPr>
              <a:t>giải</a:t>
            </a:r>
            <a:r>
              <a:rPr sz="628" b="0" i="0" dirty="0">
                <a:solidFill>
                  <a:srgbClr val="2B2B2E"/>
                </a:solidFill>
                <a:latin typeface="Arial"/>
              </a:rPr>
              <a:t> </a:t>
            </a:r>
            <a:r>
              <a:rPr sz="628" b="0" i="0" dirty="0" err="1">
                <a:solidFill>
                  <a:srgbClr val="2B2B2E"/>
                </a:solidFill>
                <a:latin typeface="Arial"/>
              </a:rPr>
              <a:t>ngân</a:t>
            </a:r>
            <a:r>
              <a:rPr sz="628" b="0" i="0" dirty="0">
                <a:solidFill>
                  <a:srgbClr val="2B2B2E"/>
                </a:solidFill>
                <a:latin typeface="Arial"/>
              </a:rPr>
              <a:t> ~2% </a:t>
            </a:r>
            <a:r>
              <a:rPr sz="628" b="0" i="0" dirty="0" err="1">
                <a:solidFill>
                  <a:srgbClr val="2B2B2E"/>
                </a:solidFill>
                <a:latin typeface="Arial"/>
              </a:rPr>
              <a:t>vốn</a:t>
            </a:r>
            <a:r>
              <a:rPr sz="628" b="0" i="0" dirty="0">
                <a:solidFill>
                  <a:srgbClr val="2B2B2E"/>
                </a:solidFill>
                <a:latin typeface="Arial"/>
              </a:rPr>
              <a:t> </a:t>
            </a:r>
            <a:r>
              <a:rPr sz="628" b="0" i="0" dirty="0" err="1">
                <a:solidFill>
                  <a:srgbClr val="2B2B2E"/>
                </a:solidFill>
                <a:latin typeface="Arial"/>
              </a:rPr>
              <a:t>được</a:t>
            </a:r>
            <a:r>
              <a:rPr sz="628" b="0" i="0" dirty="0">
                <a:solidFill>
                  <a:srgbClr val="2B2B2E"/>
                </a:solidFill>
                <a:latin typeface="Arial"/>
              </a:rPr>
              <a:t> </a:t>
            </a:r>
            <a:r>
              <a:rPr sz="628" b="0" i="0" dirty="0" err="1">
                <a:solidFill>
                  <a:srgbClr val="2B2B2E"/>
                </a:solidFill>
                <a:latin typeface="Arial"/>
              </a:rPr>
              <a:t>bố</a:t>
            </a:r>
            <a:r>
              <a:rPr sz="628" b="0" i="0" dirty="0">
                <a:solidFill>
                  <a:srgbClr val="2B2B2E"/>
                </a:solidFill>
                <a:latin typeface="Arial"/>
              </a:rPr>
              <a:t> </a:t>
            </a:r>
            <a:r>
              <a:rPr sz="628" b="0" i="0" dirty="0" err="1">
                <a:solidFill>
                  <a:srgbClr val="2B2B2E"/>
                </a:solidFill>
                <a:latin typeface="Arial"/>
              </a:rPr>
              <a:t>trí</a:t>
            </a:r>
            <a:r>
              <a:rPr sz="628" b="0" i="0" dirty="0">
                <a:solidFill>
                  <a:srgbClr val="2B2B2E"/>
                </a:solidFill>
                <a:latin typeface="Arial"/>
              </a:rPr>
              <a:t> (VIR, 1H/2026). (3) </a:t>
            </a:r>
            <a:r>
              <a:rPr sz="628" b="1" i="0" dirty="0" err="1">
                <a:solidFill>
                  <a:srgbClr val="3A3A3E"/>
                </a:solidFill>
                <a:latin typeface="Arial"/>
              </a:rPr>
              <a:t>Vật</a:t>
            </a:r>
            <a:r>
              <a:rPr sz="628" b="1" i="0" dirty="0">
                <a:solidFill>
                  <a:srgbClr val="3A3A3E"/>
                </a:solidFill>
                <a:latin typeface="Arial"/>
              </a:rPr>
              <a:t> </a:t>
            </a:r>
            <a:r>
              <a:rPr sz="628" b="1" i="0" dirty="0" err="1">
                <a:solidFill>
                  <a:srgbClr val="3A3A3E"/>
                </a:solidFill>
                <a:latin typeface="Arial"/>
              </a:rPr>
              <a:t>liệu</a:t>
            </a:r>
            <a:r>
              <a:rPr sz="628" b="0" i="0" dirty="0">
                <a:solidFill>
                  <a:srgbClr val="2B2B2E"/>
                </a:solidFill>
                <a:latin typeface="Arial"/>
              </a:rPr>
              <a:t> </a:t>
            </a:r>
            <a:r>
              <a:rPr sz="628" b="0" i="0" dirty="0" err="1">
                <a:solidFill>
                  <a:srgbClr val="2B2B2E"/>
                </a:solidFill>
                <a:latin typeface="Arial"/>
              </a:rPr>
              <a:t>thiếu</a:t>
            </a:r>
            <a:r>
              <a:rPr sz="628" b="0" i="0" dirty="0">
                <a:solidFill>
                  <a:srgbClr val="2B2B2E"/>
                </a:solidFill>
                <a:latin typeface="Arial"/>
              </a:rPr>
              <a:t> </a:t>
            </a:r>
            <a:r>
              <a:rPr sz="628" b="0" i="0" dirty="0" err="1">
                <a:solidFill>
                  <a:srgbClr val="2B2B2E"/>
                </a:solidFill>
                <a:latin typeface="Arial"/>
              </a:rPr>
              <a:t>cung</a:t>
            </a:r>
            <a:r>
              <a:rPr sz="628" b="0" i="0" dirty="0">
                <a:solidFill>
                  <a:srgbClr val="2B2B2E"/>
                </a:solidFill>
                <a:latin typeface="Arial"/>
              </a:rPr>
              <a:t> (</a:t>
            </a:r>
            <a:r>
              <a:rPr sz="628" b="0" i="0" dirty="0" err="1">
                <a:solidFill>
                  <a:srgbClr val="2B2B2E"/>
                </a:solidFill>
                <a:latin typeface="Arial"/>
              </a:rPr>
              <a:t>đá</a:t>
            </a:r>
            <a:r>
              <a:rPr sz="628" b="0" i="0" dirty="0">
                <a:solidFill>
                  <a:srgbClr val="2B2B2E"/>
                </a:solidFill>
                <a:latin typeface="Arial"/>
              </a:rPr>
              <a:t>, </a:t>
            </a:r>
            <a:r>
              <a:rPr sz="628" b="0" i="0" dirty="0" err="1">
                <a:solidFill>
                  <a:srgbClr val="2B2B2E"/>
                </a:solidFill>
                <a:latin typeface="Arial"/>
              </a:rPr>
              <a:t>cát</a:t>
            </a:r>
            <a:r>
              <a:rPr sz="628" b="0" i="0" dirty="0">
                <a:solidFill>
                  <a:srgbClr val="2B2B2E"/>
                </a:solidFill>
                <a:latin typeface="Arial"/>
              </a:rPr>
              <a:t>) </a:t>
            </a:r>
            <a:r>
              <a:rPr sz="628" b="0" i="0" dirty="0" err="1">
                <a:solidFill>
                  <a:srgbClr val="2B2B2E"/>
                </a:solidFill>
                <a:latin typeface="Arial"/>
              </a:rPr>
              <a:t>và</a:t>
            </a:r>
            <a:r>
              <a:rPr sz="628" b="0" i="0" dirty="0">
                <a:solidFill>
                  <a:srgbClr val="2B2B2E"/>
                </a:solidFill>
                <a:latin typeface="Arial"/>
              </a:rPr>
              <a:t> </a:t>
            </a:r>
            <a:r>
              <a:rPr sz="628" b="0" i="0" dirty="0" err="1">
                <a:solidFill>
                  <a:srgbClr val="2B2B2E"/>
                </a:solidFill>
                <a:latin typeface="Arial"/>
              </a:rPr>
              <a:t>giá</a:t>
            </a:r>
            <a:r>
              <a:rPr sz="628" b="0" i="0" dirty="0">
                <a:solidFill>
                  <a:srgbClr val="2B2B2E"/>
                </a:solidFill>
                <a:latin typeface="Arial"/>
              </a:rPr>
              <a:t> </a:t>
            </a:r>
            <a:r>
              <a:rPr sz="628" b="0" i="0" dirty="0" err="1">
                <a:solidFill>
                  <a:srgbClr val="2B2B2E"/>
                </a:solidFill>
                <a:latin typeface="Arial"/>
              </a:rPr>
              <a:t>tăng</a:t>
            </a:r>
            <a:r>
              <a:rPr sz="628" b="0" i="0" dirty="0">
                <a:solidFill>
                  <a:srgbClr val="2B2B2E"/>
                </a:solidFill>
                <a:latin typeface="Arial"/>
              </a:rPr>
              <a:t> 20</a:t>
            </a:r>
            <a:r>
              <a:rPr lang="en-US" sz="628" b="0" i="0" dirty="0">
                <a:solidFill>
                  <a:srgbClr val="2B2B2E"/>
                </a:solidFill>
                <a:latin typeface="Arial"/>
              </a:rPr>
              <a:t>-</a:t>
            </a:r>
            <a:r>
              <a:rPr sz="628" b="0" i="0" dirty="0">
                <a:solidFill>
                  <a:srgbClr val="2B2B2E"/>
                </a:solidFill>
                <a:latin typeface="Arial"/>
              </a:rPr>
              <a:t>32%. Hai </a:t>
            </a:r>
            <a:r>
              <a:rPr sz="628" b="0" i="0" dirty="0" err="1">
                <a:solidFill>
                  <a:srgbClr val="2B2B2E"/>
                </a:solidFill>
                <a:latin typeface="Arial"/>
              </a:rPr>
              <a:t>mã</a:t>
            </a:r>
            <a:r>
              <a:rPr sz="628" b="0" i="0" dirty="0">
                <a:solidFill>
                  <a:srgbClr val="2B2B2E"/>
                </a:solidFill>
                <a:latin typeface="Arial"/>
              </a:rPr>
              <a:t> </a:t>
            </a:r>
            <a:r>
              <a:rPr sz="628" b="0" i="0" dirty="0" err="1">
                <a:solidFill>
                  <a:srgbClr val="2B2B2E"/>
                </a:solidFill>
                <a:latin typeface="Arial"/>
              </a:rPr>
              <a:t>hưởng</a:t>
            </a:r>
            <a:r>
              <a:rPr sz="628" b="0" i="0" dirty="0">
                <a:solidFill>
                  <a:srgbClr val="2B2B2E"/>
                </a:solidFill>
                <a:latin typeface="Arial"/>
              </a:rPr>
              <a:t> </a:t>
            </a:r>
            <a:r>
              <a:rPr sz="628" b="0" i="0" dirty="0" err="1">
                <a:solidFill>
                  <a:srgbClr val="2B2B2E"/>
                </a:solidFill>
                <a:latin typeface="Arial"/>
              </a:rPr>
              <a:t>lợi</a:t>
            </a:r>
            <a:r>
              <a:rPr sz="628" b="0" i="0" dirty="0">
                <a:solidFill>
                  <a:srgbClr val="2B2B2E"/>
                </a:solidFill>
                <a:latin typeface="Arial"/>
              </a:rPr>
              <a:t> </a:t>
            </a:r>
            <a:r>
              <a:rPr sz="628" b="0" i="0" dirty="0" err="1">
                <a:solidFill>
                  <a:srgbClr val="2B2B2E"/>
                </a:solidFill>
                <a:latin typeface="Arial"/>
              </a:rPr>
              <a:t>rõ</a:t>
            </a:r>
            <a:r>
              <a:rPr sz="628" b="0" i="0" dirty="0">
                <a:solidFill>
                  <a:srgbClr val="2B2B2E"/>
                </a:solidFill>
                <a:latin typeface="Arial"/>
              </a:rPr>
              <a:t> </a:t>
            </a:r>
            <a:r>
              <a:rPr sz="628" b="0" i="0" dirty="0" err="1">
                <a:solidFill>
                  <a:srgbClr val="2B2B2E"/>
                </a:solidFill>
                <a:latin typeface="Arial"/>
              </a:rPr>
              <a:t>nhất</a:t>
            </a:r>
            <a:r>
              <a:rPr sz="628" b="0" i="0" dirty="0">
                <a:solidFill>
                  <a:srgbClr val="2B2B2E"/>
                </a:solidFill>
                <a:latin typeface="Arial"/>
              </a:rPr>
              <a:t> </a:t>
            </a:r>
            <a:r>
              <a:rPr sz="628" b="0" i="0" dirty="0" err="1">
                <a:solidFill>
                  <a:srgbClr val="2B2B2E"/>
                </a:solidFill>
                <a:latin typeface="Arial"/>
              </a:rPr>
              <a:t>và</a:t>
            </a:r>
            <a:r>
              <a:rPr sz="628" b="0" i="0" dirty="0">
                <a:solidFill>
                  <a:srgbClr val="2B2B2E"/>
                </a:solidFill>
                <a:latin typeface="Arial"/>
              </a:rPr>
              <a:t> </a:t>
            </a:r>
            <a:r>
              <a:rPr sz="628" b="0" i="0" dirty="0" err="1">
                <a:solidFill>
                  <a:srgbClr val="2B2B2E"/>
                </a:solidFill>
                <a:latin typeface="Arial"/>
              </a:rPr>
              <a:t>có</a:t>
            </a:r>
            <a:r>
              <a:rPr sz="628" b="0" i="0" dirty="0">
                <a:solidFill>
                  <a:srgbClr val="2B2B2E"/>
                </a:solidFill>
                <a:latin typeface="Arial"/>
              </a:rPr>
              <a:t> </a:t>
            </a:r>
            <a:r>
              <a:rPr sz="628" b="0" i="0" dirty="0" err="1">
                <a:solidFill>
                  <a:srgbClr val="2B2B2E"/>
                </a:solidFill>
                <a:latin typeface="Arial"/>
              </a:rPr>
              <a:t>trong</a:t>
            </a:r>
            <a:r>
              <a:rPr sz="628" b="0" i="0" dirty="0">
                <a:solidFill>
                  <a:srgbClr val="2B2B2E"/>
                </a:solidFill>
                <a:latin typeface="Arial"/>
              </a:rPr>
              <a:t> </a:t>
            </a:r>
            <a:r>
              <a:rPr sz="628" b="0" i="0" dirty="0" err="1">
                <a:solidFill>
                  <a:srgbClr val="2B2B2E"/>
                </a:solidFill>
                <a:latin typeface="Arial"/>
              </a:rPr>
              <a:t>danh</a:t>
            </a:r>
            <a:r>
              <a:rPr sz="628" b="0" i="0" dirty="0">
                <a:solidFill>
                  <a:srgbClr val="2B2B2E"/>
                </a:solidFill>
                <a:latin typeface="Arial"/>
              </a:rPr>
              <a:t> </a:t>
            </a:r>
            <a:r>
              <a:rPr sz="628" b="0" i="0" dirty="0" err="1">
                <a:solidFill>
                  <a:srgbClr val="2B2B2E"/>
                </a:solidFill>
                <a:latin typeface="Arial"/>
              </a:rPr>
              <a:t>mục</a:t>
            </a:r>
            <a:r>
              <a:rPr sz="628" b="0" i="0" dirty="0">
                <a:solidFill>
                  <a:srgbClr val="2B2B2E"/>
                </a:solidFill>
                <a:latin typeface="Arial"/>
              </a:rPr>
              <a:t>: </a:t>
            </a:r>
            <a:r>
              <a:rPr sz="628" b="1" i="0" dirty="0">
                <a:solidFill>
                  <a:srgbClr val="3A3A3E"/>
                </a:solidFill>
                <a:latin typeface="Arial"/>
              </a:rPr>
              <a:t>CTD</a:t>
            </a:r>
            <a:r>
              <a:rPr sz="628" b="0" i="0" dirty="0">
                <a:solidFill>
                  <a:srgbClr val="2B2B2E"/>
                </a:solidFill>
                <a:latin typeface="Arial"/>
              </a:rPr>
              <a:t> (</a:t>
            </a:r>
            <a:r>
              <a:rPr sz="628" b="0" i="0" dirty="0" err="1">
                <a:solidFill>
                  <a:srgbClr val="2B2B2E"/>
                </a:solidFill>
                <a:latin typeface="Arial"/>
              </a:rPr>
              <a:t>nhà</a:t>
            </a:r>
            <a:r>
              <a:rPr sz="628" b="0" i="0" dirty="0">
                <a:solidFill>
                  <a:srgbClr val="2B2B2E"/>
                </a:solidFill>
                <a:latin typeface="Arial"/>
              </a:rPr>
              <a:t> </a:t>
            </a:r>
            <a:r>
              <a:rPr sz="628" b="0" i="0" dirty="0" err="1">
                <a:solidFill>
                  <a:srgbClr val="2B2B2E"/>
                </a:solidFill>
                <a:latin typeface="Arial"/>
              </a:rPr>
              <a:t>thầu</a:t>
            </a:r>
            <a:r>
              <a:rPr sz="628" b="0" i="0" dirty="0">
                <a:solidFill>
                  <a:srgbClr val="2B2B2E"/>
                </a:solidFill>
                <a:latin typeface="Arial"/>
              </a:rPr>
              <a:t> FDI </a:t>
            </a:r>
            <a:r>
              <a:rPr sz="628" b="0" i="0" dirty="0" err="1">
                <a:solidFill>
                  <a:srgbClr val="2B2B2E"/>
                </a:solidFill>
                <a:latin typeface="Arial"/>
              </a:rPr>
              <a:t>và</a:t>
            </a:r>
            <a:r>
              <a:rPr sz="628" b="0" i="0" dirty="0">
                <a:solidFill>
                  <a:srgbClr val="2B2B2E"/>
                </a:solidFill>
                <a:latin typeface="Arial"/>
              </a:rPr>
              <a:t> </a:t>
            </a:r>
            <a:r>
              <a:rPr sz="628" b="0" i="0" dirty="0" err="1">
                <a:solidFill>
                  <a:srgbClr val="2B2B2E"/>
                </a:solidFill>
                <a:latin typeface="Arial"/>
              </a:rPr>
              <a:t>dự</a:t>
            </a:r>
            <a:r>
              <a:rPr sz="628" b="0" i="0" dirty="0">
                <a:solidFill>
                  <a:srgbClr val="2B2B2E"/>
                </a:solidFill>
                <a:latin typeface="Arial"/>
              </a:rPr>
              <a:t> </a:t>
            </a:r>
            <a:r>
              <a:rPr sz="628" b="0" i="0" dirty="0" err="1">
                <a:solidFill>
                  <a:srgbClr val="2B2B2E"/>
                </a:solidFill>
                <a:latin typeface="Arial"/>
              </a:rPr>
              <a:t>án</a:t>
            </a:r>
            <a:r>
              <a:rPr sz="628" b="0" i="0" dirty="0">
                <a:solidFill>
                  <a:srgbClr val="2B2B2E"/>
                </a:solidFill>
                <a:latin typeface="Arial"/>
              </a:rPr>
              <a:t> </a:t>
            </a:r>
            <a:r>
              <a:rPr sz="628" b="0" i="0" dirty="0" err="1">
                <a:solidFill>
                  <a:srgbClr val="2B2B2E"/>
                </a:solidFill>
                <a:latin typeface="Arial"/>
              </a:rPr>
              <a:t>phức</a:t>
            </a:r>
            <a:r>
              <a:rPr sz="628" b="0" i="0" dirty="0">
                <a:solidFill>
                  <a:srgbClr val="2B2B2E"/>
                </a:solidFill>
                <a:latin typeface="Arial"/>
              </a:rPr>
              <a:t> </a:t>
            </a:r>
            <a:r>
              <a:rPr sz="628" b="0" i="0" dirty="0" err="1">
                <a:solidFill>
                  <a:srgbClr val="2B2B2E"/>
                </a:solidFill>
                <a:latin typeface="Arial"/>
              </a:rPr>
              <a:t>tạp</a:t>
            </a:r>
            <a:r>
              <a:rPr sz="628" b="0" i="0" dirty="0">
                <a:solidFill>
                  <a:srgbClr val="2B2B2E"/>
                </a:solidFill>
                <a:latin typeface="Arial"/>
              </a:rPr>
              <a:t>) </a:t>
            </a:r>
            <a:r>
              <a:rPr sz="628" b="0" i="0" dirty="0" err="1">
                <a:solidFill>
                  <a:srgbClr val="2B2B2E"/>
                </a:solidFill>
                <a:latin typeface="Arial"/>
              </a:rPr>
              <a:t>và</a:t>
            </a:r>
            <a:r>
              <a:rPr sz="628" b="0" i="0" dirty="0">
                <a:solidFill>
                  <a:srgbClr val="2B2B2E"/>
                </a:solidFill>
                <a:latin typeface="Arial"/>
              </a:rPr>
              <a:t> </a:t>
            </a:r>
            <a:r>
              <a:rPr sz="628" b="1" i="0" dirty="0">
                <a:solidFill>
                  <a:srgbClr val="3A3A3E"/>
                </a:solidFill>
                <a:latin typeface="Arial"/>
              </a:rPr>
              <a:t>HPG</a:t>
            </a:r>
            <a:r>
              <a:rPr sz="628" b="0" i="0" dirty="0">
                <a:solidFill>
                  <a:srgbClr val="2B2B2E"/>
                </a:solidFill>
                <a:latin typeface="Arial"/>
              </a:rPr>
              <a:t> (</a:t>
            </a:r>
            <a:r>
              <a:rPr sz="628" b="0" i="0" dirty="0" err="1">
                <a:solidFill>
                  <a:srgbClr val="2B2B2E"/>
                </a:solidFill>
                <a:latin typeface="Arial"/>
              </a:rPr>
              <a:t>thép</a:t>
            </a:r>
            <a:r>
              <a:rPr sz="628" b="0" i="0" dirty="0">
                <a:solidFill>
                  <a:srgbClr val="2B2B2E"/>
                </a:solidFill>
                <a:latin typeface="Arial"/>
              </a:rPr>
              <a:t> </a:t>
            </a:r>
            <a:r>
              <a:rPr sz="628" b="0" i="0" dirty="0" err="1">
                <a:solidFill>
                  <a:srgbClr val="2B2B2E"/>
                </a:solidFill>
                <a:latin typeface="Arial"/>
              </a:rPr>
              <a:t>đầu</a:t>
            </a:r>
            <a:r>
              <a:rPr sz="628" b="0" i="0" dirty="0">
                <a:solidFill>
                  <a:srgbClr val="2B2B2E"/>
                </a:solidFill>
                <a:latin typeface="Arial"/>
              </a:rPr>
              <a:t> </a:t>
            </a:r>
            <a:r>
              <a:rPr sz="628" b="0" i="0" dirty="0" err="1">
                <a:solidFill>
                  <a:srgbClr val="2B2B2E"/>
                </a:solidFill>
                <a:latin typeface="Arial"/>
              </a:rPr>
              <a:t>ngành</a:t>
            </a:r>
            <a:r>
              <a:rPr sz="628" b="0" i="0" dirty="0">
                <a:solidFill>
                  <a:srgbClr val="2B2B2E"/>
                </a:solidFill>
                <a:latin typeface="Arial"/>
              </a:rPr>
              <a:t>).</a:t>
            </a:r>
          </a:p>
        </p:txBody>
      </p:sp>
      <p:sp>
        <p:nvSpPr>
          <p:cNvPr id="9" name="TextBox 8"/>
          <p:cNvSpPr txBox="1"/>
          <p:nvPr/>
        </p:nvSpPr>
        <p:spPr>
          <a:xfrm>
            <a:off x="2451094" y="2888987"/>
            <a:ext cx="4949438" cy="234404"/>
          </a:xfrm>
          <a:prstGeom prst="rect">
            <a:avLst/>
          </a:prstGeom>
          <a:noFill/>
        </p:spPr>
        <p:txBody>
          <a:bodyPr wrap="square" lIns="0" tIns="0" rIns="0" bIns="0" anchor="t"/>
          <a:lstStyle/>
          <a:p>
            <a:pPr algn="l">
              <a:lnSpc>
                <a:spcPts val="877"/>
              </a:lnSpc>
              <a:spcBef>
                <a:spcPts val="0"/>
              </a:spcBef>
              <a:spcAft>
                <a:spcPts val="0"/>
              </a:spcAft>
            </a:pPr>
            <a:r>
              <a:rPr lang="en-US" sz="605" b="1" dirty="0">
                <a:solidFill>
                  <a:srgbClr val="C8102E"/>
                </a:solidFill>
                <a:latin typeface="Arial"/>
                <a:sym typeface="Wingdings" panose="05000000000000000000" pitchFamily="2" charset="2"/>
              </a:rPr>
              <a:t></a:t>
            </a:r>
            <a:r>
              <a:rPr sz="605" b="0" i="0" dirty="0">
                <a:solidFill>
                  <a:srgbClr val="2B2B2E"/>
                </a:solidFill>
                <a:latin typeface="Arial"/>
              </a:rPr>
              <a:t> </a:t>
            </a:r>
            <a:r>
              <a:rPr lang="en-US" sz="605" dirty="0" err="1">
                <a:solidFill>
                  <a:srgbClr val="2B2B2E"/>
                </a:solidFill>
                <a:latin typeface="Arial"/>
              </a:rPr>
              <a:t>N</a:t>
            </a:r>
            <a:r>
              <a:rPr sz="605" b="0" i="0" dirty="0" err="1">
                <a:solidFill>
                  <a:srgbClr val="2B2B2E"/>
                </a:solidFill>
                <a:latin typeface="Arial"/>
              </a:rPr>
              <a:t>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a:t>
            </a:r>
            <a:r>
              <a:rPr sz="605" b="0" i="0" dirty="0" err="1">
                <a:solidFill>
                  <a:srgbClr val="2B2B2E"/>
                </a:solidFill>
                <a:latin typeface="Arial"/>
              </a:rPr>
              <a:t>có</a:t>
            </a:r>
            <a:r>
              <a:rPr sz="605" b="0" i="0" dirty="0">
                <a:solidFill>
                  <a:srgbClr val="2B2B2E"/>
                </a:solidFill>
                <a:latin typeface="Arial"/>
              </a:rPr>
              <a:t> </a:t>
            </a:r>
            <a:r>
              <a:rPr sz="605" b="0" i="0" dirty="0" err="1">
                <a:solidFill>
                  <a:srgbClr val="2B2B2E"/>
                </a:solidFill>
                <a:latin typeface="Arial"/>
              </a:rPr>
              <a:t>hồ</a:t>
            </a:r>
            <a:r>
              <a:rPr sz="605" b="0" i="0" dirty="0">
                <a:solidFill>
                  <a:srgbClr val="2B2B2E"/>
                </a:solidFill>
                <a:latin typeface="Arial"/>
              </a:rPr>
              <a:t> </a:t>
            </a:r>
            <a:r>
              <a:rPr sz="605" b="0" i="0" dirty="0" err="1">
                <a:solidFill>
                  <a:srgbClr val="2B2B2E"/>
                </a:solidFill>
                <a:latin typeface="Arial"/>
              </a:rPr>
              <a:t>sơ</a:t>
            </a:r>
            <a:r>
              <a:rPr sz="605" b="0" i="0" dirty="0">
                <a:solidFill>
                  <a:srgbClr val="2B2B2E"/>
                </a:solidFill>
                <a:latin typeface="Arial"/>
              </a:rPr>
              <a:t> FDI </a:t>
            </a:r>
            <a:r>
              <a:rPr sz="605" b="0" i="0" dirty="0" err="1">
                <a:solidFill>
                  <a:srgbClr val="2B2B2E"/>
                </a:solidFill>
                <a:latin typeface="Arial"/>
              </a:rPr>
              <a:t>nhận</a:t>
            </a:r>
            <a:r>
              <a:rPr sz="605" b="0" i="0" dirty="0">
                <a:solidFill>
                  <a:srgbClr val="2B2B2E"/>
                </a:solidFill>
                <a:latin typeface="Arial"/>
              </a:rPr>
              <a:t> </a:t>
            </a:r>
            <a:r>
              <a:rPr sz="605" b="0" i="0" dirty="0" err="1">
                <a:solidFill>
                  <a:srgbClr val="2B2B2E"/>
                </a:solidFill>
                <a:latin typeface="Arial"/>
              </a:rPr>
              <a:t>việc</a:t>
            </a:r>
            <a:r>
              <a:rPr sz="605" b="0" i="0" dirty="0">
                <a:solidFill>
                  <a:srgbClr val="2B2B2E"/>
                </a:solidFill>
                <a:latin typeface="Arial"/>
              </a:rPr>
              <a:t> </a:t>
            </a:r>
            <a:r>
              <a:rPr sz="605" b="0" i="0" dirty="0" err="1">
                <a:solidFill>
                  <a:srgbClr val="2B2B2E"/>
                </a:solidFill>
                <a:latin typeface="Arial"/>
              </a:rPr>
              <a:t>trước</a:t>
            </a:r>
            <a:r>
              <a:rPr sz="605" b="0" i="0" dirty="0">
                <a:solidFill>
                  <a:srgbClr val="2B2B2E"/>
                </a:solidFill>
                <a:latin typeface="Arial"/>
              </a:rPr>
              <a:t> </a:t>
            </a:r>
            <a:r>
              <a:rPr sz="605" b="0" i="0" dirty="0" err="1">
                <a:solidFill>
                  <a:srgbClr val="2B2B2E"/>
                </a:solidFill>
                <a:latin typeface="Arial"/>
              </a:rPr>
              <a:t>khi</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tư</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a:t>
            </a:r>
            <a:r>
              <a:rPr sz="605" b="0" i="0" dirty="0" err="1">
                <a:solidFill>
                  <a:srgbClr val="2B2B2E"/>
                </a:solidFill>
                <a:latin typeface="Arial"/>
              </a:rPr>
              <a:t>tốc</a:t>
            </a:r>
            <a:r>
              <a:rPr sz="605" b="0" i="0" dirty="0">
                <a:solidFill>
                  <a:srgbClr val="2B2B2E"/>
                </a:solidFill>
                <a:latin typeface="Arial"/>
              </a:rPr>
              <a:t>, </a:t>
            </a:r>
            <a:r>
              <a:rPr sz="605" b="0" i="0" dirty="0" err="1">
                <a:solidFill>
                  <a:srgbClr val="2B2B2E"/>
                </a:solidFill>
                <a:latin typeface="Arial"/>
              </a:rPr>
              <a:t>vì</a:t>
            </a:r>
            <a:r>
              <a:rPr sz="605" b="0" i="0" dirty="0">
                <a:solidFill>
                  <a:srgbClr val="2B2B2E"/>
                </a:solidFill>
                <a:latin typeface="Arial"/>
              </a:rPr>
              <a:t> </a:t>
            </a:r>
            <a:r>
              <a:rPr sz="605" b="0" i="0" dirty="0" err="1">
                <a:solidFill>
                  <a:srgbClr val="2B2B2E"/>
                </a:solidFill>
                <a:latin typeface="Arial"/>
              </a:rPr>
              <a:t>khách</a:t>
            </a:r>
            <a:r>
              <a:rPr sz="605" b="0" i="0" dirty="0">
                <a:solidFill>
                  <a:srgbClr val="2B2B2E"/>
                </a:solidFill>
                <a:latin typeface="Arial"/>
              </a:rPr>
              <a:t> FDI </a:t>
            </a:r>
            <a:r>
              <a:rPr sz="605" b="0" i="0" dirty="0" err="1">
                <a:solidFill>
                  <a:srgbClr val="2B2B2E"/>
                </a:solidFill>
                <a:latin typeface="Arial"/>
              </a:rPr>
              <a:t>chọn</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a:t>
            </a:r>
            <a:r>
              <a:rPr sz="605" b="0" i="0" dirty="0" err="1">
                <a:solidFill>
                  <a:srgbClr val="2B2B2E"/>
                </a:solidFill>
                <a:latin typeface="Arial"/>
              </a:rPr>
              <a:t>theo</a:t>
            </a:r>
            <a:r>
              <a:rPr sz="605" b="0" i="0" dirty="0">
                <a:solidFill>
                  <a:srgbClr val="2B2B2E"/>
                </a:solidFill>
                <a:latin typeface="Arial"/>
              </a:rPr>
              <a:t> </a:t>
            </a:r>
            <a:r>
              <a:rPr sz="605" b="0" i="0" dirty="0" err="1">
                <a:solidFill>
                  <a:srgbClr val="2B2B2E"/>
                </a:solidFill>
                <a:latin typeface="Arial"/>
              </a:rPr>
              <a:t>uy</a:t>
            </a:r>
            <a:r>
              <a:rPr sz="605" b="0" i="0" dirty="0">
                <a:solidFill>
                  <a:srgbClr val="2B2B2E"/>
                </a:solidFill>
                <a:latin typeface="Arial"/>
              </a:rPr>
              <a:t> </a:t>
            </a:r>
            <a:r>
              <a:rPr sz="605" b="0" i="0" dirty="0" err="1">
                <a:solidFill>
                  <a:srgbClr val="2B2B2E"/>
                </a:solidFill>
                <a:latin typeface="Arial"/>
              </a:rPr>
              <a:t>tín</a:t>
            </a:r>
            <a:r>
              <a:rPr sz="605" b="0" i="0" dirty="0">
                <a:solidFill>
                  <a:srgbClr val="2B2B2E"/>
                </a:solidFill>
                <a:latin typeface="Arial"/>
              </a:rPr>
              <a:t>, an </a:t>
            </a:r>
            <a:r>
              <a:rPr sz="605" b="0" i="0" dirty="0" err="1">
                <a:solidFill>
                  <a:srgbClr val="2B2B2E"/>
                </a:solidFill>
                <a:latin typeface="Arial"/>
              </a:rPr>
              <a:t>toàn</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tiêu</a:t>
            </a:r>
            <a:r>
              <a:rPr sz="605" b="0" i="0" dirty="0">
                <a:solidFill>
                  <a:srgbClr val="2B2B2E"/>
                </a:solidFill>
                <a:latin typeface="Arial"/>
              </a:rPr>
              <a:t> </a:t>
            </a:r>
            <a:r>
              <a:rPr sz="605" b="0" i="0" dirty="0" err="1">
                <a:solidFill>
                  <a:srgbClr val="2B2B2E"/>
                </a:solidFill>
                <a:latin typeface="Arial"/>
              </a:rPr>
              <a:t>chuẩn</a:t>
            </a:r>
            <a:r>
              <a:rPr sz="605" b="0" i="0" dirty="0">
                <a:solidFill>
                  <a:srgbClr val="2B2B2E"/>
                </a:solidFill>
                <a:latin typeface="Arial"/>
              </a:rPr>
              <a:t> ESG </a:t>
            </a:r>
            <a:r>
              <a:rPr sz="605" b="0" i="0" dirty="0" err="1">
                <a:solidFill>
                  <a:srgbClr val="2B2B2E"/>
                </a:solidFill>
                <a:latin typeface="Arial"/>
              </a:rPr>
              <a:t>quốc</a:t>
            </a:r>
            <a:r>
              <a:rPr sz="605" b="0" i="0" dirty="0">
                <a:solidFill>
                  <a:srgbClr val="2B2B2E"/>
                </a:solidFill>
                <a:latin typeface="Arial"/>
              </a:rPr>
              <a:t> </a:t>
            </a:r>
            <a:r>
              <a:rPr sz="605" b="0" i="0" dirty="0" err="1">
                <a:solidFill>
                  <a:srgbClr val="2B2B2E"/>
                </a:solidFill>
                <a:latin typeface="Arial"/>
              </a:rPr>
              <a:t>tế</a:t>
            </a:r>
            <a:r>
              <a:rPr sz="605" b="0" i="0" dirty="0">
                <a:solidFill>
                  <a:srgbClr val="2B2B2E"/>
                </a:solidFill>
                <a:latin typeface="Arial"/>
              </a:rPr>
              <a:t> (</a:t>
            </a:r>
            <a:r>
              <a:rPr sz="605" b="0" i="0" dirty="0" err="1">
                <a:solidFill>
                  <a:srgbClr val="2B2B2E"/>
                </a:solidFill>
                <a:latin typeface="Arial"/>
              </a:rPr>
              <a:t>xem</a:t>
            </a:r>
            <a:r>
              <a:rPr sz="605" b="0" i="0" dirty="0">
                <a:solidFill>
                  <a:srgbClr val="2B2B2E"/>
                </a:solidFill>
                <a:latin typeface="Arial"/>
              </a:rPr>
              <a:t> </a:t>
            </a:r>
            <a:r>
              <a:rPr sz="605" b="0" i="0" dirty="0" err="1">
                <a:solidFill>
                  <a:srgbClr val="2B2B2E"/>
                </a:solidFill>
                <a:latin typeface="Arial"/>
              </a:rPr>
              <a:t>trang</a:t>
            </a:r>
            <a:r>
              <a:rPr sz="605" b="0" i="0" dirty="0">
                <a:solidFill>
                  <a:srgbClr val="2B2B2E"/>
                </a:solidFill>
                <a:latin typeface="Arial"/>
              </a:rPr>
              <a:t> 2).</a:t>
            </a:r>
          </a:p>
        </p:txBody>
      </p:sp>
      <p:sp>
        <p:nvSpPr>
          <p:cNvPr id="10" name="TextBox 9"/>
          <p:cNvSpPr txBox="1"/>
          <p:nvPr/>
        </p:nvSpPr>
        <p:spPr>
          <a:xfrm>
            <a:off x="230344" y="9577169"/>
            <a:ext cx="7170188" cy="126984"/>
          </a:xfrm>
          <a:prstGeom prst="rect">
            <a:avLst/>
          </a:prstGeom>
          <a:noFill/>
        </p:spPr>
        <p:txBody>
          <a:bodyPr wrap="square" lIns="0" tIns="0" rIns="0" bIns="0" anchor="t"/>
          <a:lstStyle/>
          <a:p>
            <a:pPr algn="l">
              <a:lnSpc>
                <a:spcPts val="907"/>
              </a:lnSpc>
              <a:spcBef>
                <a:spcPts val="0"/>
              </a:spcBef>
              <a:spcAft>
                <a:spcPts val="0"/>
              </a:spcAft>
            </a:pPr>
            <a:r>
              <a:rPr lang="en-US" sz="605" b="1" dirty="0">
                <a:solidFill>
                  <a:srgbClr val="3A3A3E"/>
                </a:solidFill>
                <a:latin typeface="Arial"/>
                <a:sym typeface="Wingdings" panose="05000000000000000000" pitchFamily="2" charset="2"/>
              </a:rPr>
              <a:t></a:t>
            </a:r>
            <a:r>
              <a:rPr lang="en-US" sz="605" dirty="0">
                <a:solidFill>
                  <a:srgbClr val="2B2B2E"/>
                </a:solidFill>
                <a:latin typeface="Arial"/>
                <a:sym typeface="Wingdings" panose="05000000000000000000" pitchFamily="2" charset="2"/>
              </a:rPr>
              <a:t> </a:t>
            </a:r>
            <a:r>
              <a:rPr lang="en-US" sz="605" dirty="0" err="1">
                <a:solidFill>
                  <a:srgbClr val="2B2B2E"/>
                </a:solidFill>
                <a:latin typeface="Arial"/>
                <a:sym typeface="Wingdings" panose="05000000000000000000" pitchFamily="2" charset="2"/>
              </a:rPr>
              <a:t>C</a:t>
            </a:r>
            <a:r>
              <a:rPr sz="605" b="0" i="0" dirty="0" err="1">
                <a:solidFill>
                  <a:srgbClr val="2B2B2E"/>
                </a:solidFill>
                <a:latin typeface="Arial"/>
              </a:rPr>
              <a:t>ầu</a:t>
            </a:r>
            <a:r>
              <a:rPr sz="605" b="0" i="0" dirty="0">
                <a:solidFill>
                  <a:srgbClr val="2B2B2E"/>
                </a:solidFill>
                <a:latin typeface="Arial"/>
              </a:rPr>
              <a:t> FDI + </a:t>
            </a:r>
            <a:r>
              <a:rPr sz="605" b="0" i="0" dirty="0" err="1">
                <a:solidFill>
                  <a:srgbClr val="2B2B2E"/>
                </a:solidFill>
                <a:latin typeface="Arial"/>
              </a:rPr>
              <a:t>cầu</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tư</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 </a:t>
            </a:r>
            <a:r>
              <a:rPr sz="605" b="0" i="0" dirty="0" err="1">
                <a:solidFill>
                  <a:srgbClr val="2B2B2E"/>
                </a:solidFill>
                <a:latin typeface="Arial"/>
              </a:rPr>
              <a:t>cung</a:t>
            </a:r>
            <a:r>
              <a:rPr sz="605" b="0" i="0" dirty="0">
                <a:solidFill>
                  <a:srgbClr val="2B2B2E"/>
                </a:solidFill>
                <a:latin typeface="Arial"/>
              </a:rPr>
              <a:t> </a:t>
            </a:r>
            <a:r>
              <a:rPr sz="605" b="0" i="0" dirty="0" err="1">
                <a:solidFill>
                  <a:srgbClr val="2B2B2E"/>
                </a:solidFill>
                <a:latin typeface="Arial"/>
              </a:rPr>
              <a:t>vật</a:t>
            </a:r>
            <a:r>
              <a:rPr sz="605" b="0" i="0" dirty="0">
                <a:solidFill>
                  <a:srgbClr val="2B2B2E"/>
                </a:solidFill>
                <a:latin typeface="Arial"/>
              </a:rPr>
              <a:t> </a:t>
            </a:r>
            <a:r>
              <a:rPr sz="605" b="0" i="0" dirty="0" err="1">
                <a:solidFill>
                  <a:srgbClr val="2B2B2E"/>
                </a:solidFill>
                <a:latin typeface="Arial"/>
              </a:rPr>
              <a:t>liệu</a:t>
            </a:r>
            <a:r>
              <a:rPr sz="605" b="0" i="0" dirty="0">
                <a:solidFill>
                  <a:srgbClr val="2B2B2E"/>
                </a:solidFill>
                <a:latin typeface="Arial"/>
              </a:rPr>
              <a:t> </a:t>
            </a:r>
            <a:r>
              <a:rPr sz="605" b="0" i="0" dirty="0" err="1">
                <a:solidFill>
                  <a:srgbClr val="2B2B2E"/>
                </a:solidFill>
                <a:latin typeface="Arial"/>
              </a:rPr>
              <a:t>thiếu</a:t>
            </a:r>
            <a:r>
              <a:rPr sz="605" b="0" i="0" dirty="0">
                <a:solidFill>
                  <a:srgbClr val="2B2B2E"/>
                </a:solidFill>
                <a:latin typeface="Arial"/>
              </a:rPr>
              <a:t> → </a:t>
            </a:r>
            <a:r>
              <a:rPr sz="605" b="0" i="0" dirty="0" err="1">
                <a:solidFill>
                  <a:srgbClr val="2B2B2E"/>
                </a:solidFill>
                <a:latin typeface="Arial"/>
              </a:rPr>
              <a:t>một</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a:t>
            </a:r>
            <a:r>
              <a:rPr sz="605" b="0" i="0" dirty="0" err="1">
                <a:solidFill>
                  <a:srgbClr val="2B2B2E"/>
                </a:solidFill>
                <a:latin typeface="Arial"/>
              </a:rPr>
              <a:t>có</a:t>
            </a:r>
            <a:r>
              <a:rPr sz="605" b="0" i="0" dirty="0">
                <a:solidFill>
                  <a:srgbClr val="2B2B2E"/>
                </a:solidFill>
                <a:latin typeface="Arial"/>
              </a:rPr>
              <a:t> </a:t>
            </a:r>
            <a:r>
              <a:rPr sz="605" b="0" i="0" dirty="0" err="1">
                <a:solidFill>
                  <a:srgbClr val="2B2B2E"/>
                </a:solidFill>
                <a:latin typeface="Arial"/>
              </a:rPr>
              <a:t>hồ</a:t>
            </a:r>
            <a:r>
              <a:rPr sz="605" b="0" i="0" dirty="0">
                <a:solidFill>
                  <a:srgbClr val="2B2B2E"/>
                </a:solidFill>
                <a:latin typeface="Arial"/>
              </a:rPr>
              <a:t> </a:t>
            </a:r>
            <a:r>
              <a:rPr sz="605" b="0" i="0" dirty="0" err="1">
                <a:solidFill>
                  <a:srgbClr val="2B2B2E"/>
                </a:solidFill>
                <a:latin typeface="Arial"/>
              </a:rPr>
              <a:t>sơ</a:t>
            </a:r>
            <a:r>
              <a:rPr sz="605" b="0" i="0" dirty="0">
                <a:solidFill>
                  <a:srgbClr val="2B2B2E"/>
                </a:solidFill>
                <a:latin typeface="Arial"/>
              </a:rPr>
              <a:t> FDI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năng</a:t>
            </a:r>
            <a:r>
              <a:rPr sz="605" b="0" i="0" dirty="0">
                <a:solidFill>
                  <a:srgbClr val="2B2B2E"/>
                </a:solidFill>
                <a:latin typeface="Arial"/>
              </a:rPr>
              <a:t> </a:t>
            </a:r>
            <a:r>
              <a:rPr sz="605" b="0" i="0" dirty="0" err="1">
                <a:solidFill>
                  <a:srgbClr val="2B2B2E"/>
                </a:solidFill>
                <a:latin typeface="Arial"/>
              </a:rPr>
              <a:t>lực</a:t>
            </a:r>
            <a:r>
              <a:rPr sz="605" b="0" i="0" dirty="0">
                <a:solidFill>
                  <a:srgbClr val="2B2B2E"/>
                </a:solidFill>
                <a:latin typeface="Arial"/>
              </a:rPr>
              <a:t> </a:t>
            </a:r>
            <a:r>
              <a:rPr sz="605" b="0" i="0" dirty="0" err="1">
                <a:solidFill>
                  <a:srgbClr val="2B2B2E"/>
                </a:solidFill>
                <a:latin typeface="Arial"/>
              </a:rPr>
              <a:t>dự</a:t>
            </a:r>
            <a:r>
              <a:rPr sz="605" b="0" i="0" dirty="0">
                <a:solidFill>
                  <a:srgbClr val="2B2B2E"/>
                </a:solidFill>
                <a:latin typeface="Arial"/>
              </a:rPr>
              <a:t> </a:t>
            </a:r>
            <a:r>
              <a:rPr sz="605" b="0" i="0" dirty="0" err="1">
                <a:solidFill>
                  <a:srgbClr val="2B2B2E"/>
                </a:solidFill>
                <a:latin typeface="Arial"/>
              </a:rPr>
              <a:t>án</a:t>
            </a:r>
            <a:r>
              <a:rPr sz="605" b="0" i="0" dirty="0">
                <a:solidFill>
                  <a:srgbClr val="2B2B2E"/>
                </a:solidFill>
                <a:latin typeface="Arial"/>
              </a:rPr>
              <a:t> </a:t>
            </a:r>
            <a:r>
              <a:rPr sz="605" b="0" i="0" dirty="0" err="1">
                <a:solidFill>
                  <a:srgbClr val="2B2B2E"/>
                </a:solidFill>
                <a:latin typeface="Arial"/>
              </a:rPr>
              <a:t>phức</a:t>
            </a:r>
            <a:r>
              <a:rPr sz="605" b="0" i="0" dirty="0">
                <a:solidFill>
                  <a:srgbClr val="2B2B2E"/>
                </a:solidFill>
                <a:latin typeface="Arial"/>
              </a:rPr>
              <a:t> </a:t>
            </a:r>
            <a:r>
              <a:rPr sz="605" b="0" i="0" dirty="0" err="1">
                <a:solidFill>
                  <a:srgbClr val="2B2B2E"/>
                </a:solidFill>
                <a:latin typeface="Arial"/>
              </a:rPr>
              <a:t>tạp</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một</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sản</a:t>
            </a:r>
            <a:r>
              <a:rPr sz="605" b="0" i="0" dirty="0">
                <a:solidFill>
                  <a:srgbClr val="2B2B2E"/>
                </a:solidFill>
                <a:latin typeface="Arial"/>
              </a:rPr>
              <a:t> </a:t>
            </a:r>
            <a:r>
              <a:rPr sz="605" b="0" i="0" dirty="0" err="1">
                <a:solidFill>
                  <a:srgbClr val="2B2B2E"/>
                </a:solidFill>
                <a:latin typeface="Arial"/>
              </a:rPr>
              <a:t>xuất</a:t>
            </a:r>
            <a:r>
              <a:rPr sz="605" b="0" i="0" dirty="0">
                <a:solidFill>
                  <a:srgbClr val="2B2B2E"/>
                </a:solidFill>
                <a:latin typeface="Arial"/>
              </a:rPr>
              <a:t> </a:t>
            </a:r>
            <a:r>
              <a:rPr sz="605" b="0" i="0" dirty="0" err="1">
                <a:solidFill>
                  <a:srgbClr val="2B2B2E"/>
                </a:solidFill>
                <a:latin typeface="Arial"/>
              </a:rPr>
              <a:t>thép</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ngành</a:t>
            </a:r>
            <a:r>
              <a:rPr sz="605" b="0" i="0" dirty="0">
                <a:solidFill>
                  <a:srgbClr val="2B2B2E"/>
                </a:solidFill>
                <a:latin typeface="Arial"/>
              </a:rPr>
              <a:t>.</a:t>
            </a:r>
          </a:p>
        </p:txBody>
      </p:sp>
      <p:sp>
        <p:nvSpPr>
          <p:cNvPr id="11" name="TextBox 10"/>
          <p:cNvSpPr txBox="1"/>
          <p:nvPr/>
        </p:nvSpPr>
        <p:spPr>
          <a:xfrm>
            <a:off x="230344" y="9710060"/>
            <a:ext cx="7170188" cy="242156"/>
          </a:xfrm>
          <a:prstGeom prst="rect">
            <a:avLst/>
          </a:prstGeom>
          <a:noFill/>
        </p:spPr>
        <p:txBody>
          <a:bodyPr wrap="square" lIns="0" tIns="0" rIns="0" bIns="0" anchor="t"/>
          <a:lstStyle/>
          <a:p>
            <a:pPr algn="l">
              <a:lnSpc>
                <a:spcPts val="907"/>
              </a:lnSpc>
              <a:spcBef>
                <a:spcPts val="0"/>
              </a:spcBef>
              <a:spcAft>
                <a:spcPts val="0"/>
              </a:spcAft>
            </a:pPr>
            <a:r>
              <a:rPr sz="605" b="1" i="0">
                <a:solidFill>
                  <a:srgbClr val="C8102E"/>
                </a:solidFill>
                <a:latin typeface="Arial"/>
              </a:rPr>
              <a:t>CTD</a:t>
            </a:r>
            <a:r>
              <a:rPr sz="605" b="0" i="0">
                <a:solidFill>
                  <a:srgbClr val="2B2B2E"/>
                </a:solidFill>
                <a:latin typeface="Arial"/>
              </a:rPr>
              <a:t> · nhà thầu: FDI ~50% doanh thu, backlog 70,000 tỷ (2.04x doanh thu), tiền ròng 1,880 tỷ, tập trung dự án phức tạp, quy mô lớn, biên cao hơn. </a:t>
            </a:r>
            <a:r>
              <a:rPr sz="605" b="1" i="0">
                <a:solidFill>
                  <a:srgbClr val="3A3A3E"/>
                </a:solidFill>
                <a:latin typeface="Arial"/>
              </a:rPr>
              <a:t>MUA, giá mục tiêu 83,500 đồng (+41%)</a:t>
            </a:r>
            <a:r>
              <a:rPr sz="605" b="0" i="0">
                <a:solidFill>
                  <a:srgbClr val="2B2B2E"/>
                </a:solidFill>
                <a:latin typeface="Arial"/>
              </a:rPr>
              <a:t>, phân tích ở trang 2.</a:t>
            </a:r>
          </a:p>
        </p:txBody>
      </p:sp>
      <p:sp>
        <p:nvSpPr>
          <p:cNvPr id="12" name="TextBox 11"/>
          <p:cNvSpPr txBox="1"/>
          <p:nvPr/>
        </p:nvSpPr>
        <p:spPr>
          <a:xfrm>
            <a:off x="230344" y="9958122"/>
            <a:ext cx="7170188" cy="242156"/>
          </a:xfrm>
          <a:prstGeom prst="rect">
            <a:avLst/>
          </a:prstGeom>
          <a:noFill/>
        </p:spPr>
        <p:txBody>
          <a:bodyPr wrap="square" lIns="0" tIns="0" rIns="0" bIns="0" anchor="t"/>
          <a:lstStyle/>
          <a:p>
            <a:pPr algn="l">
              <a:lnSpc>
                <a:spcPts val="907"/>
              </a:lnSpc>
              <a:spcBef>
                <a:spcPts val="0"/>
              </a:spcBef>
              <a:spcAft>
                <a:spcPts val="0"/>
              </a:spcAft>
            </a:pPr>
            <a:r>
              <a:rPr sz="605" b="1" i="0" dirty="0">
                <a:solidFill>
                  <a:srgbClr val="C8102E"/>
                </a:solidFill>
                <a:latin typeface="Arial"/>
              </a:rPr>
              <a:t>HPG</a:t>
            </a:r>
            <a:r>
              <a:rPr sz="605" b="0" i="0" dirty="0">
                <a:solidFill>
                  <a:srgbClr val="2B2B2E"/>
                </a:solidFill>
                <a:latin typeface="Arial"/>
              </a:rPr>
              <a:t> · </a:t>
            </a:r>
            <a:r>
              <a:rPr sz="605" b="0" i="0" dirty="0" err="1">
                <a:solidFill>
                  <a:srgbClr val="2B2B2E"/>
                </a:solidFill>
                <a:latin typeface="Arial"/>
              </a:rPr>
              <a:t>vật</a:t>
            </a:r>
            <a:r>
              <a:rPr sz="605" b="0" i="0" dirty="0">
                <a:solidFill>
                  <a:srgbClr val="2B2B2E"/>
                </a:solidFill>
                <a:latin typeface="Arial"/>
              </a:rPr>
              <a:t> </a:t>
            </a:r>
            <a:r>
              <a:rPr sz="605" b="0" i="0" dirty="0" err="1">
                <a:solidFill>
                  <a:srgbClr val="2B2B2E"/>
                </a:solidFill>
                <a:latin typeface="Arial"/>
              </a:rPr>
              <a:t>liệu</a:t>
            </a:r>
            <a:r>
              <a:rPr sz="605" b="0" i="0" dirty="0">
                <a:solidFill>
                  <a:srgbClr val="2B2B2E"/>
                </a:solidFill>
                <a:latin typeface="Arial"/>
              </a:rPr>
              <a:t>: </a:t>
            </a:r>
            <a:r>
              <a:rPr sz="605" b="0" i="0" dirty="0" err="1">
                <a:solidFill>
                  <a:srgbClr val="2B2B2E"/>
                </a:solidFill>
                <a:latin typeface="Arial"/>
              </a:rPr>
              <a:t>dẫn</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thép</a:t>
            </a:r>
            <a:r>
              <a:rPr sz="605" b="0" i="0" dirty="0">
                <a:solidFill>
                  <a:srgbClr val="2B2B2E"/>
                </a:solidFill>
                <a:latin typeface="Arial"/>
              </a:rPr>
              <a:t> </a:t>
            </a:r>
            <a:r>
              <a:rPr sz="605" b="0" i="0" dirty="0" err="1">
                <a:solidFill>
                  <a:srgbClr val="2B2B2E"/>
                </a:solidFill>
                <a:latin typeface="Arial"/>
              </a:rPr>
              <a:t>xây</a:t>
            </a:r>
            <a:r>
              <a:rPr sz="605" b="0" i="0" dirty="0">
                <a:solidFill>
                  <a:srgbClr val="2B2B2E"/>
                </a:solidFill>
                <a:latin typeface="Arial"/>
              </a:rPr>
              <a:t> </a:t>
            </a:r>
            <a:r>
              <a:rPr sz="605" b="0" i="0" dirty="0" err="1">
                <a:solidFill>
                  <a:srgbClr val="2B2B2E"/>
                </a:solidFill>
                <a:latin typeface="Arial"/>
              </a:rPr>
              <a:t>dựng</a:t>
            </a:r>
            <a:r>
              <a:rPr sz="605" b="0" i="0" dirty="0">
                <a:solidFill>
                  <a:srgbClr val="2B2B2E"/>
                </a:solidFill>
                <a:latin typeface="Arial"/>
              </a:rPr>
              <a:t> (</a:t>
            </a:r>
            <a:r>
              <a:rPr sz="605" b="0" i="0" dirty="0" err="1">
                <a:solidFill>
                  <a:srgbClr val="2B2B2E"/>
                </a:solidFill>
                <a:latin typeface="Arial"/>
              </a:rPr>
              <a:t>thị</a:t>
            </a:r>
            <a:r>
              <a:rPr sz="605" b="0" i="0" dirty="0">
                <a:solidFill>
                  <a:srgbClr val="2B2B2E"/>
                </a:solidFill>
                <a:latin typeface="Arial"/>
              </a:rPr>
              <a:t> </a:t>
            </a:r>
            <a:r>
              <a:rPr sz="605" b="0" i="0" dirty="0" err="1">
                <a:solidFill>
                  <a:srgbClr val="2B2B2E"/>
                </a:solidFill>
                <a:latin typeface="Arial"/>
              </a:rPr>
              <a:t>phần</a:t>
            </a:r>
            <a:r>
              <a:rPr sz="605" b="0" i="0" dirty="0">
                <a:solidFill>
                  <a:srgbClr val="2B2B2E"/>
                </a:solidFill>
                <a:latin typeface="Arial"/>
              </a:rPr>
              <a:t> ~36</a:t>
            </a:r>
            <a:r>
              <a:rPr lang="en-US" sz="605" b="0" i="0" dirty="0">
                <a:solidFill>
                  <a:srgbClr val="2B2B2E"/>
                </a:solidFill>
                <a:latin typeface="Arial"/>
              </a:rPr>
              <a:t>-</a:t>
            </a:r>
            <a:r>
              <a:rPr sz="605" b="0" i="0" dirty="0">
                <a:solidFill>
                  <a:srgbClr val="2B2B2E"/>
                </a:solidFill>
                <a:latin typeface="Arial"/>
              </a:rPr>
              <a:t>38% </a:t>
            </a:r>
            <a:r>
              <a:rPr sz="605" b="0" i="0" dirty="0" err="1">
                <a:solidFill>
                  <a:srgbClr val="2B2B2E"/>
                </a:solidFill>
                <a:latin typeface="Arial"/>
              </a:rPr>
              <a:t>theo</a:t>
            </a:r>
            <a:r>
              <a:rPr sz="605" b="0" i="0" dirty="0">
                <a:solidFill>
                  <a:srgbClr val="2B2B2E"/>
                </a:solidFill>
                <a:latin typeface="Arial"/>
              </a:rPr>
              <a:t> BSC, KBSV),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suất</a:t>
            </a:r>
            <a:r>
              <a:rPr sz="605" b="0" i="0" dirty="0">
                <a:solidFill>
                  <a:srgbClr val="2B2B2E"/>
                </a:solidFill>
                <a:latin typeface="Arial"/>
              </a:rPr>
              <a:t> HRC </a:t>
            </a:r>
            <a:r>
              <a:rPr sz="605" b="0" i="0" dirty="0" err="1">
                <a:solidFill>
                  <a:srgbClr val="2B2B2E"/>
                </a:solidFill>
                <a:latin typeface="Arial"/>
              </a:rPr>
              <a:t>lớn</a:t>
            </a:r>
            <a:r>
              <a:rPr sz="605" b="0" i="0" dirty="0">
                <a:solidFill>
                  <a:srgbClr val="2B2B2E"/>
                </a:solidFill>
                <a:latin typeface="Arial"/>
              </a:rPr>
              <a:t> </a:t>
            </a:r>
            <a:r>
              <a:rPr sz="605" b="0" i="0" dirty="0" err="1">
                <a:solidFill>
                  <a:srgbClr val="2B2B2E"/>
                </a:solidFill>
                <a:latin typeface="Arial"/>
              </a:rPr>
              <a:t>nhất</a:t>
            </a:r>
            <a:r>
              <a:rPr sz="605" b="0" i="0" dirty="0">
                <a:solidFill>
                  <a:srgbClr val="2B2B2E"/>
                </a:solidFill>
                <a:latin typeface="Arial"/>
              </a:rPr>
              <a:t> </a:t>
            </a:r>
            <a:r>
              <a:rPr sz="605" b="0" i="0" dirty="0" err="1">
                <a:solidFill>
                  <a:srgbClr val="2B2B2E"/>
                </a:solidFill>
                <a:latin typeface="Arial"/>
              </a:rPr>
              <a:t>Việt</a:t>
            </a:r>
            <a:r>
              <a:rPr sz="605" b="0" i="0" dirty="0">
                <a:solidFill>
                  <a:srgbClr val="2B2B2E"/>
                </a:solidFill>
                <a:latin typeface="Arial"/>
              </a:rPr>
              <a:t> Nam (~8.6 </a:t>
            </a:r>
            <a:r>
              <a:rPr sz="605" b="0" i="0" dirty="0" err="1">
                <a:solidFill>
                  <a:srgbClr val="2B2B2E"/>
                </a:solidFill>
                <a:latin typeface="Arial"/>
              </a:rPr>
              <a:t>triệu</a:t>
            </a:r>
            <a:r>
              <a:rPr sz="605" b="0" i="0" dirty="0">
                <a:solidFill>
                  <a:srgbClr val="2B2B2E"/>
                </a:solidFill>
                <a:latin typeface="Arial"/>
              </a:rPr>
              <a:t> </a:t>
            </a:r>
            <a:r>
              <a:rPr sz="605" b="0" i="0" dirty="0" err="1">
                <a:solidFill>
                  <a:srgbClr val="2B2B2E"/>
                </a:solidFill>
                <a:latin typeface="Arial"/>
              </a:rPr>
              <a:t>tấn</a:t>
            </a:r>
            <a:r>
              <a:rPr sz="605" b="0" i="0" dirty="0">
                <a:solidFill>
                  <a:srgbClr val="2B2B2E"/>
                </a:solidFill>
                <a:latin typeface="Arial"/>
              </a:rPr>
              <a:t>/</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khi</a:t>
            </a:r>
            <a:r>
              <a:rPr sz="605" b="0" i="0" dirty="0">
                <a:solidFill>
                  <a:srgbClr val="2B2B2E"/>
                </a:solidFill>
                <a:latin typeface="Arial"/>
              </a:rPr>
              <a:t> Dung </a:t>
            </a:r>
            <a:r>
              <a:rPr sz="605" b="0" i="0" dirty="0" err="1">
                <a:solidFill>
                  <a:srgbClr val="2B2B2E"/>
                </a:solidFill>
                <a:latin typeface="Arial"/>
              </a:rPr>
              <a:t>Quất</a:t>
            </a:r>
            <a:r>
              <a:rPr sz="605" b="0" i="0" dirty="0">
                <a:solidFill>
                  <a:srgbClr val="2B2B2E"/>
                </a:solidFill>
                <a:latin typeface="Arial"/>
              </a:rPr>
              <a:t> 2 </a:t>
            </a:r>
            <a:r>
              <a:rPr sz="605" b="0" i="0" dirty="0" err="1">
                <a:solidFill>
                  <a:srgbClr val="2B2B2E"/>
                </a:solidFill>
                <a:latin typeface="Arial"/>
              </a:rPr>
              <a:t>vận</a:t>
            </a:r>
            <a:r>
              <a:rPr sz="605" b="0" i="0" dirty="0">
                <a:solidFill>
                  <a:srgbClr val="2B2B2E"/>
                </a:solidFill>
                <a:latin typeface="Arial"/>
              </a:rPr>
              <a:t> </a:t>
            </a:r>
            <a:r>
              <a:rPr sz="605" b="0" i="0" dirty="0" err="1">
                <a:solidFill>
                  <a:srgbClr val="2B2B2E"/>
                </a:solidFill>
                <a:latin typeface="Arial"/>
              </a:rPr>
              <a:t>hành</a:t>
            </a:r>
            <a:r>
              <a:rPr sz="605" b="0" i="0" dirty="0">
                <a:solidFill>
                  <a:srgbClr val="2B2B2E"/>
                </a:solidFill>
                <a:latin typeface="Arial"/>
              </a:rPr>
              <a:t>); </a:t>
            </a:r>
            <a:r>
              <a:rPr sz="605" b="0" i="0" dirty="0" err="1">
                <a:solidFill>
                  <a:srgbClr val="2B2B2E"/>
                </a:solidFill>
                <a:latin typeface="Arial"/>
              </a:rPr>
              <a:t>hưởng</a:t>
            </a:r>
            <a:r>
              <a:rPr sz="605" b="0" i="0" dirty="0">
                <a:solidFill>
                  <a:srgbClr val="2B2B2E"/>
                </a:solidFill>
                <a:latin typeface="Arial"/>
              </a:rPr>
              <a:t> </a:t>
            </a:r>
            <a:r>
              <a:rPr sz="605" b="0" i="0" dirty="0" err="1">
                <a:solidFill>
                  <a:srgbClr val="2B2B2E"/>
                </a:solidFill>
                <a:latin typeface="Arial"/>
              </a:rPr>
              <a:t>lợi</a:t>
            </a:r>
            <a:r>
              <a:rPr sz="605" b="0" i="0" dirty="0">
                <a:solidFill>
                  <a:srgbClr val="2B2B2E"/>
                </a:solidFill>
                <a:latin typeface="Arial"/>
              </a:rPr>
              <a:t> </a:t>
            </a:r>
            <a:r>
              <a:rPr sz="605" b="0" i="0" dirty="0" err="1">
                <a:solidFill>
                  <a:srgbClr val="2B2B2E"/>
                </a:solidFill>
                <a:latin typeface="Arial"/>
              </a:rPr>
              <a:t>từ</a:t>
            </a:r>
            <a:r>
              <a:rPr sz="605" b="0" i="0" dirty="0">
                <a:solidFill>
                  <a:srgbClr val="2B2B2E"/>
                </a:solidFill>
                <a:latin typeface="Arial"/>
              </a:rPr>
              <a:t> </a:t>
            </a:r>
            <a:r>
              <a:rPr sz="605" b="0" i="0" dirty="0" err="1">
                <a:solidFill>
                  <a:srgbClr val="2B2B2E"/>
                </a:solidFill>
                <a:latin typeface="Arial"/>
              </a:rPr>
              <a:t>cầu</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tư</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giá</a:t>
            </a:r>
            <a:r>
              <a:rPr sz="605" b="0" i="0" dirty="0">
                <a:solidFill>
                  <a:srgbClr val="2B2B2E"/>
                </a:solidFill>
                <a:latin typeface="Arial"/>
              </a:rPr>
              <a:t> </a:t>
            </a:r>
            <a:r>
              <a:rPr sz="605" b="0" i="0" dirty="0" err="1">
                <a:solidFill>
                  <a:srgbClr val="2B2B2E"/>
                </a:solidFill>
                <a:latin typeface="Arial"/>
              </a:rPr>
              <a:t>thép</a:t>
            </a:r>
            <a:r>
              <a:rPr sz="605" b="0" i="0" dirty="0">
                <a:solidFill>
                  <a:srgbClr val="2B2B2E"/>
                </a:solidFill>
                <a:latin typeface="Arial"/>
              </a:rPr>
              <a:t>. </a:t>
            </a:r>
            <a:r>
              <a:rPr sz="605" b="0" i="0" dirty="0" err="1">
                <a:solidFill>
                  <a:srgbClr val="2B2B2E"/>
                </a:solidFill>
                <a:latin typeface="Arial"/>
              </a:rPr>
              <a:t>Mã</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a:t>
            </a:r>
            <a:r>
              <a:rPr sz="605" b="0" i="0" dirty="0" err="1">
                <a:solidFill>
                  <a:srgbClr val="2B2B2E"/>
                </a:solidFill>
                <a:latin typeface="Arial"/>
              </a:rPr>
              <a:t>danh</a:t>
            </a:r>
            <a:r>
              <a:rPr sz="605" b="0" i="0" dirty="0">
                <a:solidFill>
                  <a:srgbClr val="2B2B2E"/>
                </a:solidFill>
                <a:latin typeface="Arial"/>
              </a:rPr>
              <a:t> </a:t>
            </a:r>
            <a:r>
              <a:rPr sz="605" b="0" i="0" dirty="0" err="1">
                <a:solidFill>
                  <a:srgbClr val="2B2B2E"/>
                </a:solidFill>
                <a:latin typeface="Arial"/>
              </a:rPr>
              <a:t>mục</a:t>
            </a:r>
            <a:r>
              <a:rPr sz="605" b="0" i="0" dirty="0">
                <a:solidFill>
                  <a:srgbClr val="2B2B2E"/>
                </a:solidFill>
                <a:latin typeface="Arial"/>
              </a:rPr>
              <a:t>, </a:t>
            </a:r>
            <a:r>
              <a:rPr sz="605" b="0" i="0" dirty="0" err="1">
                <a:solidFill>
                  <a:srgbClr val="2B2B2E"/>
                </a:solidFill>
                <a:latin typeface="Arial"/>
              </a:rPr>
              <a:t>không</a:t>
            </a:r>
            <a:r>
              <a:rPr sz="605" b="0" i="0" dirty="0">
                <a:solidFill>
                  <a:srgbClr val="2B2B2E"/>
                </a:solidFill>
                <a:latin typeface="Arial"/>
              </a:rPr>
              <a:t> </a:t>
            </a:r>
            <a:r>
              <a:rPr sz="605" b="0" i="0" dirty="0" err="1">
                <a:solidFill>
                  <a:srgbClr val="2B2B2E"/>
                </a:solidFill>
                <a:latin typeface="Arial"/>
              </a:rPr>
              <a:t>phân</a:t>
            </a:r>
            <a:r>
              <a:rPr sz="605" b="0" i="0" dirty="0">
                <a:solidFill>
                  <a:srgbClr val="2B2B2E"/>
                </a:solidFill>
                <a:latin typeface="Arial"/>
              </a:rPr>
              <a:t> </a:t>
            </a:r>
            <a:r>
              <a:rPr sz="605" b="0" i="0" dirty="0" err="1">
                <a:solidFill>
                  <a:srgbClr val="2B2B2E"/>
                </a:solidFill>
                <a:latin typeface="Arial"/>
              </a:rPr>
              <a:t>tích</a:t>
            </a:r>
            <a:r>
              <a:rPr sz="605" b="0" i="0" dirty="0">
                <a:solidFill>
                  <a:srgbClr val="2B2B2E"/>
                </a:solidFill>
                <a:latin typeface="Arial"/>
              </a:rPr>
              <a:t> chi </a:t>
            </a:r>
            <a:r>
              <a:rPr sz="605" b="0" i="0" dirty="0" err="1">
                <a:solidFill>
                  <a:srgbClr val="2B2B2E"/>
                </a:solidFill>
                <a:latin typeface="Arial"/>
              </a:rPr>
              <a:t>tiết</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pitchbook </a:t>
            </a:r>
            <a:r>
              <a:rPr sz="605" b="0" i="0" dirty="0" err="1">
                <a:solidFill>
                  <a:srgbClr val="2B2B2E"/>
                </a:solidFill>
                <a:latin typeface="Arial"/>
              </a:rPr>
              <a:t>này</a:t>
            </a:r>
            <a:r>
              <a:rPr sz="605" b="0" i="0" dirty="0">
                <a:solidFill>
                  <a:srgbClr val="2B2B2E"/>
                </a:solidFill>
                <a:latin typeface="Arial"/>
              </a:rPr>
              <a:t>.</a:t>
            </a:r>
          </a:p>
        </p:txBody>
      </p:sp>
      <p:sp>
        <p:nvSpPr>
          <p:cNvPr id="13" name="Rectangle 12"/>
          <p:cNvSpPr/>
          <p:nvPr/>
        </p:nvSpPr>
        <p:spPr>
          <a:xfrm>
            <a:off x="236250" y="1165008"/>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4" name="TextBox 13"/>
          <p:cNvSpPr txBox="1"/>
          <p:nvPr/>
        </p:nvSpPr>
        <p:spPr>
          <a:xfrm>
            <a:off x="301219" y="1188633"/>
            <a:ext cx="2412611" cy="94500"/>
          </a:xfrm>
          <a:prstGeom prst="rect">
            <a:avLst/>
          </a:prstGeom>
          <a:noFill/>
        </p:spPr>
        <p:txBody>
          <a:bodyPr wrap="none" lIns="0" tIns="0" rIns="0" bIns="0" anchor="t"/>
          <a:lstStyle/>
          <a:p>
            <a:pPr algn="l">
              <a:lnSpc>
                <a:spcPts val="686"/>
              </a:lnSpc>
              <a:spcBef>
                <a:spcPts val="0"/>
              </a:spcBef>
              <a:spcAft>
                <a:spcPts val="0"/>
              </a:spcAft>
            </a:pPr>
            <a:r>
              <a:rPr sz="581" b="1" i="0" spc="55">
                <a:solidFill>
                  <a:srgbClr val="FFFFFF"/>
                </a:solidFill>
                <a:latin typeface="Arial"/>
              </a:rPr>
              <a:t>A · FDI KỶ LỤC → CẦU XÂY DỰNG CÔNG NGHIỆP</a:t>
            </a:r>
          </a:p>
        </p:txBody>
      </p:sp>
      <p:sp>
        <p:nvSpPr>
          <p:cNvPr id="15" name="TextBox 14"/>
          <p:cNvSpPr txBox="1"/>
          <p:nvPr/>
        </p:nvSpPr>
        <p:spPr>
          <a:xfrm>
            <a:off x="5269206" y="1194539"/>
            <a:ext cx="2332138" cy="82688"/>
          </a:xfrm>
          <a:prstGeom prst="rect">
            <a:avLst/>
          </a:prstGeom>
          <a:noFill/>
        </p:spPr>
        <p:txBody>
          <a:bodyPr wrap="none" lIns="0" tIns="0" rIns="0" bIns="0" anchor="t"/>
          <a:lstStyle/>
          <a:p>
            <a:pPr algn="l">
              <a:lnSpc>
                <a:spcPts val="604"/>
              </a:lnSpc>
              <a:spcBef>
                <a:spcPts val="0"/>
              </a:spcBef>
              <a:spcAft>
                <a:spcPts val="0"/>
              </a:spcAft>
            </a:pPr>
            <a:r>
              <a:rPr sz="512" b="0" i="1" dirty="0" err="1">
                <a:solidFill>
                  <a:srgbClr val="FFFFFF"/>
                </a:solidFill>
                <a:latin typeface="Arial"/>
              </a:rPr>
              <a:t>Vốn</a:t>
            </a:r>
            <a:r>
              <a:rPr sz="512" b="0" i="1" dirty="0">
                <a:solidFill>
                  <a:srgbClr val="FFFFFF"/>
                </a:solidFill>
                <a:latin typeface="Arial"/>
              </a:rPr>
              <a:t> </a:t>
            </a:r>
            <a:r>
              <a:rPr sz="512" b="0" i="1" dirty="0" err="1">
                <a:solidFill>
                  <a:srgbClr val="FFFFFF"/>
                </a:solidFill>
                <a:latin typeface="Arial"/>
              </a:rPr>
              <a:t>đăng</a:t>
            </a:r>
            <a:r>
              <a:rPr sz="512" b="0" i="1" dirty="0">
                <a:solidFill>
                  <a:srgbClr val="FFFFFF"/>
                </a:solidFill>
                <a:latin typeface="Arial"/>
              </a:rPr>
              <a:t> </a:t>
            </a:r>
            <a:r>
              <a:rPr sz="512" b="0" i="1" dirty="0" err="1">
                <a:solidFill>
                  <a:srgbClr val="FFFFFF"/>
                </a:solidFill>
                <a:latin typeface="Arial"/>
              </a:rPr>
              <a:t>ký</a:t>
            </a:r>
            <a:r>
              <a:rPr sz="512" b="0" i="1" dirty="0">
                <a:solidFill>
                  <a:srgbClr val="FFFFFF"/>
                </a:solidFill>
                <a:latin typeface="Arial"/>
              </a:rPr>
              <a:t> </a:t>
            </a:r>
            <a:r>
              <a:rPr sz="512" b="0" i="1" dirty="0" err="1">
                <a:solidFill>
                  <a:srgbClr val="FFFFFF"/>
                </a:solidFill>
                <a:latin typeface="Arial"/>
              </a:rPr>
              <a:t>đi</a:t>
            </a:r>
            <a:r>
              <a:rPr sz="512" b="0" i="1" dirty="0">
                <a:solidFill>
                  <a:srgbClr val="FFFFFF"/>
                </a:solidFill>
                <a:latin typeface="Arial"/>
              </a:rPr>
              <a:t> </a:t>
            </a:r>
            <a:r>
              <a:rPr sz="512" b="0" i="1" dirty="0" err="1">
                <a:solidFill>
                  <a:srgbClr val="FFFFFF"/>
                </a:solidFill>
                <a:latin typeface="Arial"/>
              </a:rPr>
              <a:t>trước</a:t>
            </a:r>
            <a:r>
              <a:rPr sz="512" b="0" i="1" dirty="0">
                <a:solidFill>
                  <a:srgbClr val="FFFFFF"/>
                </a:solidFill>
                <a:latin typeface="Arial"/>
              </a:rPr>
              <a:t> </a:t>
            </a:r>
            <a:r>
              <a:rPr sz="512" b="0" i="1" dirty="0" err="1">
                <a:solidFill>
                  <a:srgbClr val="FFFFFF"/>
                </a:solidFill>
                <a:latin typeface="Arial"/>
              </a:rPr>
              <a:t>giải</a:t>
            </a:r>
            <a:r>
              <a:rPr sz="512" b="0" i="1" dirty="0">
                <a:solidFill>
                  <a:srgbClr val="FFFFFF"/>
                </a:solidFill>
                <a:latin typeface="Arial"/>
              </a:rPr>
              <a:t> </a:t>
            </a:r>
            <a:r>
              <a:rPr sz="512" b="0" i="1" dirty="0" err="1">
                <a:solidFill>
                  <a:srgbClr val="FFFFFF"/>
                </a:solidFill>
                <a:latin typeface="Arial"/>
              </a:rPr>
              <a:t>ngân</a:t>
            </a:r>
            <a:r>
              <a:rPr sz="512" b="0" i="1" dirty="0">
                <a:solidFill>
                  <a:srgbClr val="FFFFFF"/>
                </a:solidFill>
                <a:latin typeface="Arial"/>
              </a:rPr>
              <a:t> 1.2</a:t>
            </a:r>
            <a:r>
              <a:rPr lang="en-US" sz="512" b="0" i="1" dirty="0">
                <a:solidFill>
                  <a:srgbClr val="FFFFFF"/>
                </a:solidFill>
                <a:latin typeface="Arial"/>
              </a:rPr>
              <a:t>-</a:t>
            </a:r>
            <a:r>
              <a:rPr sz="512" b="0" i="1" dirty="0">
                <a:solidFill>
                  <a:srgbClr val="FFFFFF"/>
                </a:solidFill>
                <a:latin typeface="Arial"/>
              </a:rPr>
              <a:t>1.9x: </a:t>
            </a:r>
            <a:r>
              <a:rPr sz="512" b="0" i="1" dirty="0" err="1">
                <a:solidFill>
                  <a:srgbClr val="FFFFFF"/>
                </a:solidFill>
                <a:latin typeface="Arial"/>
              </a:rPr>
              <a:t>cầu</a:t>
            </a:r>
            <a:r>
              <a:rPr sz="512" b="0" i="1" dirty="0">
                <a:solidFill>
                  <a:srgbClr val="FFFFFF"/>
                </a:solidFill>
                <a:latin typeface="Arial"/>
              </a:rPr>
              <a:t> 2026</a:t>
            </a:r>
            <a:r>
              <a:rPr lang="en-US" sz="512" b="0" i="1" dirty="0">
                <a:solidFill>
                  <a:srgbClr val="FFFFFF"/>
                </a:solidFill>
                <a:latin typeface="Arial"/>
              </a:rPr>
              <a:t>-</a:t>
            </a:r>
            <a:r>
              <a:rPr sz="512" b="0" i="1" dirty="0">
                <a:solidFill>
                  <a:srgbClr val="FFFFFF"/>
                </a:solidFill>
                <a:latin typeface="Arial"/>
              </a:rPr>
              <a:t>27 </a:t>
            </a:r>
            <a:r>
              <a:rPr sz="512" b="0" i="1" dirty="0" err="1">
                <a:solidFill>
                  <a:srgbClr val="FFFFFF"/>
                </a:solidFill>
                <a:latin typeface="Arial"/>
              </a:rPr>
              <a:t>đã</a:t>
            </a:r>
            <a:r>
              <a:rPr sz="512" b="0" i="1" dirty="0">
                <a:solidFill>
                  <a:srgbClr val="FFFFFF"/>
                </a:solidFill>
                <a:latin typeface="Arial"/>
              </a:rPr>
              <a:t> </a:t>
            </a:r>
            <a:r>
              <a:rPr sz="512" b="0" i="1" dirty="0" err="1">
                <a:solidFill>
                  <a:srgbClr val="FFFFFF"/>
                </a:solidFill>
                <a:latin typeface="Arial"/>
              </a:rPr>
              <a:t>được</a:t>
            </a:r>
            <a:r>
              <a:rPr sz="512" b="0" i="1" dirty="0">
                <a:solidFill>
                  <a:srgbClr val="FFFFFF"/>
                </a:solidFill>
                <a:latin typeface="Arial"/>
              </a:rPr>
              <a:t> </a:t>
            </a:r>
            <a:r>
              <a:rPr sz="512" b="0" i="1" dirty="0" err="1">
                <a:solidFill>
                  <a:srgbClr val="FFFFFF"/>
                </a:solidFill>
                <a:latin typeface="Arial"/>
              </a:rPr>
              <a:t>khoá</a:t>
            </a:r>
            <a:endParaRPr sz="512" b="0" i="1" dirty="0">
              <a:solidFill>
                <a:srgbClr val="FFFFFF"/>
              </a:solidFill>
              <a:latin typeface="Arial"/>
            </a:endParaRPr>
          </a:p>
        </p:txBody>
      </p:sp>
      <p:sp>
        <p:nvSpPr>
          <p:cNvPr id="16" name="Rectangle 15"/>
          <p:cNvSpPr/>
          <p:nvPr/>
        </p:nvSpPr>
        <p:spPr>
          <a:xfrm>
            <a:off x="236250" y="3319312"/>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7" name="TextBox 16"/>
          <p:cNvSpPr txBox="1"/>
          <p:nvPr/>
        </p:nvSpPr>
        <p:spPr>
          <a:xfrm>
            <a:off x="301219" y="3342938"/>
            <a:ext cx="3902001" cy="94500"/>
          </a:xfrm>
          <a:prstGeom prst="rect">
            <a:avLst/>
          </a:prstGeom>
          <a:noFill/>
        </p:spPr>
        <p:txBody>
          <a:bodyPr wrap="none" lIns="0" tIns="0" rIns="0" bIns="0" anchor="t"/>
          <a:lstStyle/>
          <a:p>
            <a:pPr algn="l">
              <a:lnSpc>
                <a:spcPts val="686"/>
              </a:lnSpc>
              <a:spcBef>
                <a:spcPts val="0"/>
              </a:spcBef>
              <a:spcAft>
                <a:spcPts val="0"/>
              </a:spcAft>
            </a:pPr>
            <a:r>
              <a:rPr sz="581" b="1" i="0" spc="55">
                <a:solidFill>
                  <a:srgbClr val="FFFFFF"/>
                </a:solidFill>
                <a:latin typeface="Arial"/>
              </a:rPr>
              <a:t>B · ĐẦU TƯ CÔNG: CHU KỲ MEGA PROJECT, ĐIỂM RƠI GIẢI NGÂN CÒN PHÍA TRƯỚC</a:t>
            </a:r>
          </a:p>
        </p:txBody>
      </p:sp>
      <p:sp>
        <p:nvSpPr>
          <p:cNvPr id="18" name="TextBox 17"/>
          <p:cNvSpPr txBox="1"/>
          <p:nvPr/>
        </p:nvSpPr>
        <p:spPr>
          <a:xfrm>
            <a:off x="5207467" y="3348844"/>
            <a:ext cx="2393877" cy="82688"/>
          </a:xfrm>
          <a:prstGeom prst="rect">
            <a:avLst/>
          </a:prstGeom>
          <a:noFill/>
        </p:spPr>
        <p:txBody>
          <a:bodyPr wrap="none" lIns="0" tIns="0" rIns="0" bIns="0" anchor="t"/>
          <a:lstStyle/>
          <a:p>
            <a:pPr algn="l">
              <a:lnSpc>
                <a:spcPts val="604"/>
              </a:lnSpc>
              <a:spcBef>
                <a:spcPts val="0"/>
              </a:spcBef>
              <a:spcAft>
                <a:spcPts val="0"/>
              </a:spcAft>
            </a:pPr>
            <a:r>
              <a:rPr sz="512" b="0" i="1" dirty="0" err="1">
                <a:solidFill>
                  <a:srgbClr val="FFFFFF"/>
                </a:solidFill>
                <a:latin typeface="Arial"/>
              </a:rPr>
              <a:t>Dự</a:t>
            </a:r>
            <a:r>
              <a:rPr sz="512" b="0" i="1" dirty="0">
                <a:solidFill>
                  <a:srgbClr val="FFFFFF"/>
                </a:solidFill>
                <a:latin typeface="Arial"/>
              </a:rPr>
              <a:t> </a:t>
            </a:r>
            <a:r>
              <a:rPr sz="512" b="0" i="1" dirty="0" err="1">
                <a:solidFill>
                  <a:srgbClr val="FFFFFF"/>
                </a:solidFill>
                <a:latin typeface="Arial"/>
              </a:rPr>
              <a:t>án</a:t>
            </a:r>
            <a:r>
              <a:rPr sz="512" b="0" i="1" dirty="0">
                <a:solidFill>
                  <a:srgbClr val="FFFFFF"/>
                </a:solidFill>
                <a:latin typeface="Arial"/>
              </a:rPr>
              <a:t> </a:t>
            </a:r>
            <a:r>
              <a:rPr sz="512" b="0" i="1" dirty="0" err="1">
                <a:solidFill>
                  <a:srgbClr val="FFFFFF"/>
                </a:solidFill>
                <a:latin typeface="Arial"/>
              </a:rPr>
              <a:t>giai</a:t>
            </a:r>
            <a:r>
              <a:rPr sz="512" b="0" i="1" dirty="0">
                <a:solidFill>
                  <a:srgbClr val="FFFFFF"/>
                </a:solidFill>
                <a:latin typeface="Arial"/>
              </a:rPr>
              <a:t> </a:t>
            </a:r>
            <a:r>
              <a:rPr sz="512" b="0" i="1" dirty="0" err="1">
                <a:solidFill>
                  <a:srgbClr val="FFFFFF"/>
                </a:solidFill>
                <a:latin typeface="Arial"/>
              </a:rPr>
              <a:t>đoạn</a:t>
            </a:r>
            <a:r>
              <a:rPr sz="512" b="0" i="1" dirty="0">
                <a:solidFill>
                  <a:srgbClr val="FFFFFF"/>
                </a:solidFill>
                <a:latin typeface="Arial"/>
              </a:rPr>
              <a:t> 1 </a:t>
            </a:r>
            <a:r>
              <a:rPr sz="512" b="0" i="1" dirty="0" err="1">
                <a:solidFill>
                  <a:srgbClr val="FFFFFF"/>
                </a:solidFill>
                <a:latin typeface="Arial"/>
              </a:rPr>
              <a:t>về</a:t>
            </a:r>
            <a:r>
              <a:rPr sz="512" b="0" i="1" dirty="0">
                <a:solidFill>
                  <a:srgbClr val="FFFFFF"/>
                </a:solidFill>
                <a:latin typeface="Arial"/>
              </a:rPr>
              <a:t> </a:t>
            </a:r>
            <a:r>
              <a:rPr sz="512" b="0" i="1" dirty="0" err="1">
                <a:solidFill>
                  <a:srgbClr val="FFFFFF"/>
                </a:solidFill>
                <a:latin typeface="Arial"/>
              </a:rPr>
              <a:t>đích</a:t>
            </a:r>
            <a:r>
              <a:rPr sz="512" b="0" i="1" dirty="0">
                <a:solidFill>
                  <a:srgbClr val="FFFFFF"/>
                </a:solidFill>
                <a:latin typeface="Arial"/>
              </a:rPr>
              <a:t> 2026</a:t>
            </a:r>
            <a:r>
              <a:rPr lang="en-US" sz="512" b="0" i="1" dirty="0">
                <a:solidFill>
                  <a:srgbClr val="FFFFFF"/>
                </a:solidFill>
                <a:latin typeface="Arial"/>
              </a:rPr>
              <a:t>-</a:t>
            </a:r>
            <a:r>
              <a:rPr sz="512" b="0" i="1" dirty="0">
                <a:solidFill>
                  <a:srgbClr val="FFFFFF"/>
                </a:solidFill>
                <a:latin typeface="Arial"/>
              </a:rPr>
              <a:t>27; mega project </a:t>
            </a:r>
            <a:r>
              <a:rPr sz="512" b="0" i="1" dirty="0" err="1">
                <a:solidFill>
                  <a:srgbClr val="FFFFFF"/>
                </a:solidFill>
                <a:latin typeface="Arial"/>
              </a:rPr>
              <a:t>mới</a:t>
            </a:r>
            <a:r>
              <a:rPr sz="512" b="0" i="1" dirty="0">
                <a:solidFill>
                  <a:srgbClr val="FFFFFF"/>
                </a:solidFill>
                <a:latin typeface="Arial"/>
              </a:rPr>
              <a:t> </a:t>
            </a:r>
            <a:r>
              <a:rPr sz="512" b="0" i="1" dirty="0" err="1">
                <a:solidFill>
                  <a:srgbClr val="FFFFFF"/>
                </a:solidFill>
                <a:latin typeface="Arial"/>
              </a:rPr>
              <a:t>tăng</a:t>
            </a:r>
            <a:r>
              <a:rPr sz="512" b="0" i="1" dirty="0">
                <a:solidFill>
                  <a:srgbClr val="FFFFFF"/>
                </a:solidFill>
                <a:latin typeface="Arial"/>
              </a:rPr>
              <a:t> </a:t>
            </a:r>
            <a:r>
              <a:rPr sz="512" b="0" i="1" dirty="0" err="1">
                <a:solidFill>
                  <a:srgbClr val="FFFFFF"/>
                </a:solidFill>
                <a:latin typeface="Arial"/>
              </a:rPr>
              <a:t>tốc</a:t>
            </a:r>
            <a:r>
              <a:rPr sz="512" b="0" i="1" dirty="0">
                <a:solidFill>
                  <a:srgbClr val="FFFFFF"/>
                </a:solidFill>
                <a:latin typeface="Arial"/>
              </a:rPr>
              <a:t> </a:t>
            </a:r>
            <a:r>
              <a:rPr sz="512" b="0" i="1" dirty="0" err="1">
                <a:solidFill>
                  <a:srgbClr val="FFFFFF"/>
                </a:solidFill>
                <a:latin typeface="Arial"/>
              </a:rPr>
              <a:t>từ</a:t>
            </a:r>
            <a:r>
              <a:rPr sz="512" b="0" i="1" dirty="0">
                <a:solidFill>
                  <a:srgbClr val="FFFFFF"/>
                </a:solidFill>
                <a:latin typeface="Arial"/>
              </a:rPr>
              <a:t> 2027</a:t>
            </a:r>
          </a:p>
        </p:txBody>
      </p:sp>
      <p:sp>
        <p:nvSpPr>
          <p:cNvPr id="19" name="Rectangle 18"/>
          <p:cNvSpPr/>
          <p:nvPr/>
        </p:nvSpPr>
        <p:spPr>
          <a:xfrm>
            <a:off x="236250" y="7848945"/>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20" name="TextBox 19"/>
          <p:cNvSpPr txBox="1"/>
          <p:nvPr/>
        </p:nvSpPr>
        <p:spPr>
          <a:xfrm>
            <a:off x="301219" y="7872570"/>
            <a:ext cx="3458386" cy="94500"/>
          </a:xfrm>
          <a:prstGeom prst="rect">
            <a:avLst/>
          </a:prstGeom>
          <a:noFill/>
        </p:spPr>
        <p:txBody>
          <a:bodyPr wrap="none" lIns="0" tIns="0" rIns="0" bIns="0" anchor="t"/>
          <a:lstStyle/>
          <a:p>
            <a:pPr algn="l">
              <a:lnSpc>
                <a:spcPts val="686"/>
              </a:lnSpc>
              <a:spcBef>
                <a:spcPts val="0"/>
              </a:spcBef>
              <a:spcAft>
                <a:spcPts val="0"/>
              </a:spcAft>
            </a:pPr>
            <a:r>
              <a:rPr sz="581" b="1" i="0" spc="55">
                <a:solidFill>
                  <a:srgbClr val="FFFFFF"/>
                </a:solidFill>
                <a:latin typeface="Arial"/>
              </a:rPr>
              <a:t>C · VẬT LIỆU XÂY DỰNG: SẢN LƯỢNG HỒI PHỤC, GIÁ TĂNG, CUNG THIẾU</a:t>
            </a:r>
          </a:p>
        </p:txBody>
      </p:sp>
      <p:sp>
        <p:nvSpPr>
          <p:cNvPr id="21" name="TextBox 20"/>
          <p:cNvSpPr txBox="1"/>
          <p:nvPr/>
        </p:nvSpPr>
        <p:spPr>
          <a:xfrm>
            <a:off x="4182548" y="7878476"/>
            <a:ext cx="3418796" cy="82688"/>
          </a:xfrm>
          <a:prstGeom prst="rect">
            <a:avLst/>
          </a:prstGeom>
          <a:noFill/>
        </p:spPr>
        <p:txBody>
          <a:bodyPr wrap="none" lIns="0" tIns="0" rIns="0" bIns="0" anchor="t"/>
          <a:lstStyle/>
          <a:p>
            <a:pPr algn="l">
              <a:lnSpc>
                <a:spcPts val="604"/>
              </a:lnSpc>
              <a:spcBef>
                <a:spcPts val="0"/>
              </a:spcBef>
              <a:spcAft>
                <a:spcPts val="0"/>
              </a:spcAft>
            </a:pPr>
            <a:r>
              <a:rPr sz="512" b="0" i="1">
                <a:solidFill>
                  <a:srgbClr val="FFFFFF"/>
                </a:solidFill>
                <a:latin typeface="Arial"/>
              </a:rPr>
              <a:t>Vật liệu ~70% giá vốn nhà thầu: nhà sản xuất quy mô lớn hưởng lợi, nhà thầu cần hợp đồng điều chỉnh giá</a:t>
            </a:r>
          </a:p>
        </p:txBody>
      </p:sp>
      <p:sp>
        <p:nvSpPr>
          <p:cNvPr id="22" name="Rectangle 21"/>
          <p:cNvSpPr/>
          <p:nvPr/>
        </p:nvSpPr>
        <p:spPr>
          <a:xfrm>
            <a:off x="236250" y="9405888"/>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23" name="TextBox 22"/>
          <p:cNvSpPr txBox="1"/>
          <p:nvPr/>
        </p:nvSpPr>
        <p:spPr>
          <a:xfrm>
            <a:off x="301219" y="9429513"/>
            <a:ext cx="1542731" cy="94500"/>
          </a:xfrm>
          <a:prstGeom prst="rect">
            <a:avLst/>
          </a:prstGeom>
          <a:noFill/>
        </p:spPr>
        <p:txBody>
          <a:bodyPr wrap="none" lIns="0" tIns="0" rIns="0" bIns="0" anchor="t"/>
          <a:lstStyle/>
          <a:p>
            <a:pPr algn="l">
              <a:lnSpc>
                <a:spcPts val="686"/>
              </a:lnSpc>
              <a:spcBef>
                <a:spcPts val="0"/>
              </a:spcBef>
              <a:spcAft>
                <a:spcPts val="0"/>
              </a:spcAft>
            </a:pPr>
            <a:r>
              <a:rPr sz="581" b="1" i="0" spc="55" dirty="0">
                <a:solidFill>
                  <a:srgbClr val="FFFFFF"/>
                </a:solidFill>
                <a:latin typeface="Arial"/>
              </a:rPr>
              <a:t>D · SÀNG LỌC</a:t>
            </a:r>
            <a:r>
              <a:rPr lang="en-US" sz="581" b="1" i="0" spc="55" dirty="0">
                <a:solidFill>
                  <a:srgbClr val="FFFFFF"/>
                </a:solidFill>
                <a:latin typeface="Arial"/>
              </a:rPr>
              <a:t> MÃ</a:t>
            </a:r>
            <a:endParaRPr sz="581" b="1" i="0" spc="55" dirty="0">
              <a:solidFill>
                <a:srgbClr val="FFFFFF"/>
              </a:solidFill>
              <a:latin typeface="Arial"/>
            </a:endParaRPr>
          </a:p>
        </p:txBody>
      </p:sp>
      <p:sp>
        <p:nvSpPr>
          <p:cNvPr id="24" name="TextBox 23"/>
          <p:cNvSpPr txBox="1"/>
          <p:nvPr/>
        </p:nvSpPr>
        <p:spPr>
          <a:xfrm>
            <a:off x="5109460" y="9435419"/>
            <a:ext cx="2491884" cy="82688"/>
          </a:xfrm>
          <a:prstGeom prst="rect">
            <a:avLst/>
          </a:prstGeom>
          <a:noFill/>
        </p:spPr>
        <p:txBody>
          <a:bodyPr wrap="none" lIns="0" tIns="0" rIns="0" bIns="0" anchor="t"/>
          <a:lstStyle/>
          <a:p>
            <a:pPr algn="l">
              <a:lnSpc>
                <a:spcPts val="604"/>
              </a:lnSpc>
              <a:spcBef>
                <a:spcPts val="0"/>
              </a:spcBef>
              <a:spcAft>
                <a:spcPts val="0"/>
              </a:spcAft>
            </a:pPr>
            <a:r>
              <a:rPr sz="512" b="0" i="1">
                <a:solidFill>
                  <a:srgbClr val="FFFFFF"/>
                </a:solidFill>
                <a:latin typeface="Arial"/>
              </a:rPr>
              <a:t>Một nhà thầu có FDI và dự án phức tạp; một nhà sản xuất thép đầu ngành</a:t>
            </a:r>
          </a:p>
        </p:txBody>
      </p:sp>
      <p:sp>
        <p:nvSpPr>
          <p:cNvPr id="25" name="TextBox 24"/>
          <p:cNvSpPr txBox="1"/>
          <p:nvPr/>
        </p:nvSpPr>
        <p:spPr>
          <a:xfrm>
            <a:off x="230344" y="1336289"/>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FDI: giải ngân +10%/năm đến 2027F </a:t>
            </a:r>
            <a:r>
              <a:rPr sz="465" b="0" i="0">
                <a:solidFill>
                  <a:srgbClr val="8C8C91"/>
                </a:solidFill>
                <a:latin typeface="Arial"/>
              </a:rPr>
              <a:t>(tỷ USD)</a:t>
            </a:r>
          </a:p>
        </p:txBody>
      </p:sp>
      <p:sp>
        <p:nvSpPr>
          <p:cNvPr id="26" name="TextBox 25"/>
          <p:cNvSpPr txBox="1"/>
          <p:nvPr/>
        </p:nvSpPr>
        <p:spPr>
          <a:xfrm>
            <a:off x="230344" y="2361023"/>
            <a:ext cx="2211241"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Tổng</a:t>
            </a:r>
            <a:r>
              <a:rPr sz="442" b="0" i="1" dirty="0">
                <a:solidFill>
                  <a:srgbClr val="8C8C91"/>
                </a:solidFill>
                <a:latin typeface="Arial"/>
              </a:rPr>
              <a:t> </a:t>
            </a:r>
            <a:r>
              <a:rPr sz="442" b="0" i="1" dirty="0" err="1">
                <a:solidFill>
                  <a:srgbClr val="8C8C91"/>
                </a:solidFill>
                <a:latin typeface="Arial"/>
              </a:rPr>
              <a:t>cục</a:t>
            </a:r>
            <a:r>
              <a:rPr sz="442" b="0" i="1" dirty="0">
                <a:solidFill>
                  <a:srgbClr val="8C8C91"/>
                </a:solidFill>
                <a:latin typeface="Arial"/>
              </a:rPr>
              <a:t> </a:t>
            </a:r>
            <a:r>
              <a:rPr sz="442" b="0" i="1" dirty="0" err="1">
                <a:solidFill>
                  <a:srgbClr val="8C8C91"/>
                </a:solidFill>
                <a:latin typeface="Arial"/>
              </a:rPr>
              <a:t>Thống</a:t>
            </a:r>
            <a:r>
              <a:rPr sz="442" b="0" i="1" dirty="0">
                <a:solidFill>
                  <a:srgbClr val="8C8C91"/>
                </a:solidFill>
                <a:latin typeface="Arial"/>
              </a:rPr>
              <a:t> </a:t>
            </a:r>
            <a:r>
              <a:rPr sz="442" b="0" i="1" dirty="0" err="1">
                <a:solidFill>
                  <a:srgbClr val="8C8C91"/>
                </a:solidFill>
                <a:latin typeface="Arial"/>
              </a:rPr>
              <a:t>kê</a:t>
            </a:r>
            <a:r>
              <a:rPr sz="442" b="0" i="1" dirty="0">
                <a:solidFill>
                  <a:srgbClr val="8C8C91"/>
                </a:solidFill>
                <a:latin typeface="Arial"/>
              </a:rPr>
              <a:t>, </a:t>
            </a:r>
            <a:r>
              <a:rPr sz="442" b="0" i="1" dirty="0" err="1">
                <a:solidFill>
                  <a:srgbClr val="8C8C91"/>
                </a:solidFill>
                <a:latin typeface="Arial"/>
              </a:rPr>
              <a:t>Bộ</a:t>
            </a:r>
            <a:r>
              <a:rPr sz="442" b="0" i="1" dirty="0">
                <a:solidFill>
                  <a:srgbClr val="8C8C91"/>
                </a:solidFill>
                <a:latin typeface="Arial"/>
              </a:rPr>
              <a:t> KH&amp;ĐT (</a:t>
            </a:r>
            <a:r>
              <a:rPr sz="442" b="0" i="1" dirty="0" err="1">
                <a:solidFill>
                  <a:srgbClr val="8C8C91"/>
                </a:solidFill>
                <a:latin typeface="Arial"/>
              </a:rPr>
              <a:t>số</a:t>
            </a:r>
            <a:r>
              <a:rPr sz="442" b="0" i="1" dirty="0">
                <a:solidFill>
                  <a:srgbClr val="8C8C91"/>
                </a:solidFill>
                <a:latin typeface="Arial"/>
              </a:rPr>
              <a:t> 2026F</a:t>
            </a:r>
            <a:r>
              <a:rPr lang="en-US" sz="442" b="0" i="1" dirty="0">
                <a:solidFill>
                  <a:srgbClr val="8C8C91"/>
                </a:solidFill>
                <a:latin typeface="Arial"/>
              </a:rPr>
              <a:t>-</a:t>
            </a:r>
            <a:r>
              <a:rPr sz="442" b="0" i="1" dirty="0">
                <a:solidFill>
                  <a:srgbClr val="8C8C91"/>
                </a:solidFill>
                <a:latin typeface="Arial"/>
              </a:rPr>
              <a:t>27F: </a:t>
            </a:r>
            <a:r>
              <a:rPr sz="442" b="0" i="1" dirty="0" err="1">
                <a:solidFill>
                  <a:srgbClr val="8C8C91"/>
                </a:solidFill>
                <a:latin typeface="Arial"/>
              </a:rPr>
              <a:t>ước</a:t>
            </a:r>
            <a:r>
              <a:rPr sz="442" b="0" i="1" dirty="0">
                <a:solidFill>
                  <a:srgbClr val="8C8C91"/>
                </a:solidFill>
                <a:latin typeface="Arial"/>
              </a:rPr>
              <a:t> </a:t>
            </a:r>
            <a:r>
              <a:rPr sz="442" b="0" i="1" dirty="0" err="1">
                <a:solidFill>
                  <a:srgbClr val="8C8C91"/>
                </a:solidFill>
                <a:latin typeface="Arial"/>
              </a:rPr>
              <a:t>tính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a:t>
            </a:r>
          </a:p>
        </p:txBody>
      </p:sp>
      <p:sp>
        <p:nvSpPr>
          <p:cNvPr id="27" name="TextBox 26"/>
          <p:cNvSpPr txBox="1"/>
          <p:nvPr/>
        </p:nvSpPr>
        <p:spPr>
          <a:xfrm>
            <a:off x="230344" y="2472504"/>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Đăng ký (t−1) luôn vượt giải ngân (t) </a:t>
            </a:r>
            <a:r>
              <a:rPr sz="465" b="0" i="0">
                <a:solidFill>
                  <a:srgbClr val="8C8C91"/>
                </a:solidFill>
                <a:latin typeface="Arial"/>
              </a:rPr>
              <a:t>(lần)</a:t>
            </a:r>
          </a:p>
        </p:txBody>
      </p:sp>
      <p:sp>
        <p:nvSpPr>
          <p:cNvPr id="28" name="TextBox 27"/>
          <p:cNvSpPr txBox="1"/>
          <p:nvPr/>
        </p:nvSpPr>
        <p:spPr>
          <a:xfrm>
            <a:off x="230344" y="3201926"/>
            <a:ext cx="2211241" cy="81949"/>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tính từ số liệu TCTK/Bộ KH&amp;ĐT; 2026F dùng đăng ký 2025.</a:t>
            </a:r>
          </a:p>
        </p:txBody>
      </p:sp>
      <p:sp>
        <p:nvSpPr>
          <p:cNvPr id="30" name="TextBox 29"/>
          <p:cNvSpPr txBox="1"/>
          <p:nvPr/>
        </p:nvSpPr>
        <p:spPr>
          <a:xfrm>
            <a:off x="230344" y="3490594"/>
            <a:ext cx="2211241" cy="132891"/>
          </a:xfrm>
          <a:prstGeom prst="rect">
            <a:avLst/>
          </a:prstGeom>
          <a:noFill/>
        </p:spPr>
        <p:txBody>
          <a:bodyPr wrap="square" lIns="0" tIns="0" rIns="0" bIns="0" anchor="t"/>
          <a:lstStyle/>
          <a:p>
            <a:pPr algn="l">
              <a:lnSpc>
                <a:spcPts val="756"/>
              </a:lnSpc>
              <a:spcBef>
                <a:spcPts val="0"/>
              </a:spcBef>
              <a:spcAft>
                <a:spcPts val="0"/>
              </a:spcAft>
            </a:pPr>
            <a:r>
              <a:rPr sz="605" b="1" i="0" dirty="0" err="1">
                <a:solidFill>
                  <a:srgbClr val="3A3A3E"/>
                </a:solidFill>
                <a:latin typeface="Arial"/>
              </a:rPr>
              <a:t>Giải</a:t>
            </a:r>
            <a:r>
              <a:rPr sz="605" b="1" i="0" dirty="0">
                <a:solidFill>
                  <a:srgbClr val="3A3A3E"/>
                </a:solidFill>
                <a:latin typeface="Arial"/>
              </a:rPr>
              <a:t> </a:t>
            </a:r>
            <a:r>
              <a:rPr sz="605" b="1" i="0" dirty="0" err="1">
                <a:solidFill>
                  <a:srgbClr val="3A3A3E"/>
                </a:solidFill>
                <a:latin typeface="Arial"/>
              </a:rPr>
              <a:t>ngân</a:t>
            </a:r>
            <a:r>
              <a:rPr sz="605" b="1" i="0" dirty="0">
                <a:solidFill>
                  <a:srgbClr val="3A3A3E"/>
                </a:solidFill>
                <a:latin typeface="Arial"/>
              </a:rPr>
              <a:t> 55.5% KH; </a:t>
            </a:r>
            <a:r>
              <a:rPr sz="605" b="1" i="0" dirty="0" err="1">
                <a:solidFill>
                  <a:srgbClr val="3A3A3E"/>
                </a:solidFill>
                <a:latin typeface="Arial"/>
              </a:rPr>
              <a:t>kế</a:t>
            </a:r>
            <a:r>
              <a:rPr sz="605" b="1" i="0" dirty="0">
                <a:solidFill>
                  <a:srgbClr val="3A3A3E"/>
                </a:solidFill>
                <a:latin typeface="Arial"/>
              </a:rPr>
              <a:t> </a:t>
            </a:r>
            <a:r>
              <a:rPr sz="605" b="1" i="0" dirty="0" err="1">
                <a:solidFill>
                  <a:srgbClr val="3A3A3E"/>
                </a:solidFill>
                <a:latin typeface="Arial"/>
              </a:rPr>
              <a:t>hoạch</a:t>
            </a:r>
            <a:r>
              <a:rPr sz="605" b="1" i="0" dirty="0">
                <a:solidFill>
                  <a:srgbClr val="3A3A3E"/>
                </a:solidFill>
                <a:latin typeface="Arial"/>
              </a:rPr>
              <a:t> 2027</a:t>
            </a:r>
            <a:r>
              <a:rPr lang="en-US" sz="605" b="1" i="0" dirty="0">
                <a:solidFill>
                  <a:srgbClr val="3A3A3E"/>
                </a:solidFill>
                <a:latin typeface="Arial"/>
              </a:rPr>
              <a:t>-</a:t>
            </a:r>
            <a:r>
              <a:rPr sz="605" b="1" i="0" dirty="0">
                <a:solidFill>
                  <a:srgbClr val="3A3A3E"/>
                </a:solidFill>
                <a:latin typeface="Arial"/>
              </a:rPr>
              <a:t>30 +76% </a:t>
            </a:r>
            <a:r>
              <a:rPr sz="465" b="0" i="0" dirty="0">
                <a:solidFill>
                  <a:srgbClr val="8C8C91"/>
                </a:solidFill>
                <a:latin typeface="Arial"/>
              </a:rPr>
              <a:t>(</a:t>
            </a:r>
            <a:r>
              <a:rPr sz="465" b="0" i="0" dirty="0" err="1">
                <a:solidFill>
                  <a:srgbClr val="8C8C91"/>
                </a:solidFill>
                <a:latin typeface="Arial"/>
              </a:rPr>
              <a:t>nghìn</a:t>
            </a:r>
            <a:r>
              <a:rPr sz="465" b="0" i="0" dirty="0">
                <a:solidFill>
                  <a:srgbClr val="8C8C91"/>
                </a:solidFill>
                <a:latin typeface="Arial"/>
              </a:rPr>
              <a:t> </a:t>
            </a:r>
            <a:r>
              <a:rPr sz="465" b="0" i="0" dirty="0" err="1">
                <a:solidFill>
                  <a:srgbClr val="8C8C91"/>
                </a:solidFill>
                <a:latin typeface="Arial"/>
              </a:rPr>
              <a:t>tỷ</a:t>
            </a:r>
            <a:r>
              <a:rPr sz="465" b="0" i="0" dirty="0">
                <a:solidFill>
                  <a:srgbClr val="8C8C91"/>
                </a:solidFill>
                <a:latin typeface="Arial"/>
              </a:rPr>
              <a:t> </a:t>
            </a:r>
            <a:r>
              <a:rPr sz="465" b="0" i="0" dirty="0" err="1">
                <a:solidFill>
                  <a:srgbClr val="8C8C91"/>
                </a:solidFill>
                <a:latin typeface="Arial"/>
              </a:rPr>
              <a:t>đồng</a:t>
            </a:r>
            <a:r>
              <a:rPr sz="465" b="0" i="0" dirty="0">
                <a:solidFill>
                  <a:srgbClr val="8C8C91"/>
                </a:solidFill>
                <a:latin typeface="Arial"/>
              </a:rPr>
              <a:t>)</a:t>
            </a:r>
          </a:p>
        </p:txBody>
      </p:sp>
      <p:sp>
        <p:nvSpPr>
          <p:cNvPr id="31" name="TextBox 30"/>
          <p:cNvSpPr txBox="1"/>
          <p:nvPr/>
        </p:nvSpPr>
        <p:spPr>
          <a:xfrm>
            <a:off x="230344" y="4503516"/>
            <a:ext cx="2211241" cy="152086"/>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Bộ Tài chính (báo cáo 1/10/2026). *Đến 24/9/2026; 2026F theo kịch bản cơ sở 83.7%.</a:t>
            </a:r>
          </a:p>
        </p:txBody>
      </p:sp>
      <p:sp>
        <p:nvSpPr>
          <p:cNvPr id="32" name="TextBox 31"/>
          <p:cNvSpPr txBox="1"/>
          <p:nvPr/>
        </p:nvSpPr>
        <p:spPr>
          <a:xfrm>
            <a:off x="230344" y="4685133"/>
            <a:ext cx="2211241" cy="206719"/>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Khối lượng còn lại lớn ở dự án trọng điểm </a:t>
            </a:r>
            <a:r>
              <a:rPr sz="465" b="0" i="0">
                <a:solidFill>
                  <a:srgbClr val="8C8C91"/>
                </a:solidFill>
                <a:latin typeface="Arial"/>
              </a:rPr>
              <a:t>(% hoàn thành; viền đứt = còn lại)</a:t>
            </a:r>
          </a:p>
        </p:txBody>
      </p:sp>
      <p:sp>
        <p:nvSpPr>
          <p:cNvPr id="33" name="TextBox 32"/>
          <p:cNvSpPr txBox="1"/>
          <p:nvPr/>
        </p:nvSpPr>
        <p:spPr>
          <a:xfrm>
            <a:off x="230344" y="5512008"/>
            <a:ext cx="2211241"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Bộ</a:t>
            </a:r>
            <a:r>
              <a:rPr sz="442" b="0" i="1" dirty="0">
                <a:solidFill>
                  <a:srgbClr val="8C8C91"/>
                </a:solidFill>
                <a:latin typeface="Arial"/>
              </a:rPr>
              <a:t> </a:t>
            </a:r>
            <a:r>
              <a:rPr sz="442" b="0" i="1" dirty="0" err="1">
                <a:solidFill>
                  <a:srgbClr val="8C8C91"/>
                </a:solidFill>
                <a:latin typeface="Arial"/>
              </a:rPr>
              <a:t>Xây</a:t>
            </a:r>
            <a:r>
              <a:rPr sz="442" b="0" i="1" dirty="0">
                <a:solidFill>
                  <a:srgbClr val="8C8C91"/>
                </a:solidFill>
                <a:latin typeface="Arial"/>
              </a:rPr>
              <a:t> </a:t>
            </a:r>
            <a:r>
              <a:rPr sz="442" b="0" i="1" dirty="0" err="1">
                <a:solidFill>
                  <a:srgbClr val="8C8C91"/>
                </a:solidFill>
                <a:latin typeface="Arial"/>
              </a:rPr>
              <a:t>dựng</a:t>
            </a:r>
            <a:r>
              <a:rPr sz="442" b="0" i="1" dirty="0">
                <a:solidFill>
                  <a:srgbClr val="8C8C91"/>
                </a:solidFill>
                <a:latin typeface="Arial"/>
              </a:rPr>
              <a:t>, </a:t>
            </a:r>
            <a:r>
              <a:rPr sz="442" b="0" i="1" dirty="0" err="1">
                <a:solidFill>
                  <a:srgbClr val="8C8C91"/>
                </a:solidFill>
                <a:latin typeface="Arial"/>
              </a:rPr>
              <a:t>Bộ</a:t>
            </a:r>
            <a:r>
              <a:rPr sz="442" b="0" i="1" dirty="0">
                <a:solidFill>
                  <a:srgbClr val="8C8C91"/>
                </a:solidFill>
                <a:latin typeface="Arial"/>
              </a:rPr>
              <a:t> </a:t>
            </a:r>
            <a:r>
              <a:rPr sz="442" b="0" i="1" dirty="0" err="1">
                <a:solidFill>
                  <a:srgbClr val="8C8C91"/>
                </a:solidFill>
                <a:latin typeface="Arial"/>
              </a:rPr>
              <a:t>Tài</a:t>
            </a:r>
            <a:r>
              <a:rPr sz="442" b="0" i="1" dirty="0">
                <a:solidFill>
                  <a:srgbClr val="8C8C91"/>
                </a:solidFill>
                <a:latin typeface="Arial"/>
              </a:rPr>
              <a:t> </a:t>
            </a:r>
            <a:r>
              <a:rPr sz="442" b="0" i="1" dirty="0" err="1">
                <a:solidFill>
                  <a:srgbClr val="8C8C91"/>
                </a:solidFill>
                <a:latin typeface="Arial"/>
              </a:rPr>
              <a:t>chính</a:t>
            </a:r>
            <a:r>
              <a:rPr sz="442" b="0" i="1" dirty="0">
                <a:solidFill>
                  <a:srgbClr val="8C8C91"/>
                </a:solidFill>
                <a:latin typeface="Arial"/>
              </a:rPr>
              <a:t> </a:t>
            </a:r>
            <a:r>
              <a:rPr sz="442" b="0" i="1" dirty="0" err="1">
                <a:solidFill>
                  <a:srgbClr val="8C8C91"/>
                </a:solidFill>
                <a:latin typeface="Arial"/>
              </a:rPr>
              <a:t>Hình</a:t>
            </a:r>
            <a:r>
              <a:rPr sz="442" b="0" i="1" dirty="0">
                <a:solidFill>
                  <a:srgbClr val="8C8C91"/>
                </a:solidFill>
                <a:latin typeface="Arial"/>
              </a:rPr>
              <a:t> 5 (4/2026</a:t>
            </a:r>
            <a:r>
              <a:rPr lang="en-US" sz="442" b="0" i="1" dirty="0">
                <a:solidFill>
                  <a:srgbClr val="8C8C91"/>
                </a:solidFill>
                <a:latin typeface="Arial"/>
              </a:rPr>
              <a:t>-</a:t>
            </a:r>
            <a:r>
              <a:rPr sz="442" b="0" i="1" dirty="0">
                <a:solidFill>
                  <a:srgbClr val="8C8C91"/>
                </a:solidFill>
                <a:latin typeface="Arial"/>
              </a:rPr>
              <a:t>9/2026).</a:t>
            </a:r>
          </a:p>
        </p:txBody>
      </p:sp>
      <p:sp>
        <p:nvSpPr>
          <p:cNvPr id="35" name="TextBox 34"/>
          <p:cNvSpPr txBox="1"/>
          <p:nvPr/>
        </p:nvSpPr>
        <p:spPr>
          <a:xfrm>
            <a:off x="230344" y="5623488"/>
            <a:ext cx="7170188" cy="132891"/>
          </a:xfrm>
          <a:prstGeom prst="rect">
            <a:avLst/>
          </a:prstGeom>
          <a:noFill/>
        </p:spPr>
        <p:txBody>
          <a:bodyPr wrap="square" lIns="0" tIns="0" rIns="0" bIns="0" anchor="t"/>
          <a:lstStyle/>
          <a:p>
            <a:pPr algn="l">
              <a:lnSpc>
                <a:spcPts val="756"/>
              </a:lnSpc>
              <a:spcBef>
                <a:spcPts val="0"/>
              </a:spcBef>
              <a:spcAft>
                <a:spcPts val="0"/>
              </a:spcAft>
            </a:pPr>
            <a:r>
              <a:rPr sz="605" b="1" i="0" dirty="0">
                <a:solidFill>
                  <a:srgbClr val="3A3A3E"/>
                </a:solidFill>
                <a:latin typeface="Arial"/>
              </a:rPr>
              <a:t>Mega project 2026</a:t>
            </a:r>
            <a:r>
              <a:rPr lang="en-US" sz="605" b="1" i="0" dirty="0">
                <a:solidFill>
                  <a:srgbClr val="3A3A3E"/>
                </a:solidFill>
                <a:latin typeface="Arial"/>
              </a:rPr>
              <a:t>-</a:t>
            </a:r>
            <a:r>
              <a:rPr sz="605" b="1" i="0" dirty="0">
                <a:solidFill>
                  <a:srgbClr val="3A3A3E"/>
                </a:solidFill>
                <a:latin typeface="Arial"/>
              </a:rPr>
              <a:t>2030: </a:t>
            </a:r>
            <a:r>
              <a:rPr sz="605" b="1" i="0" dirty="0" err="1">
                <a:solidFill>
                  <a:srgbClr val="3A3A3E"/>
                </a:solidFill>
                <a:latin typeface="Arial"/>
              </a:rPr>
              <a:t>giá</a:t>
            </a:r>
            <a:r>
              <a:rPr sz="605" b="1" i="0" dirty="0">
                <a:solidFill>
                  <a:srgbClr val="3A3A3E"/>
                </a:solidFill>
                <a:latin typeface="Arial"/>
              </a:rPr>
              <a:t> </a:t>
            </a:r>
            <a:r>
              <a:rPr sz="605" b="1" i="0" dirty="0" err="1">
                <a:solidFill>
                  <a:srgbClr val="3A3A3E"/>
                </a:solidFill>
                <a:latin typeface="Arial"/>
              </a:rPr>
              <a:t>trị</a:t>
            </a:r>
            <a:r>
              <a:rPr sz="605" b="1" i="0" dirty="0">
                <a:solidFill>
                  <a:srgbClr val="3A3A3E"/>
                </a:solidFill>
                <a:latin typeface="Arial"/>
              </a:rPr>
              <a:t>, </a:t>
            </a:r>
            <a:r>
              <a:rPr sz="605" b="1" i="0" dirty="0" err="1">
                <a:solidFill>
                  <a:srgbClr val="3A3A3E"/>
                </a:solidFill>
                <a:latin typeface="Arial"/>
              </a:rPr>
              <a:t>mốc</a:t>
            </a:r>
            <a:r>
              <a:rPr sz="605" b="1" i="0" dirty="0">
                <a:solidFill>
                  <a:srgbClr val="3A3A3E"/>
                </a:solidFill>
                <a:latin typeface="Arial"/>
              </a:rPr>
              <a:t> </a:t>
            </a:r>
            <a:r>
              <a:rPr sz="605" b="1" i="0" dirty="0" err="1">
                <a:solidFill>
                  <a:srgbClr val="3A3A3E"/>
                </a:solidFill>
                <a:latin typeface="Arial"/>
              </a:rPr>
              <a:t>khởi</a:t>
            </a:r>
            <a:r>
              <a:rPr sz="605" b="1" i="0" dirty="0">
                <a:solidFill>
                  <a:srgbClr val="3A3A3E"/>
                </a:solidFill>
                <a:latin typeface="Arial"/>
              </a:rPr>
              <a:t> </a:t>
            </a:r>
            <a:r>
              <a:rPr sz="605" b="1" i="0" dirty="0" err="1">
                <a:solidFill>
                  <a:srgbClr val="3A3A3E"/>
                </a:solidFill>
                <a:latin typeface="Arial"/>
              </a:rPr>
              <a:t>công</a:t>
            </a:r>
            <a:r>
              <a:rPr sz="605" b="1" i="0" dirty="0">
                <a:solidFill>
                  <a:srgbClr val="3A3A3E"/>
                </a:solidFill>
                <a:latin typeface="Arial"/>
              </a:rPr>
              <a:t> </a:t>
            </a:r>
            <a:r>
              <a:rPr sz="605" b="1" i="0" dirty="0" err="1">
                <a:solidFill>
                  <a:srgbClr val="3A3A3E"/>
                </a:solidFill>
                <a:latin typeface="Arial"/>
              </a:rPr>
              <a:t>và</a:t>
            </a:r>
            <a:r>
              <a:rPr sz="605" b="1" i="0" dirty="0">
                <a:solidFill>
                  <a:srgbClr val="3A3A3E"/>
                </a:solidFill>
                <a:latin typeface="Arial"/>
              </a:rPr>
              <a:t> </a:t>
            </a:r>
            <a:r>
              <a:rPr sz="605" b="1" i="0" dirty="0" err="1">
                <a:solidFill>
                  <a:srgbClr val="3A3A3E"/>
                </a:solidFill>
                <a:latin typeface="Arial"/>
              </a:rPr>
              <a:t>hoàn</a:t>
            </a:r>
            <a:r>
              <a:rPr sz="605" b="1" i="0" dirty="0">
                <a:solidFill>
                  <a:srgbClr val="3A3A3E"/>
                </a:solidFill>
                <a:latin typeface="Arial"/>
              </a:rPr>
              <a:t> </a:t>
            </a:r>
            <a:r>
              <a:rPr sz="605" b="1" i="0" dirty="0" err="1">
                <a:solidFill>
                  <a:srgbClr val="3A3A3E"/>
                </a:solidFill>
                <a:latin typeface="Arial"/>
              </a:rPr>
              <a:t>thành</a:t>
            </a:r>
            <a:r>
              <a:rPr sz="605" b="1" i="0" dirty="0">
                <a:solidFill>
                  <a:srgbClr val="3A3A3E"/>
                </a:solidFill>
                <a:latin typeface="Arial"/>
              </a:rPr>
              <a:t> </a:t>
            </a:r>
            <a:r>
              <a:rPr sz="465" b="0" i="0" dirty="0">
                <a:solidFill>
                  <a:srgbClr val="8C8C91"/>
                </a:solidFill>
                <a:latin typeface="Arial"/>
              </a:rPr>
              <a:t>(</a:t>
            </a:r>
            <a:r>
              <a:rPr sz="465" b="0" i="0" dirty="0" err="1">
                <a:solidFill>
                  <a:srgbClr val="8C8C91"/>
                </a:solidFill>
                <a:latin typeface="Arial"/>
              </a:rPr>
              <a:t>thanh</a:t>
            </a:r>
            <a:r>
              <a:rPr sz="465" b="0" i="0" dirty="0">
                <a:solidFill>
                  <a:srgbClr val="8C8C91"/>
                </a:solidFill>
                <a:latin typeface="Arial"/>
              </a:rPr>
              <a:t> = </a:t>
            </a:r>
            <a:r>
              <a:rPr sz="465" b="0" i="0" dirty="0" err="1">
                <a:solidFill>
                  <a:srgbClr val="8C8C91"/>
                </a:solidFill>
                <a:latin typeface="Arial"/>
              </a:rPr>
              <a:t>giai</a:t>
            </a:r>
            <a:r>
              <a:rPr sz="465" b="0" i="0" dirty="0">
                <a:solidFill>
                  <a:srgbClr val="8C8C91"/>
                </a:solidFill>
                <a:latin typeface="Arial"/>
              </a:rPr>
              <a:t> </a:t>
            </a:r>
            <a:r>
              <a:rPr sz="465" b="0" i="0" dirty="0" err="1">
                <a:solidFill>
                  <a:srgbClr val="8C8C91"/>
                </a:solidFill>
                <a:latin typeface="Arial"/>
              </a:rPr>
              <a:t>đoạn</a:t>
            </a:r>
            <a:r>
              <a:rPr sz="465" b="0" i="0" dirty="0">
                <a:solidFill>
                  <a:srgbClr val="8C8C91"/>
                </a:solidFill>
                <a:latin typeface="Arial"/>
              </a:rPr>
              <a:t> </a:t>
            </a:r>
            <a:r>
              <a:rPr sz="465" b="0" i="0" dirty="0" err="1">
                <a:solidFill>
                  <a:srgbClr val="8C8C91"/>
                </a:solidFill>
                <a:latin typeface="Arial"/>
              </a:rPr>
              <a:t>thi</a:t>
            </a:r>
            <a:r>
              <a:rPr sz="465" b="0" i="0" dirty="0">
                <a:solidFill>
                  <a:srgbClr val="8C8C91"/>
                </a:solidFill>
                <a:latin typeface="Arial"/>
              </a:rPr>
              <a:t> </a:t>
            </a:r>
            <a:r>
              <a:rPr sz="465" b="0" i="0" dirty="0" err="1">
                <a:solidFill>
                  <a:srgbClr val="8C8C91"/>
                </a:solidFill>
                <a:latin typeface="Arial"/>
              </a:rPr>
              <a:t>công</a:t>
            </a:r>
            <a:r>
              <a:rPr sz="465" b="0" i="0" dirty="0">
                <a:solidFill>
                  <a:srgbClr val="8C8C91"/>
                </a:solidFill>
                <a:latin typeface="Arial"/>
              </a:rPr>
              <a:t>; </a:t>
            </a:r>
            <a:r>
              <a:rPr sz="465" b="0" i="0" dirty="0" err="1">
                <a:solidFill>
                  <a:srgbClr val="8C8C91"/>
                </a:solidFill>
                <a:latin typeface="Arial"/>
              </a:rPr>
              <a:t>nền</a:t>
            </a:r>
            <a:r>
              <a:rPr sz="465" b="0" i="0" dirty="0">
                <a:solidFill>
                  <a:srgbClr val="8C8C91"/>
                </a:solidFill>
                <a:latin typeface="Arial"/>
              </a:rPr>
              <a:t> </a:t>
            </a:r>
            <a:r>
              <a:rPr sz="465" b="0" i="0" dirty="0" err="1">
                <a:solidFill>
                  <a:srgbClr val="8C8C91"/>
                </a:solidFill>
                <a:latin typeface="Arial"/>
              </a:rPr>
              <a:t>xanh</a:t>
            </a:r>
            <a:r>
              <a:rPr sz="465" b="0" i="0" dirty="0">
                <a:solidFill>
                  <a:srgbClr val="8C8C91"/>
                </a:solidFill>
                <a:latin typeface="Arial"/>
              </a:rPr>
              <a:t> = </a:t>
            </a:r>
            <a:r>
              <a:rPr sz="465" b="0" i="0" dirty="0" err="1">
                <a:solidFill>
                  <a:srgbClr val="8C8C91"/>
                </a:solidFill>
                <a:latin typeface="Arial"/>
              </a:rPr>
              <a:t>kế</a:t>
            </a:r>
            <a:r>
              <a:rPr sz="465" b="0" i="0" dirty="0">
                <a:solidFill>
                  <a:srgbClr val="8C8C91"/>
                </a:solidFill>
                <a:latin typeface="Arial"/>
              </a:rPr>
              <a:t> </a:t>
            </a:r>
            <a:r>
              <a:rPr sz="465" b="0" i="0" dirty="0" err="1">
                <a:solidFill>
                  <a:srgbClr val="8C8C91"/>
                </a:solidFill>
                <a:latin typeface="Arial"/>
              </a:rPr>
              <a:t>hoạch</a:t>
            </a:r>
            <a:r>
              <a:rPr sz="465" b="0" i="0" dirty="0">
                <a:solidFill>
                  <a:srgbClr val="8C8C91"/>
                </a:solidFill>
                <a:latin typeface="Arial"/>
              </a:rPr>
              <a:t> </a:t>
            </a:r>
            <a:r>
              <a:rPr sz="465" b="0" i="0" dirty="0" err="1">
                <a:solidFill>
                  <a:srgbClr val="8C8C91"/>
                </a:solidFill>
                <a:latin typeface="Arial"/>
              </a:rPr>
              <a:t>đầu</a:t>
            </a:r>
            <a:r>
              <a:rPr sz="465" b="0" i="0" dirty="0">
                <a:solidFill>
                  <a:srgbClr val="8C8C91"/>
                </a:solidFill>
                <a:latin typeface="Arial"/>
              </a:rPr>
              <a:t> </a:t>
            </a:r>
            <a:r>
              <a:rPr sz="465" b="0" i="0" dirty="0" err="1">
                <a:solidFill>
                  <a:srgbClr val="8C8C91"/>
                </a:solidFill>
                <a:latin typeface="Arial"/>
              </a:rPr>
              <a:t>tư</a:t>
            </a:r>
            <a:r>
              <a:rPr sz="465" b="0" i="0" dirty="0">
                <a:solidFill>
                  <a:srgbClr val="8C8C91"/>
                </a:solidFill>
                <a:latin typeface="Arial"/>
              </a:rPr>
              <a:t> </a:t>
            </a:r>
            <a:r>
              <a:rPr sz="465" b="0" i="0" dirty="0" err="1">
                <a:solidFill>
                  <a:srgbClr val="8C8C91"/>
                </a:solidFill>
                <a:latin typeface="Arial"/>
              </a:rPr>
              <a:t>công</a:t>
            </a:r>
            <a:r>
              <a:rPr sz="465" b="0" i="0" dirty="0">
                <a:solidFill>
                  <a:srgbClr val="8C8C91"/>
                </a:solidFill>
                <a:latin typeface="Arial"/>
              </a:rPr>
              <a:t> ~1,800 </a:t>
            </a:r>
            <a:r>
              <a:rPr sz="465" b="0" i="0" dirty="0" err="1">
                <a:solidFill>
                  <a:srgbClr val="8C8C91"/>
                </a:solidFill>
                <a:latin typeface="Arial"/>
              </a:rPr>
              <a:t>nghìn</a:t>
            </a:r>
            <a:r>
              <a:rPr sz="465" b="0" i="0" dirty="0">
                <a:solidFill>
                  <a:srgbClr val="8C8C91"/>
                </a:solidFill>
                <a:latin typeface="Arial"/>
              </a:rPr>
              <a:t> </a:t>
            </a:r>
            <a:r>
              <a:rPr sz="465" b="0" i="0" dirty="0" err="1">
                <a:solidFill>
                  <a:srgbClr val="8C8C91"/>
                </a:solidFill>
                <a:latin typeface="Arial"/>
              </a:rPr>
              <a:t>tỷ</a:t>
            </a:r>
            <a:r>
              <a:rPr sz="465" b="0" i="0" dirty="0">
                <a:solidFill>
                  <a:srgbClr val="8C8C91"/>
                </a:solidFill>
                <a:latin typeface="Arial"/>
              </a:rPr>
              <a:t>/</a:t>
            </a:r>
            <a:r>
              <a:rPr sz="465" b="0" i="0" dirty="0" err="1">
                <a:solidFill>
                  <a:srgbClr val="8C8C91"/>
                </a:solidFill>
                <a:latin typeface="Arial"/>
              </a:rPr>
              <a:t>năm</a:t>
            </a:r>
            <a:r>
              <a:rPr sz="465" b="0" i="0" dirty="0">
                <a:solidFill>
                  <a:srgbClr val="8C8C91"/>
                </a:solidFill>
                <a:latin typeface="Arial"/>
              </a:rPr>
              <a:t>)</a:t>
            </a:r>
          </a:p>
        </p:txBody>
      </p:sp>
      <p:sp>
        <p:nvSpPr>
          <p:cNvPr id="36" name="TextBox 35"/>
          <p:cNvSpPr txBox="1"/>
          <p:nvPr/>
        </p:nvSpPr>
        <p:spPr>
          <a:xfrm>
            <a:off x="230344" y="6813598"/>
            <a:ext cx="7170188"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Cổng</a:t>
            </a:r>
            <a:r>
              <a:rPr sz="442" b="0" i="1" dirty="0">
                <a:solidFill>
                  <a:srgbClr val="8C8C91"/>
                </a:solidFill>
                <a:latin typeface="Arial"/>
              </a:rPr>
              <a:t> TTĐT </a:t>
            </a:r>
            <a:r>
              <a:rPr sz="442" b="0" i="1" dirty="0" err="1">
                <a:solidFill>
                  <a:srgbClr val="8C8C91"/>
                </a:solidFill>
                <a:latin typeface="Arial"/>
              </a:rPr>
              <a:t>Chính</a:t>
            </a:r>
            <a:r>
              <a:rPr sz="442" b="0" i="1" dirty="0">
                <a:solidFill>
                  <a:srgbClr val="8C8C91"/>
                </a:solidFill>
                <a:latin typeface="Arial"/>
              </a:rPr>
              <a:t> </a:t>
            </a:r>
            <a:r>
              <a:rPr sz="442" b="0" i="1" dirty="0" err="1">
                <a:solidFill>
                  <a:srgbClr val="8C8C91"/>
                </a:solidFill>
                <a:latin typeface="Arial"/>
              </a:rPr>
              <a:t>phủ</a:t>
            </a:r>
            <a:r>
              <a:rPr sz="442" b="0" i="1" dirty="0">
                <a:solidFill>
                  <a:srgbClr val="8C8C91"/>
                </a:solidFill>
                <a:latin typeface="Arial"/>
              </a:rPr>
              <a:t>, </a:t>
            </a:r>
            <a:r>
              <a:rPr sz="442" b="0" i="1" dirty="0" err="1">
                <a:solidFill>
                  <a:srgbClr val="8C8C91"/>
                </a:solidFill>
                <a:latin typeface="Arial"/>
              </a:rPr>
              <a:t>Bộ</a:t>
            </a:r>
            <a:r>
              <a:rPr sz="442" b="0" i="1" dirty="0">
                <a:solidFill>
                  <a:srgbClr val="8C8C91"/>
                </a:solidFill>
                <a:latin typeface="Arial"/>
              </a:rPr>
              <a:t> </a:t>
            </a:r>
            <a:r>
              <a:rPr sz="442" b="0" i="1" dirty="0" err="1">
                <a:solidFill>
                  <a:srgbClr val="8C8C91"/>
                </a:solidFill>
                <a:latin typeface="Arial"/>
              </a:rPr>
              <a:t>Xây</a:t>
            </a:r>
            <a:r>
              <a:rPr sz="442" b="0" i="1" dirty="0">
                <a:solidFill>
                  <a:srgbClr val="8C8C91"/>
                </a:solidFill>
                <a:latin typeface="Arial"/>
              </a:rPr>
              <a:t> </a:t>
            </a:r>
            <a:r>
              <a:rPr sz="442" b="0" i="1" dirty="0" err="1">
                <a:solidFill>
                  <a:srgbClr val="8C8C91"/>
                </a:solidFill>
                <a:latin typeface="Arial"/>
              </a:rPr>
              <a:t>dựng</a:t>
            </a:r>
            <a:r>
              <a:rPr sz="442" b="0" i="1" dirty="0">
                <a:solidFill>
                  <a:srgbClr val="8C8C91"/>
                </a:solidFill>
                <a:latin typeface="Arial"/>
              </a:rPr>
              <a:t>, UBND </a:t>
            </a:r>
            <a:r>
              <a:rPr sz="442" b="0" i="1" dirty="0" err="1">
                <a:solidFill>
                  <a:srgbClr val="8C8C91"/>
                </a:solidFill>
                <a:latin typeface="Arial"/>
              </a:rPr>
              <a:t>Bắc</a:t>
            </a:r>
            <a:r>
              <a:rPr sz="442" b="0" i="1" dirty="0">
                <a:solidFill>
                  <a:srgbClr val="8C8C91"/>
                </a:solidFill>
                <a:latin typeface="Arial"/>
              </a:rPr>
              <a:t> </a:t>
            </a:r>
            <a:r>
              <a:rPr sz="442" b="0" i="1" dirty="0" err="1">
                <a:solidFill>
                  <a:srgbClr val="8C8C91"/>
                </a:solidFill>
                <a:latin typeface="Arial"/>
              </a:rPr>
              <a:t>Ninh</a:t>
            </a:r>
            <a:r>
              <a:rPr sz="442" b="0" i="1" dirty="0">
                <a:solidFill>
                  <a:srgbClr val="8C8C91"/>
                </a:solidFill>
                <a:latin typeface="Arial"/>
              </a:rPr>
              <a:t> </a:t>
            </a:r>
            <a:r>
              <a:rPr sz="442" b="0" i="1" dirty="0" err="1">
                <a:solidFill>
                  <a:srgbClr val="8C8C91"/>
                </a:solidFill>
                <a:latin typeface="Arial"/>
              </a:rPr>
              <a:t>và</a:t>
            </a:r>
            <a:r>
              <a:rPr sz="442" b="0" i="1" dirty="0">
                <a:solidFill>
                  <a:srgbClr val="8C8C91"/>
                </a:solidFill>
                <a:latin typeface="Arial"/>
              </a:rPr>
              <a:t> TP.HCM, </a:t>
            </a:r>
            <a:r>
              <a:rPr sz="442" b="0" i="1" dirty="0" err="1">
                <a:solidFill>
                  <a:srgbClr val="8C8C91"/>
                </a:solidFill>
                <a:latin typeface="Arial"/>
              </a:rPr>
              <a:t>VnEconomy</a:t>
            </a:r>
            <a:r>
              <a:rPr sz="442" b="0" i="1" dirty="0">
                <a:solidFill>
                  <a:srgbClr val="8C8C91"/>
                </a:solidFill>
                <a:latin typeface="Arial"/>
              </a:rPr>
              <a:t>, </a:t>
            </a:r>
            <a:r>
              <a:rPr sz="442" b="0" i="1" dirty="0" err="1">
                <a:solidFill>
                  <a:srgbClr val="8C8C91"/>
                </a:solidFill>
                <a:latin typeface="Arial"/>
              </a:rPr>
              <a:t>Vietstock</a:t>
            </a:r>
            <a:r>
              <a:rPr sz="442" b="0" i="1" dirty="0">
                <a:solidFill>
                  <a:srgbClr val="8C8C91"/>
                </a:solidFill>
                <a:latin typeface="Arial"/>
              </a:rPr>
              <a:t>, pitchbook </a:t>
            </a:r>
            <a:r>
              <a:rPr sz="442" b="0" i="1" dirty="0" err="1">
                <a:solidFill>
                  <a:srgbClr val="8C8C91"/>
                </a:solidFill>
                <a:latin typeface="Arial"/>
              </a:rPr>
              <a:t>Hình</a:t>
            </a:r>
            <a:r>
              <a:rPr sz="442" b="0" i="1" dirty="0">
                <a:solidFill>
                  <a:srgbClr val="8C8C91"/>
                </a:solidFill>
                <a:latin typeface="Arial"/>
              </a:rPr>
              <a:t> 5. Metro 2: 5</a:t>
            </a:r>
            <a:r>
              <a:rPr lang="en-US" sz="442" b="0" i="1" dirty="0">
                <a:solidFill>
                  <a:srgbClr val="8C8C91"/>
                </a:solidFill>
                <a:latin typeface="Arial"/>
              </a:rPr>
              <a:t>-</a:t>
            </a:r>
            <a:r>
              <a:rPr sz="442" b="0" i="1" dirty="0">
                <a:solidFill>
                  <a:srgbClr val="8C8C91"/>
                </a:solidFill>
                <a:latin typeface="Arial"/>
              </a:rPr>
              <a:t>7 </a:t>
            </a:r>
            <a:r>
              <a:rPr sz="442" b="0" i="1" dirty="0" err="1">
                <a:solidFill>
                  <a:srgbClr val="8C8C91"/>
                </a:solidFill>
                <a:latin typeface="Arial"/>
              </a:rPr>
              <a:t>năm</a:t>
            </a:r>
            <a:r>
              <a:rPr sz="442" b="0" i="1" dirty="0">
                <a:solidFill>
                  <a:srgbClr val="8C8C91"/>
                </a:solidFill>
                <a:latin typeface="Arial"/>
              </a:rPr>
              <a:t> (</a:t>
            </a:r>
            <a:r>
              <a:rPr sz="442" b="0" i="1" dirty="0" err="1">
                <a:solidFill>
                  <a:srgbClr val="8C8C91"/>
                </a:solidFill>
                <a:latin typeface="Arial"/>
              </a:rPr>
              <a:t>đường</a:t>
            </a:r>
            <a:r>
              <a:rPr sz="442" b="0" i="1" dirty="0">
                <a:solidFill>
                  <a:srgbClr val="8C8C91"/>
                </a:solidFill>
                <a:latin typeface="Arial"/>
              </a:rPr>
              <a:t> </a:t>
            </a:r>
            <a:r>
              <a:rPr sz="442" b="0" i="1" dirty="0" err="1">
                <a:solidFill>
                  <a:srgbClr val="8C8C91"/>
                </a:solidFill>
                <a:latin typeface="Arial"/>
              </a:rPr>
              <a:t>đứt</a:t>
            </a:r>
            <a:r>
              <a:rPr sz="442" b="0" i="1" dirty="0">
                <a:solidFill>
                  <a:srgbClr val="8C8C91"/>
                </a:solidFill>
                <a:latin typeface="Arial"/>
              </a:rPr>
              <a:t>). ĐSTĐC: </a:t>
            </a:r>
            <a:r>
              <a:rPr sz="442" b="0" i="1" dirty="0" err="1">
                <a:solidFill>
                  <a:srgbClr val="8C8C91"/>
                </a:solidFill>
                <a:latin typeface="Arial"/>
              </a:rPr>
              <a:t>mốc</a:t>
            </a:r>
            <a:r>
              <a:rPr sz="442" b="0" i="1" dirty="0">
                <a:solidFill>
                  <a:srgbClr val="8C8C91"/>
                </a:solidFill>
                <a:latin typeface="Arial"/>
              </a:rPr>
              <a:t> 12/2027 </a:t>
            </a:r>
            <a:r>
              <a:rPr sz="442" b="0" i="1" dirty="0" err="1">
                <a:solidFill>
                  <a:srgbClr val="8C8C91"/>
                </a:solidFill>
                <a:latin typeface="Arial"/>
              </a:rPr>
              <a:t>theo</a:t>
            </a:r>
            <a:r>
              <a:rPr sz="442" b="0" i="1" dirty="0">
                <a:solidFill>
                  <a:srgbClr val="8C8C91"/>
                </a:solidFill>
                <a:latin typeface="Arial"/>
              </a:rPr>
              <a:t> pitchbook, </a:t>
            </a:r>
            <a:r>
              <a:rPr sz="442" b="0" i="1" dirty="0" err="1">
                <a:solidFill>
                  <a:srgbClr val="8C8C91"/>
                </a:solidFill>
                <a:latin typeface="Arial"/>
              </a:rPr>
              <a:t>một</a:t>
            </a:r>
            <a:r>
              <a:rPr sz="442" b="0" i="1" dirty="0">
                <a:solidFill>
                  <a:srgbClr val="8C8C91"/>
                </a:solidFill>
                <a:latin typeface="Arial"/>
              </a:rPr>
              <a:t> </a:t>
            </a:r>
            <a:r>
              <a:rPr sz="442" b="0" i="1" dirty="0" err="1">
                <a:solidFill>
                  <a:srgbClr val="8C8C91"/>
                </a:solidFill>
                <a:latin typeface="Arial"/>
              </a:rPr>
              <a:t>số</a:t>
            </a:r>
            <a:r>
              <a:rPr sz="442" b="0" i="1" dirty="0">
                <a:solidFill>
                  <a:srgbClr val="8C8C91"/>
                </a:solidFill>
                <a:latin typeface="Arial"/>
              </a:rPr>
              <a:t> </a:t>
            </a: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nêu</a:t>
            </a:r>
            <a:r>
              <a:rPr sz="442" b="0" i="1" dirty="0">
                <a:solidFill>
                  <a:srgbClr val="8C8C91"/>
                </a:solidFill>
                <a:latin typeface="Arial"/>
              </a:rPr>
              <a:t> </a:t>
            </a:r>
            <a:r>
              <a:rPr sz="442" b="0" i="1" dirty="0" err="1">
                <a:solidFill>
                  <a:srgbClr val="8C8C91"/>
                </a:solidFill>
                <a:latin typeface="Arial"/>
              </a:rPr>
              <a:t>cuối</a:t>
            </a:r>
            <a:r>
              <a:rPr sz="442" b="0" i="1" dirty="0">
                <a:solidFill>
                  <a:srgbClr val="8C8C91"/>
                </a:solidFill>
                <a:latin typeface="Arial"/>
              </a:rPr>
              <a:t> 2026.</a:t>
            </a:r>
          </a:p>
        </p:txBody>
      </p:sp>
      <p:sp>
        <p:nvSpPr>
          <p:cNvPr id="37" name="TextBox 36"/>
          <p:cNvSpPr txBox="1"/>
          <p:nvPr/>
        </p:nvSpPr>
        <p:spPr>
          <a:xfrm>
            <a:off x="230344" y="7761089"/>
            <a:ext cx="7170188"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tổng</a:t>
            </a:r>
            <a:r>
              <a:rPr sz="442" b="0" i="1" dirty="0">
                <a:solidFill>
                  <a:srgbClr val="8C8C91"/>
                </a:solidFill>
                <a:latin typeface="Arial"/>
              </a:rPr>
              <a:t> </a:t>
            </a:r>
            <a:r>
              <a:rPr sz="442" b="0" i="1" dirty="0" err="1">
                <a:solidFill>
                  <a:srgbClr val="8C8C91"/>
                </a:solidFill>
                <a:latin typeface="Arial"/>
              </a:rPr>
              <a:t>hợp</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a:t>
            </a:r>
            <a:r>
              <a:rPr sz="442" b="0" i="1" dirty="0" err="1">
                <a:solidFill>
                  <a:srgbClr val="8C8C91"/>
                </a:solidFill>
                <a:latin typeface="Arial"/>
              </a:rPr>
              <a:t>từ</a:t>
            </a:r>
            <a:r>
              <a:rPr sz="442" b="0" i="1" dirty="0">
                <a:solidFill>
                  <a:srgbClr val="8C8C91"/>
                </a:solidFill>
                <a:latin typeface="Arial"/>
              </a:rPr>
              <a:t> </a:t>
            </a:r>
            <a:r>
              <a:rPr sz="442" b="0" i="1" dirty="0" err="1">
                <a:solidFill>
                  <a:srgbClr val="8C8C91"/>
                </a:solidFill>
                <a:latin typeface="Arial"/>
              </a:rPr>
              <a:t>Chính</a:t>
            </a:r>
            <a:r>
              <a:rPr sz="442" b="0" i="1" dirty="0">
                <a:solidFill>
                  <a:srgbClr val="8C8C91"/>
                </a:solidFill>
                <a:latin typeface="Arial"/>
              </a:rPr>
              <a:t> </a:t>
            </a:r>
            <a:r>
              <a:rPr sz="442" b="0" i="1" dirty="0" err="1">
                <a:solidFill>
                  <a:srgbClr val="8C8C91"/>
                </a:solidFill>
                <a:latin typeface="Arial"/>
              </a:rPr>
              <a:t>phủ</a:t>
            </a:r>
            <a:r>
              <a:rPr sz="442" b="0" i="1" dirty="0">
                <a:solidFill>
                  <a:srgbClr val="8C8C91"/>
                </a:solidFill>
                <a:latin typeface="Arial"/>
              </a:rPr>
              <a:t>, </a:t>
            </a:r>
            <a:r>
              <a:rPr sz="442" b="0" i="1" dirty="0" err="1">
                <a:solidFill>
                  <a:srgbClr val="8C8C91"/>
                </a:solidFill>
                <a:latin typeface="Arial"/>
              </a:rPr>
              <a:t>Bộ</a:t>
            </a:r>
            <a:r>
              <a:rPr sz="442" b="0" i="1" dirty="0">
                <a:solidFill>
                  <a:srgbClr val="8C8C91"/>
                </a:solidFill>
                <a:latin typeface="Arial"/>
              </a:rPr>
              <a:t> </a:t>
            </a:r>
            <a:r>
              <a:rPr sz="442" b="0" i="1" dirty="0" err="1">
                <a:solidFill>
                  <a:srgbClr val="8C8C91"/>
                </a:solidFill>
                <a:latin typeface="Arial"/>
              </a:rPr>
              <a:t>Xây</a:t>
            </a:r>
            <a:r>
              <a:rPr sz="442" b="0" i="1" dirty="0">
                <a:solidFill>
                  <a:srgbClr val="8C8C91"/>
                </a:solidFill>
                <a:latin typeface="Arial"/>
              </a:rPr>
              <a:t> </a:t>
            </a:r>
            <a:r>
              <a:rPr sz="442" b="0" i="1" dirty="0" err="1">
                <a:solidFill>
                  <a:srgbClr val="8C8C91"/>
                </a:solidFill>
                <a:latin typeface="Arial"/>
              </a:rPr>
              <a:t>dựng</a:t>
            </a:r>
            <a:r>
              <a:rPr sz="442" b="0" i="1" dirty="0">
                <a:solidFill>
                  <a:srgbClr val="8C8C91"/>
                </a:solidFill>
                <a:latin typeface="Arial"/>
              </a:rPr>
              <a:t>, UBND </a:t>
            </a:r>
            <a:r>
              <a:rPr sz="442" b="0" i="1" dirty="0" err="1">
                <a:solidFill>
                  <a:srgbClr val="8C8C91"/>
                </a:solidFill>
                <a:latin typeface="Arial"/>
              </a:rPr>
              <a:t>các</a:t>
            </a:r>
            <a:r>
              <a:rPr sz="442" b="0" i="1" dirty="0">
                <a:solidFill>
                  <a:srgbClr val="8C8C91"/>
                </a:solidFill>
                <a:latin typeface="Arial"/>
              </a:rPr>
              <a:t> </a:t>
            </a:r>
            <a:r>
              <a:rPr sz="442" b="0" i="1" dirty="0" err="1">
                <a:solidFill>
                  <a:srgbClr val="8C8C91"/>
                </a:solidFill>
                <a:latin typeface="Arial"/>
              </a:rPr>
              <a:t>địa</a:t>
            </a:r>
            <a:r>
              <a:rPr sz="442" b="0" i="1" dirty="0">
                <a:solidFill>
                  <a:srgbClr val="8C8C91"/>
                </a:solidFill>
                <a:latin typeface="Arial"/>
              </a:rPr>
              <a:t> </a:t>
            </a:r>
            <a:r>
              <a:rPr sz="442" b="0" i="1" dirty="0" err="1">
                <a:solidFill>
                  <a:srgbClr val="8C8C91"/>
                </a:solidFill>
                <a:latin typeface="Arial"/>
              </a:rPr>
              <a:t>phương</a:t>
            </a:r>
            <a:r>
              <a:rPr sz="442" b="0" i="1" dirty="0">
                <a:solidFill>
                  <a:srgbClr val="8C8C91"/>
                </a:solidFill>
                <a:latin typeface="Arial"/>
              </a:rPr>
              <a:t>; </a:t>
            </a:r>
            <a:r>
              <a:rPr sz="442" b="0" i="1" dirty="0" err="1">
                <a:solidFill>
                  <a:srgbClr val="8C8C91"/>
                </a:solidFill>
                <a:latin typeface="Arial"/>
              </a:rPr>
              <a:t>giá</a:t>
            </a:r>
            <a:r>
              <a:rPr sz="442" b="0" i="1" dirty="0">
                <a:solidFill>
                  <a:srgbClr val="8C8C91"/>
                </a:solidFill>
                <a:latin typeface="Arial"/>
              </a:rPr>
              <a:t> </a:t>
            </a:r>
            <a:r>
              <a:rPr sz="442" b="0" i="1" dirty="0" err="1">
                <a:solidFill>
                  <a:srgbClr val="8C8C91"/>
                </a:solidFill>
                <a:latin typeface="Arial"/>
              </a:rPr>
              <a:t>trị</a:t>
            </a:r>
            <a:r>
              <a:rPr sz="442" b="0" i="1" dirty="0">
                <a:solidFill>
                  <a:srgbClr val="8C8C91"/>
                </a:solidFill>
                <a:latin typeface="Arial"/>
              </a:rPr>
              <a:t> </a:t>
            </a:r>
            <a:r>
              <a:rPr sz="442" b="0" i="1" dirty="0" err="1">
                <a:solidFill>
                  <a:srgbClr val="8C8C91"/>
                </a:solidFill>
                <a:latin typeface="Arial"/>
              </a:rPr>
              <a:t>Nội</a:t>
            </a:r>
            <a:r>
              <a:rPr sz="442" b="0" i="1" dirty="0">
                <a:solidFill>
                  <a:srgbClr val="8C8C91"/>
                </a:solidFill>
                <a:latin typeface="Arial"/>
              </a:rPr>
              <a:t> </a:t>
            </a:r>
            <a:r>
              <a:rPr sz="442" b="0" i="1" dirty="0" err="1">
                <a:solidFill>
                  <a:srgbClr val="8C8C91"/>
                </a:solidFill>
                <a:latin typeface="Arial"/>
              </a:rPr>
              <a:t>Bài</a:t>
            </a:r>
            <a:r>
              <a:rPr sz="442" b="0" i="1" dirty="0">
                <a:solidFill>
                  <a:srgbClr val="8C8C91"/>
                </a:solidFill>
                <a:latin typeface="Arial"/>
              </a:rPr>
              <a:t> T2, </a:t>
            </a:r>
            <a:r>
              <a:rPr sz="442" b="0" i="1" dirty="0" err="1">
                <a:solidFill>
                  <a:srgbClr val="8C8C91"/>
                </a:solidFill>
                <a:latin typeface="Arial"/>
              </a:rPr>
              <a:t>Tân</a:t>
            </a:r>
            <a:r>
              <a:rPr sz="442" b="0" i="1" dirty="0">
                <a:solidFill>
                  <a:srgbClr val="8C8C91"/>
                </a:solidFill>
                <a:latin typeface="Arial"/>
              </a:rPr>
              <a:t> </a:t>
            </a:r>
            <a:r>
              <a:rPr sz="442" b="0" i="1" dirty="0" err="1">
                <a:solidFill>
                  <a:srgbClr val="8C8C91"/>
                </a:solidFill>
                <a:latin typeface="Arial"/>
              </a:rPr>
              <a:t>Sơn</a:t>
            </a:r>
            <a:r>
              <a:rPr sz="442" b="0" i="1" dirty="0">
                <a:solidFill>
                  <a:srgbClr val="8C8C91"/>
                </a:solidFill>
                <a:latin typeface="Arial"/>
              </a:rPr>
              <a:t> </a:t>
            </a:r>
            <a:r>
              <a:rPr sz="442" b="0" i="1" dirty="0" err="1">
                <a:solidFill>
                  <a:srgbClr val="8C8C91"/>
                </a:solidFill>
                <a:latin typeface="Arial"/>
              </a:rPr>
              <a:t>Nhất</a:t>
            </a:r>
            <a:r>
              <a:rPr sz="442" b="0" i="1" dirty="0">
                <a:solidFill>
                  <a:srgbClr val="8C8C91"/>
                </a:solidFill>
                <a:latin typeface="Arial"/>
              </a:rPr>
              <a:t> T3 </a:t>
            </a:r>
            <a:r>
              <a:rPr sz="442" b="0" i="1" dirty="0" err="1">
                <a:solidFill>
                  <a:srgbClr val="8C8C91"/>
                </a:solidFill>
                <a:latin typeface="Arial"/>
              </a:rPr>
              <a:t>và</a:t>
            </a:r>
            <a:r>
              <a:rPr sz="442" b="0" i="1" dirty="0">
                <a:solidFill>
                  <a:srgbClr val="8C8C91"/>
                </a:solidFill>
                <a:latin typeface="Arial"/>
              </a:rPr>
              <a:t> Metro </a:t>
            </a:r>
            <a:r>
              <a:rPr sz="442" b="0" i="1" dirty="0" err="1">
                <a:solidFill>
                  <a:srgbClr val="8C8C91"/>
                </a:solidFill>
                <a:latin typeface="Arial"/>
              </a:rPr>
              <a:t>Bến</a:t>
            </a:r>
            <a:r>
              <a:rPr sz="442" b="0" i="1" dirty="0">
                <a:solidFill>
                  <a:srgbClr val="8C8C91"/>
                </a:solidFill>
                <a:latin typeface="Arial"/>
              </a:rPr>
              <a:t> </a:t>
            </a:r>
            <a:r>
              <a:rPr sz="442" b="0" i="1" dirty="0" err="1">
                <a:solidFill>
                  <a:srgbClr val="8C8C91"/>
                </a:solidFill>
                <a:latin typeface="Arial"/>
              </a:rPr>
              <a:t>Thành</a:t>
            </a:r>
            <a:r>
              <a:rPr sz="442" b="0" i="1" dirty="0">
                <a:solidFill>
                  <a:srgbClr val="8C8C91"/>
                </a:solidFill>
                <a:latin typeface="Arial"/>
              </a:rPr>
              <a:t> </a:t>
            </a:r>
            <a:r>
              <a:rPr lang="en-US" sz="442" b="0" i="1" dirty="0">
                <a:solidFill>
                  <a:srgbClr val="8C8C91"/>
                </a:solidFill>
                <a:latin typeface="Arial"/>
              </a:rPr>
              <a:t>-</a:t>
            </a:r>
            <a:r>
              <a:rPr sz="442" b="0" i="1" dirty="0">
                <a:solidFill>
                  <a:srgbClr val="8C8C91"/>
                </a:solidFill>
                <a:latin typeface="Arial"/>
              </a:rPr>
              <a:t> </a:t>
            </a:r>
            <a:r>
              <a:rPr sz="442" b="0" i="1" dirty="0" err="1">
                <a:solidFill>
                  <a:srgbClr val="8C8C91"/>
                </a:solidFill>
                <a:latin typeface="Arial"/>
              </a:rPr>
              <a:t>Thủ</a:t>
            </a:r>
            <a:r>
              <a:rPr sz="442" b="0" i="1" dirty="0">
                <a:solidFill>
                  <a:srgbClr val="8C8C91"/>
                </a:solidFill>
                <a:latin typeface="Arial"/>
              </a:rPr>
              <a:t> </a:t>
            </a:r>
            <a:r>
              <a:rPr sz="442" b="0" i="1" dirty="0" err="1">
                <a:solidFill>
                  <a:srgbClr val="8C8C91"/>
                </a:solidFill>
                <a:latin typeface="Arial"/>
              </a:rPr>
              <a:t>Thiêm</a:t>
            </a:r>
            <a:r>
              <a:rPr sz="442" b="0" i="1" dirty="0">
                <a:solidFill>
                  <a:srgbClr val="8C8C91"/>
                </a:solidFill>
                <a:latin typeface="Arial"/>
              </a:rPr>
              <a:t> </a:t>
            </a:r>
            <a:r>
              <a:rPr sz="442" b="0" i="1" dirty="0" err="1">
                <a:solidFill>
                  <a:srgbClr val="8C8C91"/>
                </a:solidFill>
                <a:latin typeface="Arial"/>
              </a:rPr>
              <a:t>chưa</a:t>
            </a:r>
            <a:r>
              <a:rPr sz="442" b="0" i="1" dirty="0">
                <a:solidFill>
                  <a:srgbClr val="8C8C91"/>
                </a:solidFill>
                <a:latin typeface="Arial"/>
              </a:rPr>
              <a:t> </a:t>
            </a:r>
            <a:r>
              <a:rPr sz="442" b="0" i="1" dirty="0" err="1">
                <a:solidFill>
                  <a:srgbClr val="8C8C91"/>
                </a:solidFill>
                <a:latin typeface="Arial"/>
              </a:rPr>
              <a:t>có</a:t>
            </a:r>
            <a:r>
              <a:rPr sz="442" b="0" i="1" dirty="0">
                <a:solidFill>
                  <a:srgbClr val="8C8C91"/>
                </a:solidFill>
                <a:latin typeface="Arial"/>
              </a:rPr>
              <a:t> </a:t>
            </a: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đủ</a:t>
            </a:r>
            <a:r>
              <a:rPr sz="442" b="0" i="1" dirty="0">
                <a:solidFill>
                  <a:srgbClr val="8C8C91"/>
                </a:solidFill>
                <a:latin typeface="Arial"/>
              </a:rPr>
              <a:t> tin </a:t>
            </a:r>
            <a:r>
              <a:rPr sz="442" b="0" i="1" dirty="0" err="1">
                <a:solidFill>
                  <a:srgbClr val="8C8C91"/>
                </a:solidFill>
                <a:latin typeface="Arial"/>
              </a:rPr>
              <a:t>cậy</a:t>
            </a:r>
            <a:r>
              <a:rPr sz="442" b="0" i="1" dirty="0">
                <a:solidFill>
                  <a:srgbClr val="8C8C91"/>
                </a:solidFill>
                <a:latin typeface="Arial"/>
              </a:rPr>
              <a:t> </a:t>
            </a:r>
            <a:r>
              <a:rPr sz="442" b="0" i="1" dirty="0" err="1">
                <a:solidFill>
                  <a:srgbClr val="8C8C91"/>
                </a:solidFill>
                <a:latin typeface="Arial"/>
              </a:rPr>
              <a:t>nên</a:t>
            </a:r>
            <a:r>
              <a:rPr sz="442" b="0" i="1" dirty="0">
                <a:solidFill>
                  <a:srgbClr val="8C8C91"/>
                </a:solidFill>
                <a:latin typeface="Arial"/>
              </a:rPr>
              <a:t> </a:t>
            </a:r>
            <a:r>
              <a:rPr sz="442" b="0" i="1" dirty="0" err="1">
                <a:solidFill>
                  <a:srgbClr val="8C8C91"/>
                </a:solidFill>
                <a:latin typeface="Arial"/>
              </a:rPr>
              <a:t>không</a:t>
            </a:r>
            <a:r>
              <a:rPr sz="442" b="0" i="1" dirty="0">
                <a:solidFill>
                  <a:srgbClr val="8C8C91"/>
                </a:solidFill>
                <a:latin typeface="Arial"/>
              </a:rPr>
              <a:t> </a:t>
            </a:r>
            <a:r>
              <a:rPr sz="442" b="0" i="1" dirty="0" err="1">
                <a:solidFill>
                  <a:srgbClr val="8C8C91"/>
                </a:solidFill>
                <a:latin typeface="Arial"/>
              </a:rPr>
              <a:t>nêu</a:t>
            </a:r>
            <a:r>
              <a:rPr sz="442" b="0" i="1" dirty="0">
                <a:solidFill>
                  <a:srgbClr val="8C8C91"/>
                </a:solidFill>
                <a:latin typeface="Arial"/>
              </a:rPr>
              <a:t>.</a:t>
            </a:r>
          </a:p>
        </p:txBody>
      </p:sp>
      <p:sp>
        <p:nvSpPr>
          <p:cNvPr id="38" name="TextBox 37"/>
          <p:cNvSpPr txBox="1"/>
          <p:nvPr/>
        </p:nvSpPr>
        <p:spPr>
          <a:xfrm>
            <a:off x="230344" y="8020226"/>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Thép, xi măng: 2027F cao nhất </a:t>
            </a:r>
            <a:r>
              <a:rPr sz="465" b="0" i="0">
                <a:solidFill>
                  <a:srgbClr val="8C8C91"/>
                </a:solidFill>
                <a:latin typeface="Arial"/>
              </a:rPr>
              <a:t>(triệu tấn)</a:t>
            </a:r>
          </a:p>
        </p:txBody>
      </p:sp>
      <p:sp>
        <p:nvSpPr>
          <p:cNvPr id="39" name="TextBox 38"/>
          <p:cNvSpPr txBox="1"/>
          <p:nvPr/>
        </p:nvSpPr>
        <p:spPr>
          <a:xfrm>
            <a:off x="230344" y="8855960"/>
            <a:ext cx="2211241" cy="152086"/>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VSA, </a:t>
            </a:r>
            <a:r>
              <a:rPr sz="442" b="0" i="1" dirty="0" err="1">
                <a:solidFill>
                  <a:srgbClr val="8C8C91"/>
                </a:solidFill>
                <a:latin typeface="Arial"/>
              </a:rPr>
              <a:t>Bộ</a:t>
            </a:r>
            <a:r>
              <a:rPr sz="442" b="0" i="1" dirty="0">
                <a:solidFill>
                  <a:srgbClr val="8C8C91"/>
                </a:solidFill>
                <a:latin typeface="Arial"/>
              </a:rPr>
              <a:t> </a:t>
            </a:r>
            <a:r>
              <a:rPr sz="442" b="0" i="1" dirty="0" err="1">
                <a:solidFill>
                  <a:srgbClr val="8C8C91"/>
                </a:solidFill>
                <a:latin typeface="Arial"/>
              </a:rPr>
              <a:t>Xây</a:t>
            </a:r>
            <a:r>
              <a:rPr sz="442" b="0" i="1" dirty="0">
                <a:solidFill>
                  <a:srgbClr val="8C8C91"/>
                </a:solidFill>
                <a:latin typeface="Arial"/>
              </a:rPr>
              <a:t> </a:t>
            </a:r>
            <a:r>
              <a:rPr sz="442" b="0" i="1" dirty="0" err="1">
                <a:solidFill>
                  <a:srgbClr val="8C8C91"/>
                </a:solidFill>
                <a:latin typeface="Arial"/>
              </a:rPr>
              <a:t>dựng</a:t>
            </a:r>
            <a:r>
              <a:rPr sz="442" b="0" i="1" dirty="0">
                <a:solidFill>
                  <a:srgbClr val="8C8C91"/>
                </a:solidFill>
                <a:latin typeface="Arial"/>
              </a:rPr>
              <a:t>; 2026F</a:t>
            </a:r>
            <a:r>
              <a:rPr lang="en-US" sz="442" b="0" i="1" dirty="0">
                <a:solidFill>
                  <a:srgbClr val="8C8C91"/>
                </a:solidFill>
                <a:latin typeface="Arial"/>
              </a:rPr>
              <a:t>-</a:t>
            </a:r>
            <a:r>
              <a:rPr sz="442" b="0" i="1" dirty="0">
                <a:solidFill>
                  <a:srgbClr val="8C8C91"/>
                </a:solidFill>
                <a:latin typeface="Arial"/>
              </a:rPr>
              <a:t>27F </a:t>
            </a:r>
            <a:r>
              <a:rPr sz="442" b="0" i="1" dirty="0" err="1">
                <a:solidFill>
                  <a:srgbClr val="8C8C91"/>
                </a:solidFill>
                <a:latin typeface="Arial"/>
              </a:rPr>
              <a:t>ước</a:t>
            </a:r>
            <a:r>
              <a:rPr sz="442" b="0" i="1" dirty="0">
                <a:solidFill>
                  <a:srgbClr val="8C8C91"/>
                </a:solidFill>
                <a:latin typeface="Arial"/>
              </a:rPr>
              <a:t> </a:t>
            </a:r>
            <a:r>
              <a:rPr sz="442" b="0" i="1" dirty="0" err="1">
                <a:solidFill>
                  <a:srgbClr val="8C8C91"/>
                </a:solidFill>
                <a:latin typeface="Arial"/>
              </a:rPr>
              <a:t>tính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(VSA 33</a:t>
            </a:r>
            <a:r>
              <a:rPr lang="en-US" sz="442" b="0" i="1" dirty="0">
                <a:solidFill>
                  <a:srgbClr val="8C8C91"/>
                </a:solidFill>
                <a:latin typeface="Arial"/>
              </a:rPr>
              <a:t>-</a:t>
            </a:r>
            <a:r>
              <a:rPr sz="442" b="0" i="1" dirty="0">
                <a:solidFill>
                  <a:srgbClr val="8C8C91"/>
                </a:solidFill>
                <a:latin typeface="Arial"/>
              </a:rPr>
              <a:t>34.5 </a:t>
            </a:r>
            <a:r>
              <a:rPr sz="442" b="0" i="1" dirty="0" err="1">
                <a:solidFill>
                  <a:srgbClr val="8C8C91"/>
                </a:solidFill>
                <a:latin typeface="Arial"/>
              </a:rPr>
              <a:t>triệu</a:t>
            </a:r>
            <a:r>
              <a:rPr sz="442" b="0" i="1" dirty="0">
                <a:solidFill>
                  <a:srgbClr val="8C8C91"/>
                </a:solidFill>
                <a:latin typeface="Arial"/>
              </a:rPr>
              <a:t> </a:t>
            </a:r>
            <a:r>
              <a:rPr sz="442" b="0" i="1" dirty="0" err="1">
                <a:solidFill>
                  <a:srgbClr val="8C8C91"/>
                </a:solidFill>
                <a:latin typeface="Arial"/>
              </a:rPr>
              <a:t>tấn</a:t>
            </a:r>
            <a:r>
              <a:rPr sz="442" b="0" i="1" dirty="0">
                <a:solidFill>
                  <a:srgbClr val="8C8C91"/>
                </a:solidFill>
                <a:latin typeface="Arial"/>
              </a:rPr>
              <a:t> </a:t>
            </a:r>
            <a:r>
              <a:rPr sz="442" b="0" i="1" dirty="0" err="1">
                <a:solidFill>
                  <a:srgbClr val="8C8C91"/>
                </a:solidFill>
                <a:latin typeface="Arial"/>
              </a:rPr>
              <a:t>thép</a:t>
            </a:r>
            <a:r>
              <a:rPr sz="442" b="0" i="1" dirty="0">
                <a:solidFill>
                  <a:srgbClr val="8C8C91"/>
                </a:solidFill>
                <a:latin typeface="Arial"/>
              </a:rPr>
              <a:t> 2026).</a:t>
            </a:r>
          </a:p>
        </p:txBody>
      </p:sp>
      <p:sp>
        <p:nvSpPr>
          <p:cNvPr id="40" name="TextBox 39"/>
          <p:cNvSpPr txBox="1"/>
          <p:nvPr/>
        </p:nvSpPr>
        <p:spPr>
          <a:xfrm>
            <a:off x="2451094" y="8020226"/>
            <a:ext cx="2211241" cy="132891"/>
          </a:xfrm>
          <a:prstGeom prst="rect">
            <a:avLst/>
          </a:prstGeom>
          <a:noFill/>
        </p:spPr>
        <p:txBody>
          <a:bodyPr wrap="square" lIns="0" tIns="0" rIns="0" bIns="0" anchor="t"/>
          <a:lstStyle/>
          <a:p>
            <a:pPr algn="l">
              <a:lnSpc>
                <a:spcPts val="756"/>
              </a:lnSpc>
              <a:spcBef>
                <a:spcPts val="0"/>
              </a:spcBef>
              <a:spcAft>
                <a:spcPts val="0"/>
              </a:spcAft>
            </a:pPr>
            <a:r>
              <a:rPr sz="605" b="1" i="0" dirty="0" err="1">
                <a:solidFill>
                  <a:srgbClr val="3A3A3E"/>
                </a:solidFill>
                <a:latin typeface="Arial"/>
              </a:rPr>
              <a:t>Giá</a:t>
            </a:r>
            <a:r>
              <a:rPr sz="605" b="1" i="0" dirty="0">
                <a:solidFill>
                  <a:srgbClr val="3A3A3E"/>
                </a:solidFill>
                <a:latin typeface="Arial"/>
              </a:rPr>
              <a:t> </a:t>
            </a:r>
            <a:r>
              <a:rPr sz="605" b="1" i="0" dirty="0" err="1">
                <a:solidFill>
                  <a:srgbClr val="3A3A3E"/>
                </a:solidFill>
                <a:latin typeface="Arial"/>
              </a:rPr>
              <a:t>đầu</a:t>
            </a:r>
            <a:r>
              <a:rPr sz="605" b="1" i="0" dirty="0">
                <a:solidFill>
                  <a:srgbClr val="3A3A3E"/>
                </a:solidFill>
                <a:latin typeface="Arial"/>
              </a:rPr>
              <a:t> </a:t>
            </a:r>
            <a:r>
              <a:rPr sz="605" b="1" i="0" dirty="0" err="1">
                <a:solidFill>
                  <a:srgbClr val="3A3A3E"/>
                </a:solidFill>
                <a:latin typeface="Arial"/>
              </a:rPr>
              <a:t>vào</a:t>
            </a:r>
            <a:r>
              <a:rPr sz="605" b="1" i="0" dirty="0">
                <a:solidFill>
                  <a:srgbClr val="3A3A3E"/>
                </a:solidFill>
                <a:latin typeface="Arial"/>
              </a:rPr>
              <a:t> </a:t>
            </a:r>
            <a:r>
              <a:rPr sz="605" b="1" i="0" dirty="0" err="1">
                <a:solidFill>
                  <a:srgbClr val="3A3A3E"/>
                </a:solidFill>
                <a:latin typeface="Arial"/>
              </a:rPr>
              <a:t>tăng</a:t>
            </a:r>
            <a:r>
              <a:rPr sz="605" b="1" i="0" dirty="0">
                <a:solidFill>
                  <a:srgbClr val="3A3A3E"/>
                </a:solidFill>
                <a:latin typeface="Arial"/>
              </a:rPr>
              <a:t> 20</a:t>
            </a:r>
            <a:r>
              <a:rPr lang="en-US" sz="605" b="1" i="0" dirty="0">
                <a:solidFill>
                  <a:srgbClr val="3A3A3E"/>
                </a:solidFill>
                <a:latin typeface="Arial"/>
              </a:rPr>
              <a:t>-</a:t>
            </a:r>
            <a:r>
              <a:rPr sz="605" b="1" i="0" dirty="0">
                <a:solidFill>
                  <a:srgbClr val="3A3A3E"/>
                </a:solidFill>
                <a:latin typeface="Arial"/>
              </a:rPr>
              <a:t>32% </a:t>
            </a:r>
            <a:r>
              <a:rPr sz="465" b="0" i="0" dirty="0">
                <a:solidFill>
                  <a:srgbClr val="8C8C91"/>
                </a:solidFill>
                <a:latin typeface="Arial"/>
              </a:rPr>
              <a:t>(%)</a:t>
            </a:r>
          </a:p>
        </p:txBody>
      </p:sp>
      <p:sp>
        <p:nvSpPr>
          <p:cNvPr id="41" name="TextBox 40"/>
          <p:cNvSpPr txBox="1"/>
          <p:nvPr/>
        </p:nvSpPr>
        <p:spPr>
          <a:xfrm>
            <a:off x="2451094" y="8796898"/>
            <a:ext cx="2211241" cy="152086"/>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Bộ Xây dựng, VSA, TCTK. Thép CB300 D10: 14,210 đồng/kg (8/9/2026), đã hạ nhiệt từ đỉnh.</a:t>
            </a:r>
          </a:p>
        </p:txBody>
      </p:sp>
      <p:sp>
        <p:nvSpPr>
          <p:cNvPr id="42" name="TextBox 41"/>
          <p:cNvSpPr txBox="1"/>
          <p:nvPr/>
        </p:nvSpPr>
        <p:spPr>
          <a:xfrm>
            <a:off x="4671844" y="8020226"/>
            <a:ext cx="2728688" cy="132891"/>
          </a:xfrm>
          <a:prstGeom prst="rect">
            <a:avLst/>
          </a:prstGeom>
          <a:noFill/>
        </p:spPr>
        <p:txBody>
          <a:bodyPr wrap="square" lIns="0" tIns="0" rIns="0" bIns="0" anchor="t"/>
          <a:lstStyle/>
          <a:p>
            <a:pPr algn="l">
              <a:lnSpc>
                <a:spcPts val="756"/>
              </a:lnSpc>
              <a:spcBef>
                <a:spcPts val="0"/>
              </a:spcBef>
              <a:spcAft>
                <a:spcPts val="0"/>
              </a:spcAft>
            </a:pPr>
            <a:r>
              <a:rPr sz="605" b="1" i="0" dirty="0" err="1">
                <a:solidFill>
                  <a:srgbClr val="3A3A3E"/>
                </a:solidFill>
                <a:latin typeface="Arial"/>
              </a:rPr>
              <a:t>Thiếu</a:t>
            </a:r>
            <a:r>
              <a:rPr sz="605" b="1" i="0" dirty="0">
                <a:solidFill>
                  <a:srgbClr val="3A3A3E"/>
                </a:solidFill>
                <a:latin typeface="Arial"/>
              </a:rPr>
              <a:t> </a:t>
            </a:r>
            <a:r>
              <a:rPr sz="605" b="1" i="0" dirty="0" err="1">
                <a:solidFill>
                  <a:srgbClr val="3A3A3E"/>
                </a:solidFill>
                <a:latin typeface="Arial"/>
              </a:rPr>
              <a:t>cát</a:t>
            </a:r>
            <a:r>
              <a:rPr sz="605" b="1" i="0" dirty="0">
                <a:solidFill>
                  <a:srgbClr val="3A3A3E"/>
                </a:solidFill>
                <a:latin typeface="Arial"/>
              </a:rPr>
              <a:t> </a:t>
            </a:r>
            <a:r>
              <a:rPr sz="605" b="1" i="0" dirty="0" err="1">
                <a:solidFill>
                  <a:srgbClr val="3A3A3E"/>
                </a:solidFill>
                <a:latin typeface="Arial"/>
              </a:rPr>
              <a:t>đá</a:t>
            </a:r>
            <a:r>
              <a:rPr sz="605" b="1" i="0" dirty="0">
                <a:solidFill>
                  <a:srgbClr val="3A3A3E"/>
                </a:solidFill>
                <a:latin typeface="Arial"/>
              </a:rPr>
              <a:t> </a:t>
            </a:r>
            <a:r>
              <a:rPr sz="605" b="1" i="0" dirty="0" err="1">
                <a:solidFill>
                  <a:srgbClr val="3A3A3E"/>
                </a:solidFill>
                <a:latin typeface="Arial"/>
              </a:rPr>
              <a:t>tăng</a:t>
            </a:r>
            <a:r>
              <a:rPr sz="605" b="1" i="0" dirty="0">
                <a:solidFill>
                  <a:srgbClr val="3A3A3E"/>
                </a:solidFill>
                <a:latin typeface="Arial"/>
              </a:rPr>
              <a:t> </a:t>
            </a:r>
            <a:r>
              <a:rPr sz="605" b="1" i="0" dirty="0" err="1">
                <a:solidFill>
                  <a:srgbClr val="3A3A3E"/>
                </a:solidFill>
                <a:latin typeface="Arial"/>
              </a:rPr>
              <a:t>mạnh</a:t>
            </a:r>
            <a:r>
              <a:rPr sz="605" b="1" i="0" dirty="0">
                <a:solidFill>
                  <a:srgbClr val="3A3A3E"/>
                </a:solidFill>
                <a:latin typeface="Arial"/>
              </a:rPr>
              <a:t> 2027</a:t>
            </a:r>
            <a:r>
              <a:rPr lang="en-US" sz="605" b="1" i="0" dirty="0">
                <a:solidFill>
                  <a:srgbClr val="3A3A3E"/>
                </a:solidFill>
                <a:latin typeface="Arial"/>
              </a:rPr>
              <a:t>-</a:t>
            </a:r>
            <a:r>
              <a:rPr sz="605" b="1" i="0" dirty="0">
                <a:solidFill>
                  <a:srgbClr val="3A3A3E"/>
                </a:solidFill>
                <a:latin typeface="Arial"/>
              </a:rPr>
              <a:t>30 </a:t>
            </a:r>
            <a:r>
              <a:rPr sz="465" b="0" i="0" dirty="0">
                <a:solidFill>
                  <a:srgbClr val="8C8C91"/>
                </a:solidFill>
                <a:latin typeface="Arial"/>
              </a:rPr>
              <a:t>(</a:t>
            </a:r>
            <a:r>
              <a:rPr sz="465" b="0" i="0" dirty="0" err="1">
                <a:solidFill>
                  <a:srgbClr val="8C8C91"/>
                </a:solidFill>
                <a:latin typeface="Arial"/>
              </a:rPr>
              <a:t>triệu</a:t>
            </a:r>
            <a:r>
              <a:rPr sz="465" b="0" i="0" dirty="0">
                <a:solidFill>
                  <a:srgbClr val="8C8C91"/>
                </a:solidFill>
                <a:latin typeface="Arial"/>
              </a:rPr>
              <a:t> m³)</a:t>
            </a:r>
          </a:p>
        </p:txBody>
      </p:sp>
      <p:sp>
        <p:nvSpPr>
          <p:cNvPr id="43" name="TextBox 42"/>
          <p:cNvSpPr txBox="1"/>
          <p:nvPr/>
        </p:nvSpPr>
        <p:spPr>
          <a:xfrm>
            <a:off x="4671844" y="8796898"/>
            <a:ext cx="2728688" cy="81949"/>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Bộ Xây dựng.</a:t>
            </a:r>
          </a:p>
        </p:txBody>
      </p:sp>
      <p:sp>
        <p:nvSpPr>
          <p:cNvPr id="44" name="TextBox 43"/>
          <p:cNvSpPr txBox="1"/>
          <p:nvPr/>
        </p:nvSpPr>
        <p:spPr>
          <a:xfrm>
            <a:off x="2451094" y="1336289"/>
            <a:ext cx="4949438" cy="1523167"/>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Giải</a:t>
            </a:r>
            <a:r>
              <a:rPr sz="605" b="1" i="0" dirty="0">
                <a:solidFill>
                  <a:srgbClr val="3A3A3E"/>
                </a:solidFill>
                <a:latin typeface="Arial"/>
              </a:rPr>
              <a:t> </a:t>
            </a:r>
            <a:r>
              <a:rPr sz="605" b="1" i="0" dirty="0" err="1">
                <a:solidFill>
                  <a:srgbClr val="3A3A3E"/>
                </a:solidFill>
                <a:latin typeface="Arial"/>
              </a:rPr>
              <a:t>ngân</a:t>
            </a:r>
            <a:r>
              <a:rPr sz="605" b="1" i="0" dirty="0">
                <a:solidFill>
                  <a:srgbClr val="3A3A3E"/>
                </a:solidFill>
                <a:latin typeface="Arial"/>
              </a:rPr>
              <a:t> FDI </a:t>
            </a:r>
            <a:r>
              <a:rPr sz="605" b="1" i="0" dirty="0" err="1">
                <a:solidFill>
                  <a:srgbClr val="3A3A3E"/>
                </a:solidFill>
                <a:latin typeface="Arial"/>
              </a:rPr>
              <a:t>cao</a:t>
            </a:r>
            <a:r>
              <a:rPr sz="605" b="1" i="0" dirty="0">
                <a:solidFill>
                  <a:srgbClr val="3A3A3E"/>
                </a:solidFill>
                <a:latin typeface="Arial"/>
              </a:rPr>
              <a:t> </a:t>
            </a:r>
            <a:r>
              <a:rPr sz="605" b="1" i="0" dirty="0" err="1">
                <a:solidFill>
                  <a:srgbClr val="3A3A3E"/>
                </a:solidFill>
                <a:latin typeface="Arial"/>
              </a:rPr>
              <a:t>nhất</a:t>
            </a:r>
            <a:r>
              <a:rPr sz="605" b="1" i="0" dirty="0">
                <a:solidFill>
                  <a:srgbClr val="3A3A3E"/>
                </a:solidFill>
                <a:latin typeface="Arial"/>
              </a:rPr>
              <a:t> </a:t>
            </a:r>
            <a:r>
              <a:rPr sz="605" b="1" i="0" dirty="0" err="1">
                <a:solidFill>
                  <a:srgbClr val="3A3A3E"/>
                </a:solidFill>
                <a:latin typeface="Arial"/>
              </a:rPr>
              <a:t>lịch</a:t>
            </a:r>
            <a:r>
              <a:rPr sz="605" b="1" i="0" dirty="0">
                <a:solidFill>
                  <a:srgbClr val="3A3A3E"/>
                </a:solidFill>
                <a:latin typeface="Arial"/>
              </a:rPr>
              <a:t> </a:t>
            </a:r>
            <a:r>
              <a:rPr sz="605" b="1" i="0" dirty="0" err="1">
                <a:solidFill>
                  <a:srgbClr val="3A3A3E"/>
                </a:solidFill>
                <a:latin typeface="Arial"/>
              </a:rPr>
              <a:t>sử</a:t>
            </a:r>
            <a:r>
              <a:rPr sz="605" b="1" i="0" dirty="0">
                <a:solidFill>
                  <a:srgbClr val="3A3A3E"/>
                </a:solidFill>
                <a:latin typeface="Arial"/>
              </a:rPr>
              <a:t> </a:t>
            </a:r>
            <a:r>
              <a:rPr sz="605" b="1" i="0" dirty="0" err="1">
                <a:solidFill>
                  <a:srgbClr val="3A3A3E"/>
                </a:solidFill>
                <a:latin typeface="Arial"/>
              </a:rPr>
              <a:t>và</a:t>
            </a:r>
            <a:r>
              <a:rPr sz="605" b="1" i="0" dirty="0">
                <a:solidFill>
                  <a:srgbClr val="3A3A3E"/>
                </a:solidFill>
                <a:latin typeface="Arial"/>
              </a:rPr>
              <a:t> </a:t>
            </a:r>
            <a:r>
              <a:rPr sz="605" b="1" i="0" dirty="0" err="1">
                <a:solidFill>
                  <a:srgbClr val="3A3A3E"/>
                </a:solidFill>
                <a:latin typeface="Arial"/>
              </a:rPr>
              <a:t>còn</a:t>
            </a:r>
            <a:r>
              <a:rPr sz="605" b="1" i="0" dirty="0">
                <a:solidFill>
                  <a:srgbClr val="3A3A3E"/>
                </a:solidFill>
                <a:latin typeface="Arial"/>
              </a:rPr>
              <a:t> </a:t>
            </a:r>
            <a:r>
              <a:rPr sz="605" b="1" i="0" dirty="0" err="1">
                <a:solidFill>
                  <a:srgbClr val="3A3A3E"/>
                </a:solidFill>
                <a:latin typeface="Arial"/>
              </a:rPr>
              <a:t>tăng</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đạt</a:t>
            </a:r>
            <a:r>
              <a:rPr sz="605" b="0" i="0" dirty="0">
                <a:solidFill>
                  <a:srgbClr val="2B2B2E"/>
                </a:solidFill>
                <a:latin typeface="Arial"/>
              </a:rPr>
              <a:t> </a:t>
            </a:r>
            <a:r>
              <a:rPr sz="605" b="1" i="0" dirty="0">
                <a:solidFill>
                  <a:srgbClr val="C8102E"/>
                </a:solidFill>
                <a:latin typeface="Arial"/>
              </a:rPr>
              <a:t>27.6 </a:t>
            </a:r>
            <a:r>
              <a:rPr sz="605" b="1" i="0" dirty="0" err="1">
                <a:solidFill>
                  <a:srgbClr val="C8102E"/>
                </a:solidFill>
                <a:latin typeface="Arial"/>
              </a:rPr>
              <a:t>tỷ</a:t>
            </a:r>
            <a:r>
              <a:rPr sz="605" b="1" i="0" dirty="0">
                <a:solidFill>
                  <a:srgbClr val="C8102E"/>
                </a:solidFill>
                <a:latin typeface="Arial"/>
              </a:rPr>
              <a:t> USD </a:t>
            </a:r>
            <a:r>
              <a:rPr sz="605" b="1" i="0" dirty="0" err="1">
                <a:solidFill>
                  <a:srgbClr val="C8102E"/>
                </a:solidFill>
                <a:latin typeface="Arial"/>
              </a:rPr>
              <a:t>năm</a:t>
            </a:r>
            <a:r>
              <a:rPr sz="605" b="1" i="0" dirty="0">
                <a:solidFill>
                  <a:srgbClr val="C8102E"/>
                </a:solidFill>
                <a:latin typeface="Arial"/>
              </a:rPr>
              <a:t> 2025</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a:t>
            </a:r>
            <a:r>
              <a:rPr sz="605" b="0" i="0" dirty="0" err="1">
                <a:solidFill>
                  <a:srgbClr val="2B2B2E"/>
                </a:solidFill>
                <a:latin typeface="Arial"/>
              </a:rPr>
              <a:t>đều</a:t>
            </a:r>
            <a:r>
              <a:rPr sz="605" b="0" i="0" dirty="0">
                <a:solidFill>
                  <a:srgbClr val="2B2B2E"/>
                </a:solidFill>
                <a:latin typeface="Arial"/>
              </a:rPr>
              <a:t> </a:t>
            </a:r>
            <a:r>
              <a:rPr sz="605" b="0" i="0" dirty="0" err="1">
                <a:solidFill>
                  <a:srgbClr val="2B2B2E"/>
                </a:solidFill>
                <a:latin typeface="Arial"/>
              </a:rPr>
              <a:t>từ</a:t>
            </a:r>
            <a:r>
              <a:rPr sz="605" b="0" i="0" dirty="0">
                <a:solidFill>
                  <a:srgbClr val="2B2B2E"/>
                </a:solidFill>
                <a:latin typeface="Arial"/>
              </a:rPr>
              <a:t> 19.0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năm</a:t>
            </a:r>
            <a:r>
              <a:rPr sz="605" b="0" i="0" dirty="0">
                <a:solidFill>
                  <a:srgbClr val="2B2B2E"/>
                </a:solidFill>
                <a:latin typeface="Arial"/>
              </a:rPr>
              <a:t> 2018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mức</a:t>
            </a:r>
            <a:r>
              <a:rPr sz="605" b="0" i="0" dirty="0">
                <a:solidFill>
                  <a:srgbClr val="2B2B2E"/>
                </a:solidFill>
                <a:latin typeface="Arial"/>
              </a:rPr>
              <a:t>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nhất</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a:t>
            </a:r>
            <a:r>
              <a:rPr sz="605" b="0" i="0" dirty="0" err="1">
                <a:solidFill>
                  <a:srgbClr val="2B2B2E"/>
                </a:solidFill>
                <a:latin typeface="Arial"/>
              </a:rPr>
              <a:t>chuỗi</a:t>
            </a:r>
            <a:r>
              <a:rPr sz="605" b="0" i="0" dirty="0">
                <a:solidFill>
                  <a:srgbClr val="2B2B2E"/>
                </a:solidFill>
                <a:latin typeface="Arial"/>
              </a:rPr>
              <a:t> 2018</a:t>
            </a:r>
            <a:r>
              <a:rPr lang="en-US" sz="605" b="0" i="0" dirty="0">
                <a:solidFill>
                  <a:srgbClr val="2B2B2E"/>
                </a:solidFill>
                <a:latin typeface="Arial"/>
              </a:rPr>
              <a:t>-</a:t>
            </a:r>
            <a:r>
              <a:rPr sz="605" b="0" i="0" dirty="0">
                <a:solidFill>
                  <a:srgbClr val="2B2B2E"/>
                </a:solidFill>
                <a:latin typeface="Arial"/>
              </a:rPr>
              <a:t>2025. </a:t>
            </a:r>
            <a:r>
              <a:rPr sz="605" b="0" i="0" dirty="0" err="1">
                <a:solidFill>
                  <a:srgbClr val="2B2B2E"/>
                </a:solidFill>
                <a:latin typeface="Arial"/>
              </a:rPr>
              <a:t>Chúng</a:t>
            </a:r>
            <a:r>
              <a:rPr sz="605" b="0" i="0" dirty="0">
                <a:solidFill>
                  <a:srgbClr val="2B2B2E"/>
                </a:solidFill>
                <a:latin typeface="Arial"/>
              </a:rPr>
              <a:t> </a:t>
            </a:r>
            <a:r>
              <a:rPr sz="605" b="0" i="0" dirty="0" err="1">
                <a:solidFill>
                  <a:srgbClr val="2B2B2E"/>
                </a:solidFill>
                <a:latin typeface="Arial"/>
              </a:rPr>
              <a:t>tôi</a:t>
            </a:r>
            <a:r>
              <a:rPr sz="605" b="0" i="0" dirty="0">
                <a:solidFill>
                  <a:srgbClr val="2B2B2E"/>
                </a:solidFill>
                <a:latin typeface="Arial"/>
              </a:rPr>
              <a:t> </a:t>
            </a:r>
            <a:r>
              <a:rPr sz="605" b="0" i="0" dirty="0" err="1">
                <a:solidFill>
                  <a:srgbClr val="2B2B2E"/>
                </a:solidFill>
                <a:latin typeface="Arial"/>
              </a:rPr>
              <a:t>dự</a:t>
            </a:r>
            <a:r>
              <a:rPr sz="605" b="0" i="0" dirty="0">
                <a:solidFill>
                  <a:srgbClr val="2B2B2E"/>
                </a:solidFill>
                <a:latin typeface="Arial"/>
              </a:rPr>
              <a:t> </a:t>
            </a:r>
            <a:r>
              <a:rPr sz="605" b="0" i="0" dirty="0" err="1">
                <a:solidFill>
                  <a:srgbClr val="2B2B2E"/>
                </a:solidFill>
                <a:latin typeface="Arial"/>
              </a:rPr>
              <a:t>phóng</a:t>
            </a:r>
            <a:r>
              <a:rPr sz="605" b="0" i="0" dirty="0">
                <a:solidFill>
                  <a:srgbClr val="2B2B2E"/>
                </a:solidFill>
                <a:latin typeface="Arial"/>
              </a:rPr>
              <a:t> 30.9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năm</a:t>
            </a:r>
            <a:r>
              <a:rPr sz="605" b="0" i="0" dirty="0">
                <a:solidFill>
                  <a:srgbClr val="2B2B2E"/>
                </a:solidFill>
                <a:latin typeface="Arial"/>
              </a:rPr>
              <a:t> 2026 </a:t>
            </a:r>
            <a:r>
              <a:rPr sz="605" b="0" i="0" dirty="0" err="1">
                <a:solidFill>
                  <a:srgbClr val="2B2B2E"/>
                </a:solidFill>
                <a:latin typeface="Arial"/>
              </a:rPr>
              <a:t>và</a:t>
            </a:r>
            <a:r>
              <a:rPr sz="605" b="0" i="0" dirty="0">
                <a:solidFill>
                  <a:srgbClr val="2B2B2E"/>
                </a:solidFill>
                <a:latin typeface="Arial"/>
              </a:rPr>
              <a:t> 33.4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năm</a:t>
            </a:r>
            <a:r>
              <a:rPr sz="605" b="0" i="0" dirty="0">
                <a:solidFill>
                  <a:srgbClr val="2B2B2E"/>
                </a:solidFill>
                <a:latin typeface="Arial"/>
              </a:rPr>
              <a:t> 2027 (~10%/</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nằm</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a:t>
            </a:r>
            <a:r>
              <a:rPr sz="605" b="0" i="0" dirty="0" err="1">
                <a:solidFill>
                  <a:srgbClr val="2B2B2E"/>
                </a:solidFill>
                <a:latin typeface="Arial"/>
              </a:rPr>
              <a:t>khung</a:t>
            </a:r>
            <a:r>
              <a:rPr sz="605" b="0" i="0" dirty="0">
                <a:solidFill>
                  <a:srgbClr val="2B2B2E"/>
                </a:solidFill>
                <a:latin typeface="Arial"/>
              </a:rPr>
              <a:t> 30</a:t>
            </a:r>
            <a:r>
              <a:rPr lang="en-US" sz="605" b="0" i="0" dirty="0">
                <a:solidFill>
                  <a:srgbClr val="2B2B2E"/>
                </a:solidFill>
                <a:latin typeface="Arial"/>
              </a:rPr>
              <a:t>-</a:t>
            </a:r>
            <a:r>
              <a:rPr sz="605" b="0" i="0" dirty="0">
                <a:solidFill>
                  <a:srgbClr val="2B2B2E"/>
                </a:solidFill>
                <a:latin typeface="Arial"/>
              </a:rPr>
              <a:t>40 </a:t>
            </a:r>
            <a:r>
              <a:rPr sz="605" b="0" i="0" dirty="0" err="1">
                <a:solidFill>
                  <a:srgbClr val="2B2B2E"/>
                </a:solidFill>
                <a:latin typeface="Arial"/>
              </a:rPr>
              <a:t>tỷ</a:t>
            </a:r>
            <a:r>
              <a:rPr sz="605" b="0" i="0" dirty="0">
                <a:solidFill>
                  <a:srgbClr val="2B2B2E"/>
                </a:solidFill>
                <a:latin typeface="Arial"/>
              </a:rPr>
              <a:t> USD/</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giai</a:t>
            </a:r>
            <a:r>
              <a:rPr sz="605" b="0" i="0" dirty="0">
                <a:solidFill>
                  <a:srgbClr val="2B2B2E"/>
                </a:solidFill>
                <a:latin typeface="Arial"/>
              </a:rPr>
              <a:t> </a:t>
            </a:r>
            <a:r>
              <a:rPr sz="605" b="0" i="0" dirty="0" err="1">
                <a:solidFill>
                  <a:srgbClr val="2B2B2E"/>
                </a:solidFill>
                <a:latin typeface="Arial"/>
              </a:rPr>
              <a:t>đoạn</a:t>
            </a:r>
            <a:r>
              <a:rPr sz="605" b="0" i="0" dirty="0">
                <a:solidFill>
                  <a:srgbClr val="2B2B2E"/>
                </a:solidFill>
                <a:latin typeface="Arial"/>
              </a:rPr>
              <a:t> 2026</a:t>
            </a:r>
            <a:r>
              <a:rPr lang="en-US" sz="605" b="0" i="0" dirty="0">
                <a:solidFill>
                  <a:srgbClr val="2B2B2E"/>
                </a:solidFill>
                <a:latin typeface="Arial"/>
              </a:rPr>
              <a:t>-</a:t>
            </a:r>
            <a:r>
              <a:rPr sz="605" b="0" i="0" dirty="0">
                <a:solidFill>
                  <a:srgbClr val="2B2B2E"/>
                </a:solidFill>
                <a:latin typeface="Arial"/>
              </a:rPr>
              <a:t>30. </a:t>
            </a:r>
            <a:r>
              <a:rPr sz="605" b="0" i="0" dirty="0" err="1">
                <a:solidFill>
                  <a:srgbClr val="2B2B2E"/>
                </a:solidFill>
                <a:latin typeface="Arial"/>
              </a:rPr>
              <a:t>Tám</a:t>
            </a:r>
            <a:r>
              <a:rPr sz="605" b="0" i="0" dirty="0">
                <a:solidFill>
                  <a:srgbClr val="2B2B2E"/>
                </a:solidFill>
                <a:latin typeface="Arial"/>
              </a:rPr>
              <a:t> </a:t>
            </a:r>
            <a:r>
              <a:rPr sz="605" b="0" i="0" dirty="0" err="1">
                <a:solidFill>
                  <a:srgbClr val="2B2B2E"/>
                </a:solidFill>
                <a:latin typeface="Arial"/>
              </a:rPr>
              <a:t>tháng</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2026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đã</a:t>
            </a:r>
            <a:r>
              <a:rPr sz="605" b="0" i="0" dirty="0">
                <a:solidFill>
                  <a:srgbClr val="2B2B2E"/>
                </a:solidFill>
                <a:latin typeface="Arial"/>
              </a:rPr>
              <a:t> </a:t>
            </a:r>
            <a:r>
              <a:rPr sz="605" b="0" i="0" dirty="0" err="1">
                <a:solidFill>
                  <a:srgbClr val="2B2B2E"/>
                </a:solidFill>
                <a:latin typeface="Arial"/>
              </a:rPr>
              <a:t>đạt</a:t>
            </a:r>
            <a:r>
              <a:rPr sz="605" b="0" i="0" dirty="0">
                <a:solidFill>
                  <a:srgbClr val="2B2B2E"/>
                </a:solidFill>
                <a:latin typeface="Arial"/>
              </a:rPr>
              <a:t> 17.3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tăng</a:t>
            </a:r>
            <a:r>
              <a:rPr sz="605" b="0" i="0" dirty="0">
                <a:solidFill>
                  <a:srgbClr val="2B2B2E"/>
                </a:solidFill>
                <a:latin typeface="Arial"/>
              </a:rPr>
              <a:t> 12% so </a:t>
            </a:r>
            <a:r>
              <a:rPr sz="605" b="0" i="0" dirty="0" err="1">
                <a:solidFill>
                  <a:srgbClr val="2B2B2E"/>
                </a:solidFill>
                <a:latin typeface="Arial"/>
              </a:rPr>
              <a:t>với</a:t>
            </a:r>
            <a:r>
              <a:rPr sz="605" b="0" i="0" dirty="0">
                <a:solidFill>
                  <a:srgbClr val="2B2B2E"/>
                </a:solidFill>
                <a:latin typeface="Arial"/>
              </a:rPr>
              <a:t> </a:t>
            </a:r>
            <a:r>
              <a:rPr sz="605" b="0" i="0" dirty="0" err="1">
                <a:solidFill>
                  <a:srgbClr val="2B2B2E"/>
                </a:solidFill>
                <a:latin typeface="Arial"/>
              </a:rPr>
              <a:t>cùng</a:t>
            </a:r>
            <a:r>
              <a:rPr sz="605" b="0" i="0" dirty="0">
                <a:solidFill>
                  <a:srgbClr val="2B2B2E"/>
                </a:solidFill>
                <a:latin typeface="Arial"/>
              </a:rPr>
              <a:t> </a:t>
            </a:r>
            <a:r>
              <a:rPr sz="605" b="0" i="0" dirty="0" err="1">
                <a:solidFill>
                  <a:srgbClr val="2B2B2E"/>
                </a:solidFill>
                <a:latin typeface="Arial"/>
              </a:rPr>
              <a:t>kỳ</a:t>
            </a:r>
            <a:r>
              <a:rPr sz="605" b="0" i="0" dirty="0">
                <a:solidFill>
                  <a:srgbClr val="2B2B2E"/>
                </a:solidFill>
                <a:latin typeface="Arial"/>
              </a:rPr>
              <a:t>.</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Vốn</a:t>
            </a:r>
            <a:r>
              <a:rPr sz="605" b="1" i="0" dirty="0">
                <a:solidFill>
                  <a:srgbClr val="3A3A3E"/>
                </a:solidFill>
                <a:latin typeface="Arial"/>
              </a:rPr>
              <a:t> </a:t>
            </a:r>
            <a:r>
              <a:rPr sz="605" b="1" i="0" dirty="0" err="1">
                <a:solidFill>
                  <a:srgbClr val="3A3A3E"/>
                </a:solidFill>
                <a:latin typeface="Arial"/>
              </a:rPr>
              <a:t>đăng</a:t>
            </a:r>
            <a:r>
              <a:rPr sz="605" b="1" i="0" dirty="0">
                <a:solidFill>
                  <a:srgbClr val="3A3A3E"/>
                </a:solidFill>
                <a:latin typeface="Arial"/>
              </a:rPr>
              <a:t> </a:t>
            </a:r>
            <a:r>
              <a:rPr sz="605" b="1" i="0" dirty="0" err="1">
                <a:solidFill>
                  <a:srgbClr val="3A3A3E"/>
                </a:solidFill>
                <a:latin typeface="Arial"/>
              </a:rPr>
              <a:t>ký</a:t>
            </a:r>
            <a:r>
              <a:rPr sz="605" b="1" i="0" dirty="0">
                <a:solidFill>
                  <a:srgbClr val="3A3A3E"/>
                </a:solidFill>
                <a:latin typeface="Arial"/>
              </a:rPr>
              <a:t> </a:t>
            </a:r>
            <a:r>
              <a:rPr sz="605" b="1" i="0" dirty="0" err="1">
                <a:solidFill>
                  <a:srgbClr val="3A3A3E"/>
                </a:solidFill>
                <a:latin typeface="Arial"/>
              </a:rPr>
              <a:t>là</a:t>
            </a:r>
            <a:r>
              <a:rPr sz="605" b="1" i="0" dirty="0">
                <a:solidFill>
                  <a:srgbClr val="3A3A3E"/>
                </a:solidFill>
                <a:latin typeface="Arial"/>
              </a:rPr>
              <a:t> </a:t>
            </a:r>
            <a:r>
              <a:rPr sz="605" b="1" i="0" dirty="0" err="1">
                <a:solidFill>
                  <a:srgbClr val="3A3A3E"/>
                </a:solidFill>
                <a:latin typeface="Arial"/>
              </a:rPr>
              <a:t>chỉ</a:t>
            </a:r>
            <a:r>
              <a:rPr sz="605" b="1" i="0" dirty="0">
                <a:solidFill>
                  <a:srgbClr val="3A3A3E"/>
                </a:solidFill>
                <a:latin typeface="Arial"/>
              </a:rPr>
              <a:t> </a:t>
            </a:r>
            <a:r>
              <a:rPr sz="605" b="1" i="0" dirty="0" err="1">
                <a:solidFill>
                  <a:srgbClr val="3A3A3E"/>
                </a:solidFill>
                <a:latin typeface="Arial"/>
              </a:rPr>
              <a:t>báo</a:t>
            </a:r>
            <a:r>
              <a:rPr sz="605" b="1" i="0" dirty="0">
                <a:solidFill>
                  <a:srgbClr val="3A3A3E"/>
                </a:solidFill>
                <a:latin typeface="Arial"/>
              </a:rPr>
              <a:t> </a:t>
            </a:r>
            <a:r>
              <a:rPr sz="605" b="1" i="0" dirty="0" err="1">
                <a:solidFill>
                  <a:srgbClr val="3A3A3E"/>
                </a:solidFill>
                <a:latin typeface="Arial"/>
              </a:rPr>
              <a:t>dẫn</a:t>
            </a:r>
            <a:r>
              <a:rPr sz="605" b="1" i="0" dirty="0">
                <a:solidFill>
                  <a:srgbClr val="3A3A3E"/>
                </a:solidFill>
                <a:latin typeface="Arial"/>
              </a:rPr>
              <a:t> </a:t>
            </a:r>
            <a:r>
              <a:rPr sz="605" b="1" i="0" dirty="0" err="1">
                <a:solidFill>
                  <a:srgbClr val="3A3A3E"/>
                </a:solidFill>
                <a:latin typeface="Arial"/>
              </a:rPr>
              <a:t>trước</a:t>
            </a:r>
            <a:r>
              <a:rPr sz="605" b="1" i="0" dirty="0">
                <a:solidFill>
                  <a:srgbClr val="3A3A3E"/>
                </a:solidFill>
                <a:latin typeface="Arial"/>
              </a:rPr>
              <a:t> </a:t>
            </a:r>
            <a:r>
              <a:rPr sz="605" b="1" i="0" dirty="0" err="1">
                <a:solidFill>
                  <a:srgbClr val="3A3A3E"/>
                </a:solidFill>
                <a:latin typeface="Arial"/>
              </a:rPr>
              <a:t>cho</a:t>
            </a:r>
            <a:r>
              <a:rPr sz="605" b="1" i="0" dirty="0">
                <a:solidFill>
                  <a:srgbClr val="3A3A3E"/>
                </a:solidFill>
                <a:latin typeface="Arial"/>
              </a:rPr>
              <a:t> </a:t>
            </a:r>
            <a:r>
              <a:rPr sz="605" b="1" i="0" dirty="0" err="1">
                <a:solidFill>
                  <a:srgbClr val="3A3A3E"/>
                </a:solidFill>
                <a:latin typeface="Arial"/>
              </a:rPr>
              <a:t>nhu</a:t>
            </a:r>
            <a:r>
              <a:rPr sz="605" b="1" i="0" dirty="0">
                <a:solidFill>
                  <a:srgbClr val="3A3A3E"/>
                </a:solidFill>
                <a:latin typeface="Arial"/>
              </a:rPr>
              <a:t> </a:t>
            </a:r>
            <a:r>
              <a:rPr sz="605" b="1" i="0" dirty="0" err="1">
                <a:solidFill>
                  <a:srgbClr val="3A3A3E"/>
                </a:solidFill>
                <a:latin typeface="Arial"/>
              </a:rPr>
              <a:t>cầu</a:t>
            </a:r>
            <a:r>
              <a:rPr sz="605" b="1" i="0" dirty="0">
                <a:solidFill>
                  <a:srgbClr val="3A3A3E"/>
                </a:solidFill>
                <a:latin typeface="Arial"/>
              </a:rPr>
              <a:t> </a:t>
            </a:r>
            <a:r>
              <a:rPr sz="605" b="1" i="0" dirty="0" err="1">
                <a:solidFill>
                  <a:srgbClr val="3A3A3E"/>
                </a:solidFill>
                <a:latin typeface="Arial"/>
              </a:rPr>
              <a:t>xây</a:t>
            </a:r>
            <a:r>
              <a:rPr sz="605" b="1" i="0" dirty="0">
                <a:solidFill>
                  <a:srgbClr val="3A3A3E"/>
                </a:solidFill>
                <a:latin typeface="Arial"/>
              </a:rPr>
              <a:t> </a:t>
            </a:r>
            <a:r>
              <a:rPr sz="605" b="1" i="0" dirty="0" err="1">
                <a:solidFill>
                  <a:srgbClr val="3A3A3E"/>
                </a:solidFill>
                <a:latin typeface="Arial"/>
              </a:rPr>
              <a:t>dựng</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đăng</a:t>
            </a:r>
            <a:r>
              <a:rPr sz="605" b="0" i="0" dirty="0">
                <a:solidFill>
                  <a:srgbClr val="2B2B2E"/>
                </a:solidFill>
                <a:latin typeface="Arial"/>
              </a:rPr>
              <a:t> </a:t>
            </a:r>
            <a:r>
              <a:rPr sz="605" b="0" i="0" dirty="0" err="1">
                <a:solidFill>
                  <a:srgbClr val="2B2B2E"/>
                </a:solidFill>
                <a:latin typeface="Arial"/>
              </a:rPr>
              <a:t>ký</a:t>
            </a:r>
            <a:r>
              <a:rPr sz="605" b="0" i="0" dirty="0">
                <a:solidFill>
                  <a:srgbClr val="2B2B2E"/>
                </a:solidFill>
                <a:latin typeface="Arial"/>
              </a:rPr>
              <a:t> 8T/2026 </a:t>
            </a:r>
            <a:r>
              <a:rPr sz="605" b="0" i="0" dirty="0" err="1">
                <a:solidFill>
                  <a:srgbClr val="2B2B2E"/>
                </a:solidFill>
                <a:latin typeface="Arial"/>
              </a:rPr>
              <a:t>đạt</a:t>
            </a:r>
            <a:r>
              <a:rPr sz="605" b="0" i="0" dirty="0">
                <a:solidFill>
                  <a:srgbClr val="2B2B2E"/>
                </a:solidFill>
                <a:latin typeface="Arial"/>
              </a:rPr>
              <a:t> </a:t>
            </a:r>
            <a:r>
              <a:rPr sz="605" b="1" i="0" dirty="0">
                <a:solidFill>
                  <a:srgbClr val="C8102E"/>
                </a:solidFill>
                <a:latin typeface="Arial"/>
              </a:rPr>
              <a:t>40.6 </a:t>
            </a:r>
            <a:r>
              <a:rPr sz="605" b="1" i="0" dirty="0" err="1">
                <a:solidFill>
                  <a:srgbClr val="C8102E"/>
                </a:solidFill>
                <a:latin typeface="Arial"/>
              </a:rPr>
              <a:t>tỷ</a:t>
            </a:r>
            <a:r>
              <a:rPr sz="605" b="1" i="0" dirty="0">
                <a:solidFill>
                  <a:srgbClr val="C8102E"/>
                </a:solidFill>
                <a:latin typeface="Arial"/>
              </a:rPr>
              <a:t> USD (+55%)</a:t>
            </a:r>
            <a:r>
              <a:rPr sz="605" b="0" i="0" dirty="0">
                <a:solidFill>
                  <a:srgbClr val="2B2B2E"/>
                </a:solidFill>
                <a:latin typeface="Arial"/>
              </a:rPr>
              <a:t>, </a:t>
            </a:r>
            <a:r>
              <a:rPr sz="605" b="0" i="0" dirty="0" err="1">
                <a:solidFill>
                  <a:srgbClr val="2B2B2E"/>
                </a:solidFill>
                <a:latin typeface="Arial"/>
              </a:rPr>
              <a:t>đã</a:t>
            </a:r>
            <a:r>
              <a:rPr sz="605" b="0" i="0" dirty="0">
                <a:solidFill>
                  <a:srgbClr val="2B2B2E"/>
                </a:solidFill>
                <a:latin typeface="Arial"/>
              </a:rPr>
              <a:t> </a:t>
            </a:r>
            <a:r>
              <a:rPr sz="605" b="0" i="0" dirty="0" err="1">
                <a:solidFill>
                  <a:srgbClr val="2B2B2E"/>
                </a:solidFill>
                <a:latin typeface="Arial"/>
              </a:rPr>
              <a:t>vượt</a:t>
            </a:r>
            <a:r>
              <a:rPr sz="605" b="0" i="0" dirty="0">
                <a:solidFill>
                  <a:srgbClr val="2B2B2E"/>
                </a:solidFill>
                <a:latin typeface="Arial"/>
              </a:rPr>
              <a:t> </a:t>
            </a:r>
            <a:r>
              <a:rPr sz="605" b="0" i="0" dirty="0" err="1">
                <a:solidFill>
                  <a:srgbClr val="2B2B2E"/>
                </a:solidFill>
                <a:latin typeface="Arial"/>
              </a:rPr>
              <a:t>cả</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2025 (38.4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Biểu</a:t>
            </a:r>
            <a:r>
              <a:rPr sz="605" b="0" i="0" dirty="0">
                <a:solidFill>
                  <a:srgbClr val="2B2B2E"/>
                </a:solidFill>
                <a:latin typeface="Arial"/>
              </a:rPr>
              <a:t> </a:t>
            </a:r>
            <a:r>
              <a:rPr sz="605" b="0" i="0" dirty="0" err="1">
                <a:solidFill>
                  <a:srgbClr val="2B2B2E"/>
                </a:solidFill>
                <a:latin typeface="Arial"/>
              </a:rPr>
              <a:t>đồ</a:t>
            </a:r>
            <a:r>
              <a:rPr sz="605" b="0" i="0" dirty="0">
                <a:solidFill>
                  <a:srgbClr val="2B2B2E"/>
                </a:solidFill>
                <a:latin typeface="Arial"/>
              </a:rPr>
              <a:t> </a:t>
            </a:r>
            <a:r>
              <a:rPr sz="605" b="0" i="0" dirty="0" err="1">
                <a:solidFill>
                  <a:srgbClr val="2B2B2E"/>
                </a:solidFill>
                <a:latin typeface="Arial"/>
              </a:rPr>
              <a:t>bên</a:t>
            </a:r>
            <a:r>
              <a:rPr sz="605" b="0" i="0" dirty="0">
                <a:solidFill>
                  <a:srgbClr val="2B2B2E"/>
                </a:solidFill>
                <a:latin typeface="Arial"/>
              </a:rPr>
              <a:t> </a:t>
            </a:r>
            <a:r>
              <a:rPr sz="605" b="0" i="0" dirty="0" err="1">
                <a:solidFill>
                  <a:srgbClr val="2B2B2E"/>
                </a:solidFill>
                <a:latin typeface="Arial"/>
              </a:rPr>
              <a:t>trái</a:t>
            </a:r>
            <a:r>
              <a:rPr sz="605" b="0" i="0" dirty="0">
                <a:solidFill>
                  <a:srgbClr val="2B2B2E"/>
                </a:solidFill>
                <a:latin typeface="Arial"/>
              </a:rPr>
              <a:t> </a:t>
            </a:r>
            <a:r>
              <a:rPr sz="605" b="0" i="0" dirty="0" err="1">
                <a:solidFill>
                  <a:srgbClr val="2B2B2E"/>
                </a:solidFill>
                <a:latin typeface="Arial"/>
              </a:rPr>
              <a:t>cho</a:t>
            </a:r>
            <a:r>
              <a:rPr sz="605" b="0" i="0" dirty="0">
                <a:solidFill>
                  <a:srgbClr val="2B2B2E"/>
                </a:solidFill>
                <a:latin typeface="Arial"/>
              </a:rPr>
              <a:t> </a:t>
            </a:r>
            <a:r>
              <a:rPr sz="605" b="0" i="0" dirty="0" err="1">
                <a:solidFill>
                  <a:srgbClr val="2B2B2E"/>
                </a:solidFill>
                <a:latin typeface="Arial"/>
              </a:rPr>
              <a:t>thấy</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đăng</a:t>
            </a:r>
            <a:r>
              <a:rPr sz="605" b="0" i="0" dirty="0">
                <a:solidFill>
                  <a:srgbClr val="2B2B2E"/>
                </a:solidFill>
                <a:latin typeface="Arial"/>
              </a:rPr>
              <a:t> </a:t>
            </a:r>
            <a:r>
              <a:rPr sz="605" b="0" i="0" dirty="0" err="1">
                <a:solidFill>
                  <a:srgbClr val="2B2B2E"/>
                </a:solidFill>
                <a:latin typeface="Arial"/>
              </a:rPr>
              <a:t>ký</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t−1 </a:t>
            </a:r>
            <a:r>
              <a:rPr sz="605" b="0" i="0" dirty="0" err="1">
                <a:solidFill>
                  <a:srgbClr val="2B2B2E"/>
                </a:solidFill>
                <a:latin typeface="Arial"/>
              </a:rPr>
              <a:t>luôn</a:t>
            </a:r>
            <a:r>
              <a:rPr sz="605" b="0" i="0" dirty="0">
                <a:solidFill>
                  <a:srgbClr val="2B2B2E"/>
                </a:solidFill>
                <a:latin typeface="Arial"/>
              </a:rPr>
              <a:t> </a:t>
            </a:r>
            <a:r>
              <a:rPr sz="605" b="0" i="0" dirty="0" err="1">
                <a:solidFill>
                  <a:srgbClr val="2B2B2E"/>
                </a:solidFill>
                <a:latin typeface="Arial"/>
              </a:rPr>
              <a:t>lớn</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t, </a:t>
            </a:r>
            <a:r>
              <a:rPr sz="605" b="0" i="0" dirty="0" err="1">
                <a:solidFill>
                  <a:srgbClr val="2B2B2E"/>
                </a:solidFill>
                <a:latin typeface="Arial"/>
              </a:rPr>
              <a:t>từ</a:t>
            </a:r>
            <a:r>
              <a:rPr sz="605" b="0" i="0" dirty="0">
                <a:solidFill>
                  <a:srgbClr val="2B2B2E"/>
                </a:solidFill>
                <a:latin typeface="Arial"/>
              </a:rPr>
              <a:t> 1.19 </a:t>
            </a:r>
            <a:r>
              <a:rPr sz="605" b="0" i="0" dirty="0" err="1">
                <a:solidFill>
                  <a:srgbClr val="2B2B2E"/>
                </a:solidFill>
                <a:latin typeface="Arial"/>
              </a:rPr>
              <a:t>lần</a:t>
            </a:r>
            <a:r>
              <a:rPr sz="605" b="0" i="0" dirty="0">
                <a:solidFill>
                  <a:srgbClr val="2B2B2E"/>
                </a:solidFill>
                <a:latin typeface="Arial"/>
              </a:rPr>
              <a:t> (2023) </a:t>
            </a:r>
            <a:r>
              <a:rPr sz="605" b="0" i="0" dirty="0" err="1">
                <a:solidFill>
                  <a:srgbClr val="2B2B2E"/>
                </a:solidFill>
                <a:latin typeface="Arial"/>
              </a:rPr>
              <a:t>đến</a:t>
            </a:r>
            <a:r>
              <a:rPr sz="605" b="0" i="0" dirty="0">
                <a:solidFill>
                  <a:srgbClr val="2B2B2E"/>
                </a:solidFill>
                <a:latin typeface="Arial"/>
              </a:rPr>
              <a:t> 1.90 </a:t>
            </a:r>
            <a:r>
              <a:rPr sz="605" b="0" i="0" dirty="0" err="1">
                <a:solidFill>
                  <a:srgbClr val="2B2B2E"/>
                </a:solidFill>
                <a:latin typeface="Arial"/>
              </a:rPr>
              <a:t>lần</a:t>
            </a:r>
            <a:r>
              <a:rPr sz="605" b="0" i="0" dirty="0">
                <a:solidFill>
                  <a:srgbClr val="2B2B2E"/>
                </a:solidFill>
                <a:latin typeface="Arial"/>
              </a:rPr>
              <a:t> (2020); </a:t>
            </a:r>
            <a:r>
              <a:rPr sz="605" b="0" i="0" dirty="0" err="1">
                <a:solidFill>
                  <a:srgbClr val="2B2B2E"/>
                </a:solidFill>
                <a:latin typeface="Arial"/>
              </a:rPr>
              <a:t>với</a:t>
            </a:r>
            <a:r>
              <a:rPr sz="605" b="0" i="0" dirty="0">
                <a:solidFill>
                  <a:srgbClr val="2B2B2E"/>
                </a:solidFill>
                <a:latin typeface="Arial"/>
              </a:rPr>
              <a:t> 2026F </a:t>
            </a:r>
            <a:r>
              <a:rPr sz="605" b="0" i="0" dirty="0" err="1">
                <a:solidFill>
                  <a:srgbClr val="2B2B2E"/>
                </a:solidFill>
                <a:latin typeface="Arial"/>
              </a:rPr>
              <a:t>tỷ</a:t>
            </a:r>
            <a:r>
              <a:rPr sz="605" b="0" i="0" dirty="0">
                <a:solidFill>
                  <a:srgbClr val="2B2B2E"/>
                </a:solidFill>
                <a:latin typeface="Arial"/>
              </a:rPr>
              <a:t> </a:t>
            </a:r>
            <a:r>
              <a:rPr sz="605" b="0" i="0" dirty="0" err="1">
                <a:solidFill>
                  <a:srgbClr val="2B2B2E"/>
                </a:solidFill>
                <a:latin typeface="Arial"/>
              </a:rPr>
              <a:t>lệ</a:t>
            </a:r>
            <a:r>
              <a:rPr sz="605" b="0" i="0" dirty="0">
                <a:solidFill>
                  <a:srgbClr val="2B2B2E"/>
                </a:solidFill>
                <a:latin typeface="Arial"/>
              </a:rPr>
              <a:t> </a:t>
            </a:r>
            <a:r>
              <a:rPr sz="605" b="0" i="0" dirty="0" err="1">
                <a:solidFill>
                  <a:srgbClr val="2B2B2E"/>
                </a:solidFill>
                <a:latin typeface="Arial"/>
              </a:rPr>
              <a:t>vẫn</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1.24 </a:t>
            </a:r>
            <a:r>
              <a:rPr sz="605" b="0" i="0" dirty="0" err="1">
                <a:solidFill>
                  <a:srgbClr val="2B2B2E"/>
                </a:solidFill>
                <a:latin typeface="Arial"/>
              </a:rPr>
              <a:t>lần</a:t>
            </a:r>
            <a:r>
              <a:rPr sz="605" b="0" i="0" dirty="0">
                <a:solidFill>
                  <a:srgbClr val="2B2B2E"/>
                </a:solidFill>
                <a:latin typeface="Arial"/>
              </a:rPr>
              <a:t>. </a:t>
            </a:r>
            <a:r>
              <a:rPr sz="605" b="0" i="0" dirty="0" err="1">
                <a:solidFill>
                  <a:srgbClr val="2B2B2E"/>
                </a:solidFill>
                <a:latin typeface="Arial"/>
              </a:rPr>
              <a:t>Nói</a:t>
            </a:r>
            <a:r>
              <a:rPr sz="605" b="0" i="0" dirty="0">
                <a:solidFill>
                  <a:srgbClr val="2B2B2E"/>
                </a:solidFill>
                <a:latin typeface="Arial"/>
              </a:rPr>
              <a:t> </a:t>
            </a:r>
            <a:r>
              <a:rPr sz="605" b="0" i="0" dirty="0" err="1">
                <a:solidFill>
                  <a:srgbClr val="2B2B2E"/>
                </a:solidFill>
                <a:latin typeface="Arial"/>
              </a:rPr>
              <a:t>cách</a:t>
            </a:r>
            <a:r>
              <a:rPr sz="605" b="0" i="0" dirty="0">
                <a:solidFill>
                  <a:srgbClr val="2B2B2E"/>
                </a:solidFill>
                <a:latin typeface="Arial"/>
              </a:rPr>
              <a:t> </a:t>
            </a:r>
            <a:r>
              <a:rPr sz="605" b="0" i="0" dirty="0" err="1">
                <a:solidFill>
                  <a:srgbClr val="2B2B2E"/>
                </a:solidFill>
                <a:latin typeface="Arial"/>
              </a:rPr>
              <a:t>khác</a:t>
            </a:r>
            <a:r>
              <a:rPr sz="605" b="0" i="0" dirty="0">
                <a:solidFill>
                  <a:srgbClr val="2B2B2E"/>
                </a:solidFill>
                <a:latin typeface="Arial"/>
              </a:rPr>
              <a:t>, </a:t>
            </a:r>
            <a:r>
              <a:rPr sz="605" b="0" i="0" dirty="0" err="1">
                <a:solidFill>
                  <a:srgbClr val="2B2B2E"/>
                </a:solidFill>
                <a:latin typeface="Arial"/>
              </a:rPr>
              <a:t>mỗi</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FDI </a:t>
            </a:r>
            <a:r>
              <a:rPr sz="605" b="0" i="0" dirty="0" err="1">
                <a:solidFill>
                  <a:srgbClr val="2B2B2E"/>
                </a:solidFill>
                <a:latin typeface="Arial"/>
              </a:rPr>
              <a:t>đều</a:t>
            </a:r>
            <a:r>
              <a:rPr sz="605" b="0" i="0" dirty="0">
                <a:solidFill>
                  <a:srgbClr val="2B2B2E"/>
                </a:solidFill>
                <a:latin typeface="Arial"/>
              </a:rPr>
              <a:t> </a:t>
            </a:r>
            <a:r>
              <a:rPr sz="605" b="0" i="0" dirty="0" err="1">
                <a:solidFill>
                  <a:srgbClr val="2B2B2E"/>
                </a:solidFill>
                <a:latin typeface="Arial"/>
              </a:rPr>
              <a:t>đăng</a:t>
            </a:r>
            <a:r>
              <a:rPr sz="605" b="0" i="0" dirty="0">
                <a:solidFill>
                  <a:srgbClr val="2B2B2E"/>
                </a:solidFill>
                <a:latin typeface="Arial"/>
              </a:rPr>
              <a:t> </a:t>
            </a:r>
            <a:r>
              <a:rPr sz="605" b="0" i="0" dirty="0" err="1">
                <a:solidFill>
                  <a:srgbClr val="2B2B2E"/>
                </a:solidFill>
                <a:latin typeface="Arial"/>
              </a:rPr>
              <a:t>ký</a:t>
            </a:r>
            <a:r>
              <a:rPr sz="605" b="0" i="0" dirty="0">
                <a:solidFill>
                  <a:srgbClr val="2B2B2E"/>
                </a:solidFill>
                <a:latin typeface="Arial"/>
              </a:rPr>
              <a:t> </a:t>
            </a:r>
            <a:r>
              <a:rPr sz="605" b="0" i="0" dirty="0" err="1">
                <a:solidFill>
                  <a:srgbClr val="2B2B2E"/>
                </a:solidFill>
                <a:latin typeface="Arial"/>
              </a:rPr>
              <a:t>nhiều</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a:t>
            </a:r>
            <a:r>
              <a:rPr sz="605" b="0" i="0" dirty="0" err="1">
                <a:solidFill>
                  <a:srgbClr val="2B2B2E"/>
                </a:solidFill>
                <a:latin typeface="Arial"/>
              </a:rPr>
              <a:t>mức</a:t>
            </a:r>
            <a:r>
              <a:rPr sz="605" b="0" i="0" dirty="0">
                <a:solidFill>
                  <a:srgbClr val="2B2B2E"/>
                </a:solidFill>
                <a:latin typeface="Arial"/>
              </a:rPr>
              <a:t> </a:t>
            </a:r>
            <a:r>
              <a:rPr sz="605" b="0" i="0" dirty="0" err="1">
                <a:solidFill>
                  <a:srgbClr val="2B2B2E"/>
                </a:solidFill>
                <a:latin typeface="Arial"/>
              </a:rPr>
              <a:t>sẽ</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ở </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kế</a:t>
            </a:r>
            <a:r>
              <a:rPr sz="605" b="0" i="0" dirty="0">
                <a:solidFill>
                  <a:srgbClr val="2B2B2E"/>
                </a:solidFill>
                <a:latin typeface="Arial"/>
              </a:rPr>
              <a:t> </a:t>
            </a:r>
            <a:r>
              <a:rPr sz="605" b="0" i="0" dirty="0" err="1">
                <a:solidFill>
                  <a:srgbClr val="2B2B2E"/>
                </a:solidFill>
                <a:latin typeface="Arial"/>
              </a:rPr>
              <a:t>tiếp</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phần</a:t>
            </a:r>
            <a:r>
              <a:rPr sz="605" b="0" i="0" dirty="0">
                <a:solidFill>
                  <a:srgbClr val="2B2B2E"/>
                </a:solidFill>
                <a:latin typeface="Arial"/>
              </a:rPr>
              <a:t> </a:t>
            </a:r>
            <a:r>
              <a:rPr sz="605" b="0" i="0" dirty="0" err="1">
                <a:solidFill>
                  <a:srgbClr val="2B2B2E"/>
                </a:solidFill>
                <a:latin typeface="Arial"/>
              </a:rPr>
              <a:t>chênh</a:t>
            </a:r>
            <a:r>
              <a:rPr sz="605" b="0" i="0" dirty="0">
                <a:solidFill>
                  <a:srgbClr val="2B2B2E"/>
                </a:solidFill>
                <a:latin typeface="Arial"/>
              </a:rPr>
              <a:t> </a:t>
            </a:r>
            <a:r>
              <a:rPr sz="605" b="0" i="0" dirty="0" err="1">
                <a:solidFill>
                  <a:srgbClr val="2B2B2E"/>
                </a:solidFill>
                <a:latin typeface="Arial"/>
              </a:rPr>
              <a:t>đó</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lượng</a:t>
            </a:r>
            <a:r>
              <a:rPr sz="605" b="0" i="0" dirty="0">
                <a:solidFill>
                  <a:srgbClr val="2B2B2E"/>
                </a:solidFill>
                <a:latin typeface="Arial"/>
              </a:rPr>
              <a:t> </a:t>
            </a:r>
            <a:r>
              <a:rPr sz="605" b="0" i="0" dirty="0" err="1">
                <a:solidFill>
                  <a:srgbClr val="2B2B2E"/>
                </a:solidFill>
                <a:latin typeface="Arial"/>
              </a:rPr>
              <a:t>dự</a:t>
            </a:r>
            <a:r>
              <a:rPr sz="605" b="0" i="0" dirty="0">
                <a:solidFill>
                  <a:srgbClr val="2B2B2E"/>
                </a:solidFill>
                <a:latin typeface="Arial"/>
              </a:rPr>
              <a:t> </a:t>
            </a:r>
            <a:r>
              <a:rPr sz="605" b="0" i="0" dirty="0" err="1">
                <a:solidFill>
                  <a:srgbClr val="2B2B2E"/>
                </a:solidFill>
                <a:latin typeface="Arial"/>
              </a:rPr>
              <a:t>án</a:t>
            </a:r>
            <a:r>
              <a:rPr sz="605" b="0" i="0" dirty="0">
                <a:solidFill>
                  <a:srgbClr val="2B2B2E"/>
                </a:solidFill>
                <a:latin typeface="Arial"/>
              </a:rPr>
              <a:t> </a:t>
            </a:r>
            <a:r>
              <a:rPr sz="605" b="0" i="0" dirty="0" err="1">
                <a:solidFill>
                  <a:srgbClr val="2B2B2E"/>
                </a:solidFill>
                <a:latin typeface="Arial"/>
              </a:rPr>
              <a:t>đang</a:t>
            </a:r>
            <a:r>
              <a:rPr sz="605" b="0" i="0" dirty="0">
                <a:solidFill>
                  <a:srgbClr val="2B2B2E"/>
                </a:solidFill>
                <a:latin typeface="Arial"/>
              </a:rPr>
              <a:t> </a:t>
            </a:r>
            <a:r>
              <a:rPr sz="605" b="0" i="0" dirty="0" err="1">
                <a:solidFill>
                  <a:srgbClr val="2B2B2E"/>
                </a:solidFill>
                <a:latin typeface="Arial"/>
              </a:rPr>
              <a:t>chờ</a:t>
            </a:r>
            <a:r>
              <a:rPr sz="605" b="0" i="0" dirty="0">
                <a:solidFill>
                  <a:srgbClr val="2B2B2E"/>
                </a:solidFill>
                <a:latin typeface="Arial"/>
              </a:rPr>
              <a:t> </a:t>
            </a:r>
            <a:r>
              <a:rPr sz="605" b="0" i="0" dirty="0" err="1">
                <a:solidFill>
                  <a:srgbClr val="2B2B2E"/>
                </a:solidFill>
                <a:latin typeface="Arial"/>
              </a:rPr>
              <a:t>khởi</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Công</a:t>
            </a:r>
            <a:r>
              <a:rPr sz="605" b="1" i="0" dirty="0">
                <a:solidFill>
                  <a:srgbClr val="3A3A3E"/>
                </a:solidFill>
                <a:latin typeface="Arial"/>
              </a:rPr>
              <a:t> </a:t>
            </a:r>
            <a:r>
              <a:rPr sz="605" b="1" i="0" dirty="0" err="1">
                <a:solidFill>
                  <a:srgbClr val="3A3A3E"/>
                </a:solidFill>
                <a:latin typeface="Arial"/>
              </a:rPr>
              <a:t>trình</a:t>
            </a:r>
            <a:r>
              <a:rPr sz="605" b="1" i="0" dirty="0">
                <a:solidFill>
                  <a:srgbClr val="3A3A3E"/>
                </a:solidFill>
                <a:latin typeface="Arial"/>
              </a:rPr>
              <a:t> FDI </a:t>
            </a:r>
            <a:r>
              <a:rPr sz="605" b="1" i="0" dirty="0" err="1">
                <a:solidFill>
                  <a:srgbClr val="3A3A3E"/>
                </a:solidFill>
                <a:latin typeface="Arial"/>
              </a:rPr>
              <a:t>được</a:t>
            </a:r>
            <a:r>
              <a:rPr sz="605" b="1" i="0" dirty="0">
                <a:solidFill>
                  <a:srgbClr val="3A3A3E"/>
                </a:solidFill>
                <a:latin typeface="Arial"/>
              </a:rPr>
              <a:t> </a:t>
            </a:r>
            <a:r>
              <a:rPr sz="605" b="1" i="0" dirty="0" err="1">
                <a:solidFill>
                  <a:srgbClr val="3A3A3E"/>
                </a:solidFill>
                <a:latin typeface="Arial"/>
              </a:rPr>
              <a:t>ký</a:t>
            </a:r>
            <a:r>
              <a:rPr sz="605" b="1" i="0" dirty="0">
                <a:solidFill>
                  <a:srgbClr val="3A3A3E"/>
                </a:solidFill>
                <a:latin typeface="Arial"/>
              </a:rPr>
              <a:t> </a:t>
            </a:r>
            <a:r>
              <a:rPr sz="605" b="1" i="0" dirty="0" err="1">
                <a:solidFill>
                  <a:srgbClr val="3A3A3E"/>
                </a:solidFill>
                <a:latin typeface="Arial"/>
              </a:rPr>
              <a:t>trước</a:t>
            </a:r>
            <a:r>
              <a:rPr sz="605" b="1" i="0" dirty="0">
                <a:solidFill>
                  <a:srgbClr val="3A3A3E"/>
                </a:solidFill>
                <a:latin typeface="Arial"/>
              </a:rPr>
              <a:t> </a:t>
            </a:r>
            <a:r>
              <a:rPr sz="605" b="1" i="0" dirty="0" err="1">
                <a:solidFill>
                  <a:srgbClr val="3A3A3E"/>
                </a:solidFill>
                <a:latin typeface="Arial"/>
              </a:rPr>
              <a:t>giải</a:t>
            </a:r>
            <a:r>
              <a:rPr sz="605" b="1" i="0" dirty="0">
                <a:solidFill>
                  <a:srgbClr val="3A3A3E"/>
                </a:solidFill>
                <a:latin typeface="Arial"/>
              </a:rPr>
              <a:t> </a:t>
            </a:r>
            <a:r>
              <a:rPr sz="605" b="1" i="0" dirty="0" err="1">
                <a:solidFill>
                  <a:srgbClr val="3A3A3E"/>
                </a:solidFill>
                <a:latin typeface="Arial"/>
              </a:rPr>
              <a:t>ngân</a:t>
            </a:r>
            <a:r>
              <a:rPr sz="605" b="1" i="0" dirty="0">
                <a:solidFill>
                  <a:srgbClr val="3A3A3E"/>
                </a:solidFill>
                <a:latin typeface="Arial"/>
              </a:rPr>
              <a:t> 6</a:t>
            </a:r>
            <a:r>
              <a:rPr lang="en-US" sz="605" b="1" i="0" dirty="0">
                <a:solidFill>
                  <a:srgbClr val="3A3A3E"/>
                </a:solidFill>
                <a:latin typeface="Arial"/>
              </a:rPr>
              <a:t>-</a:t>
            </a:r>
            <a:r>
              <a:rPr sz="605" b="1" i="0" dirty="0">
                <a:solidFill>
                  <a:srgbClr val="3A3A3E"/>
                </a:solidFill>
                <a:latin typeface="Arial"/>
              </a:rPr>
              <a:t>18 </a:t>
            </a:r>
            <a:r>
              <a:rPr sz="605" b="1" i="0" dirty="0" err="1">
                <a:solidFill>
                  <a:srgbClr val="3A3A3E"/>
                </a:solidFill>
                <a:latin typeface="Arial"/>
              </a:rPr>
              <a:t>tháng</a:t>
            </a:r>
            <a:r>
              <a:rPr sz="605" b="0" i="0" dirty="0">
                <a:solidFill>
                  <a:srgbClr val="2B2B2E"/>
                </a:solidFill>
                <a:latin typeface="Arial"/>
              </a:rPr>
              <a:t>, </a:t>
            </a:r>
            <a:r>
              <a:rPr sz="605" b="0" i="0" dirty="0" err="1">
                <a:solidFill>
                  <a:srgbClr val="2B2B2E"/>
                </a:solidFill>
                <a:latin typeface="Arial"/>
              </a:rPr>
              <a:t>nên</a:t>
            </a:r>
            <a:r>
              <a:rPr sz="605" b="0" i="0" dirty="0">
                <a:solidFill>
                  <a:srgbClr val="2B2B2E"/>
                </a:solidFill>
                <a:latin typeface="Arial"/>
              </a:rPr>
              <a:t> </a:t>
            </a:r>
            <a:r>
              <a:rPr sz="605" b="0" i="0" dirty="0" err="1">
                <a:solidFill>
                  <a:srgbClr val="2B2B2E"/>
                </a:solidFill>
                <a:latin typeface="Arial"/>
              </a:rPr>
              <a:t>cầu</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2026</a:t>
            </a:r>
            <a:r>
              <a:rPr lang="en-US" sz="605" b="0" i="0" dirty="0">
                <a:solidFill>
                  <a:srgbClr val="2B2B2E"/>
                </a:solidFill>
                <a:latin typeface="Arial"/>
              </a:rPr>
              <a:t>-</a:t>
            </a:r>
            <a:r>
              <a:rPr sz="605" b="0" i="0" dirty="0">
                <a:solidFill>
                  <a:srgbClr val="2B2B2E"/>
                </a:solidFill>
                <a:latin typeface="Arial"/>
              </a:rPr>
              <a:t>27 </a:t>
            </a:r>
            <a:r>
              <a:rPr sz="605" b="0" i="0" dirty="0" err="1">
                <a:solidFill>
                  <a:srgbClr val="2B2B2E"/>
                </a:solidFill>
                <a:latin typeface="Arial"/>
              </a:rPr>
              <a:t>phần</a:t>
            </a:r>
            <a:r>
              <a:rPr sz="605" b="0" i="0" dirty="0">
                <a:solidFill>
                  <a:srgbClr val="2B2B2E"/>
                </a:solidFill>
                <a:latin typeface="Arial"/>
              </a:rPr>
              <a:t> </a:t>
            </a:r>
            <a:r>
              <a:rPr sz="605" b="0" i="0" dirty="0" err="1">
                <a:solidFill>
                  <a:srgbClr val="2B2B2E"/>
                </a:solidFill>
                <a:latin typeface="Arial"/>
              </a:rPr>
              <a:t>lớn</a:t>
            </a:r>
            <a:r>
              <a:rPr sz="605" b="0" i="0" dirty="0">
                <a:solidFill>
                  <a:srgbClr val="2B2B2E"/>
                </a:solidFill>
                <a:latin typeface="Arial"/>
              </a:rPr>
              <a:t> </a:t>
            </a:r>
            <a:r>
              <a:rPr sz="605" b="0" i="0" dirty="0" err="1">
                <a:solidFill>
                  <a:srgbClr val="2B2B2E"/>
                </a:solidFill>
                <a:latin typeface="Arial"/>
              </a:rPr>
              <a:t>đã</a:t>
            </a:r>
            <a:r>
              <a:rPr sz="605" b="0" i="0" dirty="0">
                <a:solidFill>
                  <a:srgbClr val="2B2B2E"/>
                </a:solidFill>
                <a:latin typeface="Arial"/>
              </a:rPr>
              <a:t> </a:t>
            </a:r>
            <a:r>
              <a:rPr sz="605" b="0" i="0" dirty="0" err="1">
                <a:solidFill>
                  <a:srgbClr val="2B2B2E"/>
                </a:solidFill>
                <a:latin typeface="Arial"/>
              </a:rPr>
              <a:t>nằm</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đã</a:t>
            </a:r>
            <a:r>
              <a:rPr sz="605" b="0" i="0" dirty="0">
                <a:solidFill>
                  <a:srgbClr val="2B2B2E"/>
                </a:solidFill>
                <a:latin typeface="Arial"/>
              </a:rPr>
              <a:t> </a:t>
            </a:r>
            <a:r>
              <a:rPr sz="605" b="0" i="0" dirty="0" err="1">
                <a:solidFill>
                  <a:srgbClr val="2B2B2E"/>
                </a:solidFill>
                <a:latin typeface="Arial"/>
              </a:rPr>
              <a:t>đăng</a:t>
            </a:r>
            <a:r>
              <a:rPr sz="605" b="0" i="0" dirty="0">
                <a:solidFill>
                  <a:srgbClr val="2B2B2E"/>
                </a:solidFill>
                <a:latin typeface="Arial"/>
              </a:rPr>
              <a:t> </a:t>
            </a:r>
            <a:r>
              <a:rPr sz="605" b="0" i="0" dirty="0" err="1">
                <a:solidFill>
                  <a:srgbClr val="2B2B2E"/>
                </a:solidFill>
                <a:latin typeface="Arial"/>
              </a:rPr>
              <a:t>ký</a:t>
            </a:r>
            <a:r>
              <a:rPr sz="605" b="0" i="0" dirty="0">
                <a:solidFill>
                  <a:srgbClr val="2B2B2E"/>
                </a:solidFill>
                <a:latin typeface="Arial"/>
              </a:rPr>
              <a:t>, </a:t>
            </a:r>
            <a:r>
              <a:rPr sz="605" b="0" i="0" dirty="0" err="1">
                <a:solidFill>
                  <a:srgbClr val="2B2B2E"/>
                </a:solidFill>
                <a:latin typeface="Arial"/>
              </a:rPr>
              <a:t>không</a:t>
            </a:r>
            <a:r>
              <a:rPr sz="605" b="0" i="0" dirty="0">
                <a:solidFill>
                  <a:srgbClr val="2B2B2E"/>
                </a:solidFill>
                <a:latin typeface="Arial"/>
              </a:rPr>
              <a:t> </a:t>
            </a:r>
            <a:r>
              <a:rPr sz="605" b="0" i="0" dirty="0" err="1">
                <a:solidFill>
                  <a:srgbClr val="2B2B2E"/>
                </a:solidFill>
                <a:latin typeface="Arial"/>
              </a:rPr>
              <a:t>phụ</a:t>
            </a:r>
            <a:r>
              <a:rPr sz="605" b="0" i="0" dirty="0">
                <a:solidFill>
                  <a:srgbClr val="2B2B2E"/>
                </a:solidFill>
                <a:latin typeface="Arial"/>
              </a:rPr>
              <a:t> </a:t>
            </a:r>
            <a:r>
              <a:rPr sz="605" b="0" i="0" dirty="0" err="1">
                <a:solidFill>
                  <a:srgbClr val="2B2B2E"/>
                </a:solidFill>
                <a:latin typeface="Arial"/>
              </a:rPr>
              <a:t>thuộc</a:t>
            </a:r>
            <a:r>
              <a:rPr sz="605" b="0" i="0" dirty="0">
                <a:solidFill>
                  <a:srgbClr val="2B2B2E"/>
                </a:solidFill>
                <a:latin typeface="Arial"/>
              </a:rPr>
              <a:t> </a:t>
            </a:r>
            <a:r>
              <a:rPr sz="605" b="0" i="0" dirty="0" err="1">
                <a:solidFill>
                  <a:srgbClr val="2B2B2E"/>
                </a:solidFill>
                <a:latin typeface="Arial"/>
              </a:rPr>
              <a:t>vào</a:t>
            </a:r>
            <a:r>
              <a:rPr sz="605" b="0" i="0" dirty="0">
                <a:solidFill>
                  <a:srgbClr val="2B2B2E"/>
                </a:solidFill>
                <a:latin typeface="Arial"/>
              </a:rPr>
              <a:t> </a:t>
            </a:r>
            <a:r>
              <a:rPr sz="605" b="0" i="0" dirty="0" err="1">
                <a:solidFill>
                  <a:srgbClr val="2B2B2E"/>
                </a:solidFill>
                <a:latin typeface="Arial"/>
              </a:rPr>
              <a:t>kỳ</a:t>
            </a:r>
            <a:r>
              <a:rPr sz="605" b="0" i="0" dirty="0">
                <a:solidFill>
                  <a:srgbClr val="2B2B2E"/>
                </a:solidFill>
                <a:latin typeface="Arial"/>
              </a:rPr>
              <a:t> </a:t>
            </a:r>
            <a:r>
              <a:rPr sz="605" b="0" i="0" dirty="0" err="1">
                <a:solidFill>
                  <a:srgbClr val="2B2B2E"/>
                </a:solidFill>
                <a:latin typeface="Arial"/>
              </a:rPr>
              <a:t>vọng</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a:t>
            </a:r>
            <a:r>
              <a:rPr sz="605" b="0" i="0" dirty="0" err="1">
                <a:solidFill>
                  <a:srgbClr val="2B2B2E"/>
                </a:solidFill>
                <a:latin typeface="Arial"/>
              </a:rPr>
              <a:t>trưởng</a:t>
            </a:r>
            <a:r>
              <a:rPr sz="605" b="0" i="0" dirty="0">
                <a:solidFill>
                  <a:srgbClr val="2B2B2E"/>
                </a:solidFill>
                <a:latin typeface="Arial"/>
              </a:rPr>
              <a:t> </a:t>
            </a:r>
            <a:r>
              <a:rPr sz="605" b="0" i="0" dirty="0" err="1">
                <a:solidFill>
                  <a:srgbClr val="2B2B2E"/>
                </a:solidFill>
                <a:latin typeface="Arial"/>
              </a:rPr>
              <a:t>mới</a:t>
            </a:r>
            <a:r>
              <a:rPr sz="605" b="0" i="0" dirty="0">
                <a:solidFill>
                  <a:srgbClr val="2B2B2E"/>
                </a:solidFill>
                <a:latin typeface="Arial"/>
              </a:rPr>
              <a:t>. </a:t>
            </a:r>
            <a:r>
              <a:rPr sz="605" b="0" i="0" dirty="0" err="1">
                <a:solidFill>
                  <a:srgbClr val="2B2B2E"/>
                </a:solidFill>
                <a:latin typeface="Arial"/>
              </a:rPr>
              <a:t>Đơn</a:t>
            </a:r>
            <a:r>
              <a:rPr sz="605" b="0" i="0" dirty="0">
                <a:solidFill>
                  <a:srgbClr val="2B2B2E"/>
                </a:solidFill>
                <a:latin typeface="Arial"/>
              </a:rPr>
              <a:t> </a:t>
            </a:r>
            <a:r>
              <a:rPr sz="605" b="0" i="0" dirty="0" err="1">
                <a:solidFill>
                  <a:srgbClr val="2B2B2E"/>
                </a:solidFill>
                <a:latin typeface="Arial"/>
              </a:rPr>
              <a:t>hàng</a:t>
            </a:r>
            <a:r>
              <a:rPr sz="605" b="0" i="0" dirty="0">
                <a:solidFill>
                  <a:srgbClr val="2B2B2E"/>
                </a:solidFill>
                <a:latin typeface="Arial"/>
              </a:rPr>
              <a:t> </a:t>
            </a:r>
            <a:r>
              <a:rPr sz="605" b="0" i="0" dirty="0" err="1">
                <a:solidFill>
                  <a:srgbClr val="2B2B2E"/>
                </a:solidFill>
                <a:latin typeface="Arial"/>
              </a:rPr>
              <a:t>chủ</a:t>
            </a:r>
            <a:r>
              <a:rPr sz="605" b="0" i="0" dirty="0">
                <a:solidFill>
                  <a:srgbClr val="2B2B2E"/>
                </a:solidFill>
                <a:latin typeface="Arial"/>
              </a:rPr>
              <a:t> </a:t>
            </a:r>
            <a:r>
              <a:rPr sz="605" b="0" i="0" dirty="0" err="1">
                <a:solidFill>
                  <a:srgbClr val="2B2B2E"/>
                </a:solidFill>
                <a:latin typeface="Arial"/>
              </a:rPr>
              <a:t>yếu</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xưởng</a:t>
            </a:r>
            <a:r>
              <a:rPr sz="605" b="0" i="0" dirty="0">
                <a:solidFill>
                  <a:srgbClr val="2B2B2E"/>
                </a:solidFill>
                <a:latin typeface="Arial"/>
              </a:rPr>
              <a:t>, </a:t>
            </a:r>
            <a:r>
              <a:rPr sz="605" b="0" i="0" dirty="0" err="1">
                <a:solidFill>
                  <a:srgbClr val="2B2B2E"/>
                </a:solidFill>
                <a:latin typeface="Arial"/>
              </a:rPr>
              <a:t>kho</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trung</a:t>
            </a:r>
            <a:r>
              <a:rPr sz="605" b="0" i="0" dirty="0">
                <a:solidFill>
                  <a:srgbClr val="2B2B2E"/>
                </a:solidFill>
                <a:latin typeface="Arial"/>
              </a:rPr>
              <a:t> </a:t>
            </a:r>
            <a:r>
              <a:rPr sz="605" b="0" i="0" dirty="0" err="1">
                <a:solidFill>
                  <a:srgbClr val="2B2B2E"/>
                </a:solidFill>
                <a:latin typeface="Arial"/>
              </a:rPr>
              <a:t>tâm</a:t>
            </a:r>
            <a:r>
              <a:rPr sz="605" b="0" i="0" dirty="0">
                <a:solidFill>
                  <a:srgbClr val="2B2B2E"/>
                </a:solidFill>
                <a:latin typeface="Arial"/>
              </a:rPr>
              <a:t> </a:t>
            </a:r>
            <a:r>
              <a:rPr sz="605" b="0" i="0" dirty="0" err="1">
                <a:solidFill>
                  <a:srgbClr val="2B2B2E"/>
                </a:solidFill>
                <a:latin typeface="Arial"/>
              </a:rPr>
              <a:t>dữ</a:t>
            </a:r>
            <a:r>
              <a:rPr sz="605" b="0" i="0" dirty="0">
                <a:solidFill>
                  <a:srgbClr val="2B2B2E"/>
                </a:solidFill>
                <a:latin typeface="Arial"/>
              </a:rPr>
              <a:t> </a:t>
            </a:r>
            <a:r>
              <a:rPr sz="605" b="0" i="0" dirty="0" err="1">
                <a:solidFill>
                  <a:srgbClr val="2B2B2E"/>
                </a:solidFill>
                <a:latin typeface="Arial"/>
              </a:rPr>
              <a:t>liệu</a:t>
            </a:r>
            <a:r>
              <a:rPr sz="605" b="0" i="0" dirty="0">
                <a:solidFill>
                  <a:srgbClr val="2B2B2E"/>
                </a:solidFill>
                <a:latin typeface="Arial"/>
              </a:rPr>
              <a:t>: </a:t>
            </a:r>
            <a:r>
              <a:rPr sz="605" b="0" i="0" dirty="0" err="1">
                <a:solidFill>
                  <a:srgbClr val="2B2B2E"/>
                </a:solidFill>
                <a:latin typeface="Arial"/>
              </a:rPr>
              <a:t>những</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trình</a:t>
            </a:r>
            <a:r>
              <a:rPr sz="605" b="0" i="0" dirty="0">
                <a:solidFill>
                  <a:srgbClr val="2B2B2E"/>
                </a:solidFill>
                <a:latin typeface="Arial"/>
              </a:rPr>
              <a:t> </a:t>
            </a:r>
            <a:r>
              <a:rPr sz="605" b="0" i="0" dirty="0" err="1">
                <a:solidFill>
                  <a:srgbClr val="2B2B2E"/>
                </a:solidFill>
                <a:latin typeface="Arial"/>
              </a:rPr>
              <a:t>có</a:t>
            </a:r>
            <a:r>
              <a:rPr sz="605" b="0" i="0" dirty="0">
                <a:solidFill>
                  <a:srgbClr val="2B2B2E"/>
                </a:solidFill>
                <a:latin typeface="Arial"/>
              </a:rPr>
              <a:t> </a:t>
            </a:r>
            <a:r>
              <a:rPr sz="605" b="0" i="0" dirty="0" err="1">
                <a:solidFill>
                  <a:srgbClr val="2B2B2E"/>
                </a:solidFill>
                <a:latin typeface="Arial"/>
              </a:rPr>
              <a:t>yêu</a:t>
            </a:r>
            <a:r>
              <a:rPr sz="605" b="0" i="0" dirty="0">
                <a:solidFill>
                  <a:srgbClr val="2B2B2E"/>
                </a:solidFill>
                <a:latin typeface="Arial"/>
              </a:rPr>
              <a:t> </a:t>
            </a:r>
            <a:r>
              <a:rPr sz="605" b="0" i="0" dirty="0" err="1">
                <a:solidFill>
                  <a:srgbClr val="2B2B2E"/>
                </a:solidFill>
                <a:latin typeface="Arial"/>
              </a:rPr>
              <a:t>cầu</a:t>
            </a:r>
            <a:r>
              <a:rPr sz="605" b="0" i="0" dirty="0">
                <a:solidFill>
                  <a:srgbClr val="2B2B2E"/>
                </a:solidFill>
                <a:latin typeface="Arial"/>
              </a:rPr>
              <a:t>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về</a:t>
            </a:r>
            <a:r>
              <a:rPr sz="605" b="0" i="0" dirty="0">
                <a:solidFill>
                  <a:srgbClr val="2B2B2E"/>
                </a:solidFill>
                <a:latin typeface="Arial"/>
              </a:rPr>
              <a:t> </a:t>
            </a:r>
            <a:r>
              <a:rPr sz="605" b="0" i="0" dirty="0" err="1">
                <a:solidFill>
                  <a:srgbClr val="2B2B2E"/>
                </a:solidFill>
                <a:latin typeface="Arial"/>
              </a:rPr>
              <a:t>tiến</a:t>
            </a:r>
            <a:r>
              <a:rPr sz="605" b="0" i="0" dirty="0">
                <a:solidFill>
                  <a:srgbClr val="2B2B2E"/>
                </a:solidFill>
                <a:latin typeface="Arial"/>
              </a:rPr>
              <a:t> </a:t>
            </a:r>
            <a:r>
              <a:rPr sz="605" b="0" i="0" dirty="0" err="1">
                <a:solidFill>
                  <a:srgbClr val="2B2B2E"/>
                </a:solidFill>
                <a:latin typeface="Arial"/>
              </a:rPr>
              <a:t>độ</a:t>
            </a:r>
            <a:r>
              <a:rPr sz="605" b="0" i="0" dirty="0">
                <a:solidFill>
                  <a:srgbClr val="2B2B2E"/>
                </a:solidFill>
                <a:latin typeface="Arial"/>
              </a:rPr>
              <a:t>, an </a:t>
            </a:r>
            <a:r>
              <a:rPr sz="605" b="0" i="0" dirty="0" err="1">
                <a:solidFill>
                  <a:srgbClr val="2B2B2E"/>
                </a:solidFill>
                <a:latin typeface="Arial"/>
              </a:rPr>
              <a:t>toàn</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tiêu</a:t>
            </a:r>
            <a:r>
              <a:rPr sz="605" b="0" i="0" dirty="0">
                <a:solidFill>
                  <a:srgbClr val="2B2B2E"/>
                </a:solidFill>
                <a:latin typeface="Arial"/>
              </a:rPr>
              <a:t> </a:t>
            </a:r>
            <a:r>
              <a:rPr sz="605" b="0" i="0" dirty="0" err="1">
                <a:solidFill>
                  <a:srgbClr val="2B2B2E"/>
                </a:solidFill>
                <a:latin typeface="Arial"/>
              </a:rPr>
              <a:t>chuẩn</a:t>
            </a:r>
            <a:r>
              <a:rPr sz="605" b="0" i="0" dirty="0">
                <a:solidFill>
                  <a:srgbClr val="2B2B2E"/>
                </a:solidFill>
                <a:latin typeface="Arial"/>
              </a:rPr>
              <a:t> </a:t>
            </a:r>
            <a:r>
              <a:rPr sz="605" b="0" i="0" dirty="0" err="1">
                <a:solidFill>
                  <a:srgbClr val="2B2B2E"/>
                </a:solidFill>
                <a:latin typeface="Arial"/>
              </a:rPr>
              <a:t>xanh</a:t>
            </a:r>
            <a:r>
              <a:rPr sz="605" b="0" i="0" dirty="0">
                <a:solidFill>
                  <a:srgbClr val="2B2B2E"/>
                </a:solidFill>
                <a:latin typeface="Arial"/>
              </a:rPr>
              <a:t>.</a:t>
            </a:r>
          </a:p>
          <a:p>
            <a:pPr marL="82687" indent="-82687" algn="l">
              <a:lnSpc>
                <a:spcPts val="858"/>
              </a:lnSpc>
              <a:spcBef>
                <a:spcPts val="0"/>
              </a:spcBef>
              <a:spcAft>
                <a:spcPts val="186"/>
              </a:spcAft>
              <a:buClr>
                <a:srgbClr val="E07A86"/>
              </a:buClr>
              <a:buSzPct val="70000"/>
              <a:buFont typeface="Arial"/>
              <a:buChar char="■"/>
            </a:pPr>
            <a:r>
              <a:rPr sz="605" b="1" i="0" dirty="0">
                <a:solidFill>
                  <a:srgbClr val="3A3A3E"/>
                </a:solidFill>
                <a:latin typeface="Arial"/>
              </a:rPr>
              <a:t>FDI </a:t>
            </a:r>
            <a:r>
              <a:rPr sz="605" b="1" i="0" dirty="0" err="1">
                <a:solidFill>
                  <a:srgbClr val="3A3A3E"/>
                </a:solidFill>
                <a:latin typeface="Arial"/>
              </a:rPr>
              <a:t>không</a:t>
            </a:r>
            <a:r>
              <a:rPr sz="605" b="1" i="0" dirty="0">
                <a:solidFill>
                  <a:srgbClr val="3A3A3E"/>
                </a:solidFill>
                <a:latin typeface="Arial"/>
              </a:rPr>
              <a:t> </a:t>
            </a:r>
            <a:r>
              <a:rPr sz="605" b="1" i="0" dirty="0" err="1">
                <a:solidFill>
                  <a:srgbClr val="3A3A3E"/>
                </a:solidFill>
                <a:latin typeface="Arial"/>
              </a:rPr>
              <a:t>còn</a:t>
            </a:r>
            <a:r>
              <a:rPr sz="605" b="1" i="0" dirty="0">
                <a:solidFill>
                  <a:srgbClr val="3A3A3E"/>
                </a:solidFill>
                <a:latin typeface="Arial"/>
              </a:rPr>
              <a:t> </a:t>
            </a:r>
            <a:r>
              <a:rPr sz="605" b="1" i="0" dirty="0" err="1">
                <a:solidFill>
                  <a:srgbClr val="3A3A3E"/>
                </a:solidFill>
                <a:latin typeface="Arial"/>
              </a:rPr>
              <a:t>phụ</a:t>
            </a:r>
            <a:r>
              <a:rPr sz="605" b="1" i="0" dirty="0">
                <a:solidFill>
                  <a:srgbClr val="3A3A3E"/>
                </a:solidFill>
                <a:latin typeface="Arial"/>
              </a:rPr>
              <a:t> </a:t>
            </a:r>
            <a:r>
              <a:rPr sz="605" b="1" i="0" dirty="0" err="1">
                <a:solidFill>
                  <a:srgbClr val="3A3A3E"/>
                </a:solidFill>
                <a:latin typeface="Arial"/>
              </a:rPr>
              <a:t>thuộc</a:t>
            </a:r>
            <a:r>
              <a:rPr sz="605" b="1" i="0" dirty="0">
                <a:solidFill>
                  <a:srgbClr val="3A3A3E"/>
                </a:solidFill>
                <a:latin typeface="Arial"/>
              </a:rPr>
              <a:t> chu </a:t>
            </a:r>
            <a:r>
              <a:rPr sz="605" b="1" i="0" dirty="0" err="1">
                <a:solidFill>
                  <a:srgbClr val="3A3A3E"/>
                </a:solidFill>
                <a:latin typeface="Arial"/>
              </a:rPr>
              <a:t>kỳ</a:t>
            </a:r>
            <a:r>
              <a:rPr sz="605" b="1" i="0" dirty="0">
                <a:solidFill>
                  <a:srgbClr val="3A3A3E"/>
                </a:solidFill>
                <a:latin typeface="Arial"/>
              </a:rPr>
              <a:t> </a:t>
            </a:r>
            <a:r>
              <a:rPr sz="605" b="1" i="0" dirty="0" err="1">
                <a:solidFill>
                  <a:srgbClr val="3A3A3E"/>
                </a:solidFill>
                <a:latin typeface="Arial"/>
              </a:rPr>
              <a:t>nội</a:t>
            </a:r>
            <a:r>
              <a:rPr sz="605" b="1" i="0" dirty="0">
                <a:solidFill>
                  <a:srgbClr val="3A3A3E"/>
                </a:solidFill>
                <a:latin typeface="Arial"/>
              </a:rPr>
              <a:t> </a:t>
            </a:r>
            <a:r>
              <a:rPr sz="605" b="1" i="0" dirty="0" err="1">
                <a:solidFill>
                  <a:srgbClr val="3A3A3E"/>
                </a:solidFill>
                <a:latin typeface="Arial"/>
              </a:rPr>
              <a:t>địa</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2020 GDP </a:t>
            </a:r>
            <a:r>
              <a:rPr sz="605" b="0" i="0" dirty="0" err="1">
                <a:solidFill>
                  <a:srgbClr val="2B2B2E"/>
                </a:solidFill>
                <a:latin typeface="Arial"/>
              </a:rPr>
              <a:t>chỉ</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2.9% </a:t>
            </a:r>
            <a:r>
              <a:rPr sz="605" b="0" i="0" dirty="0" err="1">
                <a:solidFill>
                  <a:srgbClr val="2B2B2E"/>
                </a:solidFill>
                <a:latin typeface="Arial"/>
              </a:rPr>
              <a:t>nhưng</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FDI </a:t>
            </a:r>
            <a:r>
              <a:rPr sz="605" b="0" i="0" dirty="0" err="1">
                <a:solidFill>
                  <a:srgbClr val="2B2B2E"/>
                </a:solidFill>
                <a:latin typeface="Arial"/>
              </a:rPr>
              <a:t>vẫn</a:t>
            </a:r>
            <a:r>
              <a:rPr sz="605" b="0" i="0" dirty="0">
                <a:solidFill>
                  <a:srgbClr val="2B2B2E"/>
                </a:solidFill>
                <a:latin typeface="Arial"/>
              </a:rPr>
              <a:t> ~20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từ</a:t>
            </a:r>
            <a:r>
              <a:rPr sz="605" b="0" i="0" dirty="0">
                <a:solidFill>
                  <a:srgbClr val="2B2B2E"/>
                </a:solidFill>
                <a:latin typeface="Arial"/>
              </a:rPr>
              <a:t> 2020 </a:t>
            </a:r>
            <a:r>
              <a:rPr sz="605" b="0" i="0" dirty="0" err="1">
                <a:solidFill>
                  <a:srgbClr val="2B2B2E"/>
                </a:solidFill>
                <a:latin typeface="Arial"/>
              </a:rPr>
              <a:t>đến</a:t>
            </a:r>
            <a:r>
              <a:rPr sz="605" b="0" i="0" dirty="0">
                <a:solidFill>
                  <a:srgbClr val="2B2B2E"/>
                </a:solidFill>
                <a:latin typeface="Arial"/>
              </a:rPr>
              <a:t> 2025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6.6%/</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giai</a:t>
            </a:r>
            <a:r>
              <a:rPr sz="605" b="0" i="0" dirty="0">
                <a:solidFill>
                  <a:srgbClr val="2B2B2E"/>
                </a:solidFill>
                <a:latin typeface="Arial"/>
              </a:rPr>
              <a:t> </a:t>
            </a:r>
            <a:r>
              <a:rPr sz="605" b="0" i="0" dirty="0" err="1">
                <a:solidFill>
                  <a:srgbClr val="2B2B2E"/>
                </a:solidFill>
                <a:latin typeface="Arial"/>
              </a:rPr>
              <a:t>đoạn</a:t>
            </a:r>
            <a:r>
              <a:rPr sz="605" b="0" i="0" dirty="0">
                <a:solidFill>
                  <a:srgbClr val="2B2B2E"/>
                </a:solidFill>
                <a:latin typeface="Arial"/>
              </a:rPr>
              <a:t> 2025</a:t>
            </a:r>
            <a:r>
              <a:rPr lang="en-US" sz="605" b="0" i="0" dirty="0">
                <a:solidFill>
                  <a:srgbClr val="2B2B2E"/>
                </a:solidFill>
                <a:latin typeface="Arial"/>
              </a:rPr>
              <a:t>-</a:t>
            </a:r>
            <a:r>
              <a:rPr sz="605" b="0" i="0" dirty="0">
                <a:solidFill>
                  <a:srgbClr val="2B2B2E"/>
                </a:solidFill>
                <a:latin typeface="Arial"/>
              </a:rPr>
              <a:t>27F </a:t>
            </a:r>
            <a:r>
              <a:rPr sz="605" b="0" i="0" dirty="0" err="1">
                <a:solidFill>
                  <a:srgbClr val="2B2B2E"/>
                </a:solidFill>
                <a:latin typeface="Arial"/>
              </a:rPr>
              <a:t>tăng</a:t>
            </a:r>
            <a:r>
              <a:rPr sz="605" b="0" i="0" dirty="0">
                <a:solidFill>
                  <a:srgbClr val="2B2B2E"/>
                </a:solidFill>
                <a:latin typeface="Arial"/>
              </a:rPr>
              <a:t> </a:t>
            </a:r>
            <a:r>
              <a:rPr sz="605" b="0" i="0" dirty="0" err="1">
                <a:solidFill>
                  <a:srgbClr val="2B2B2E"/>
                </a:solidFill>
                <a:latin typeface="Arial"/>
              </a:rPr>
              <a:t>nhanh</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(~10%/</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Dòng</a:t>
            </a:r>
            <a:r>
              <a:rPr sz="605" b="0" i="0" dirty="0">
                <a:solidFill>
                  <a:srgbClr val="2B2B2E"/>
                </a:solidFill>
                <a:latin typeface="Arial"/>
              </a:rPr>
              <a:t> </a:t>
            </a:r>
            <a:r>
              <a:rPr sz="605" b="0" i="0" dirty="0" err="1">
                <a:solidFill>
                  <a:srgbClr val="2B2B2E"/>
                </a:solidFill>
                <a:latin typeface="Arial"/>
              </a:rPr>
              <a:t>việc</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FDI </a:t>
            </a:r>
            <a:r>
              <a:rPr sz="605" b="0" i="0" dirty="0" err="1">
                <a:solidFill>
                  <a:srgbClr val="2B2B2E"/>
                </a:solidFill>
                <a:latin typeface="Arial"/>
              </a:rPr>
              <a:t>vì</a:t>
            </a:r>
            <a:r>
              <a:rPr sz="605" b="0" i="0" dirty="0">
                <a:solidFill>
                  <a:srgbClr val="2B2B2E"/>
                </a:solidFill>
                <a:latin typeface="Arial"/>
              </a:rPr>
              <a:t> </a:t>
            </a:r>
            <a:r>
              <a:rPr sz="605" b="0" i="0" dirty="0" err="1">
                <a:solidFill>
                  <a:srgbClr val="2B2B2E"/>
                </a:solidFill>
                <a:latin typeface="Arial"/>
              </a:rPr>
              <a:t>vậy</a:t>
            </a:r>
            <a:r>
              <a:rPr sz="605" b="0" i="0" dirty="0">
                <a:solidFill>
                  <a:srgbClr val="2B2B2E"/>
                </a:solidFill>
                <a:latin typeface="Arial"/>
              </a:rPr>
              <a:t> </a:t>
            </a:r>
            <a:r>
              <a:rPr sz="605" b="0" i="0" dirty="0" err="1">
                <a:solidFill>
                  <a:srgbClr val="2B2B2E"/>
                </a:solidFill>
                <a:latin typeface="Arial"/>
              </a:rPr>
              <a:t>ổn</a:t>
            </a:r>
            <a:r>
              <a:rPr sz="605" b="0" i="0" dirty="0">
                <a:solidFill>
                  <a:srgbClr val="2B2B2E"/>
                </a:solidFill>
                <a:latin typeface="Arial"/>
              </a:rPr>
              <a:t> </a:t>
            </a:r>
            <a:r>
              <a:rPr sz="605" b="0" i="0" dirty="0" err="1">
                <a:solidFill>
                  <a:srgbClr val="2B2B2E"/>
                </a:solidFill>
                <a:latin typeface="Arial"/>
              </a:rPr>
              <a:t>định</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a:t>
            </a:r>
            <a:r>
              <a:rPr sz="605" b="0" i="0" dirty="0" err="1">
                <a:solidFill>
                  <a:srgbClr val="2B2B2E"/>
                </a:solidFill>
                <a:latin typeface="Arial"/>
              </a:rPr>
              <a:t>dựa</a:t>
            </a:r>
            <a:r>
              <a:rPr sz="605" b="0" i="0" dirty="0">
                <a:solidFill>
                  <a:srgbClr val="2B2B2E"/>
                </a:solidFill>
                <a:latin typeface="Arial"/>
              </a:rPr>
              <a:t> </a:t>
            </a:r>
            <a:r>
              <a:rPr sz="605" b="0" i="0" dirty="0" err="1">
                <a:solidFill>
                  <a:srgbClr val="2B2B2E"/>
                </a:solidFill>
                <a:latin typeface="Arial"/>
              </a:rPr>
              <a:t>vào</a:t>
            </a:r>
            <a:r>
              <a:rPr sz="605" b="0" i="0" dirty="0">
                <a:solidFill>
                  <a:srgbClr val="2B2B2E"/>
                </a:solidFill>
                <a:latin typeface="Arial"/>
              </a:rPr>
              <a:t> </a:t>
            </a:r>
            <a:r>
              <a:rPr sz="605" b="0" i="0" dirty="0" err="1">
                <a:solidFill>
                  <a:srgbClr val="2B2B2E"/>
                </a:solidFill>
                <a:latin typeface="Arial"/>
              </a:rPr>
              <a:t>bất</a:t>
            </a:r>
            <a:r>
              <a:rPr sz="605" b="0" i="0" dirty="0">
                <a:solidFill>
                  <a:srgbClr val="2B2B2E"/>
                </a:solidFill>
                <a:latin typeface="Arial"/>
              </a:rPr>
              <a:t> </a:t>
            </a:r>
            <a:r>
              <a:rPr sz="605" b="0" i="0" dirty="0" err="1">
                <a:solidFill>
                  <a:srgbClr val="2B2B2E"/>
                </a:solidFill>
                <a:latin typeface="Arial"/>
              </a:rPr>
              <a:t>động</a:t>
            </a:r>
            <a:r>
              <a:rPr sz="605" b="0" i="0" dirty="0">
                <a:solidFill>
                  <a:srgbClr val="2B2B2E"/>
                </a:solidFill>
                <a:latin typeface="Arial"/>
              </a:rPr>
              <a:t> </a:t>
            </a:r>
            <a:r>
              <a:rPr sz="605" b="0" i="0" dirty="0" err="1">
                <a:solidFill>
                  <a:srgbClr val="2B2B2E"/>
                </a:solidFill>
                <a:latin typeface="Arial"/>
              </a:rPr>
              <a:t>sản</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a:t>
            </a:r>
            <a:r>
              <a:rPr sz="605" b="0" i="0" dirty="0" err="1">
                <a:solidFill>
                  <a:srgbClr val="2B2B2E"/>
                </a:solidFill>
                <a:latin typeface="Arial"/>
              </a:rPr>
              <a:t>nước</a:t>
            </a:r>
            <a:r>
              <a:rPr sz="605" b="0" i="0" dirty="0">
                <a:solidFill>
                  <a:srgbClr val="2B2B2E"/>
                </a:solidFill>
                <a:latin typeface="Arial"/>
              </a:rPr>
              <a:t>.</a:t>
            </a:r>
          </a:p>
        </p:txBody>
      </p:sp>
      <p:sp>
        <p:nvSpPr>
          <p:cNvPr id="45" name="TextBox 44"/>
          <p:cNvSpPr txBox="1"/>
          <p:nvPr/>
        </p:nvSpPr>
        <p:spPr>
          <a:xfrm>
            <a:off x="2451094" y="3490594"/>
            <a:ext cx="4949438" cy="1764769"/>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Quy</a:t>
            </a:r>
            <a:r>
              <a:rPr sz="605" b="1" i="0" dirty="0">
                <a:solidFill>
                  <a:srgbClr val="3A3A3E"/>
                </a:solidFill>
                <a:latin typeface="Arial"/>
              </a:rPr>
              <a:t> </a:t>
            </a:r>
            <a:r>
              <a:rPr sz="605" b="1" i="0" dirty="0" err="1">
                <a:solidFill>
                  <a:srgbClr val="3A3A3E"/>
                </a:solidFill>
                <a:latin typeface="Arial"/>
              </a:rPr>
              <a:t>mô</a:t>
            </a:r>
            <a:r>
              <a:rPr sz="605" b="1" i="0" dirty="0">
                <a:solidFill>
                  <a:srgbClr val="3A3A3E"/>
                </a:solidFill>
                <a:latin typeface="Arial"/>
              </a:rPr>
              <a:t> </a:t>
            </a:r>
            <a:r>
              <a:rPr sz="605" b="1" i="0" dirty="0" err="1">
                <a:solidFill>
                  <a:srgbClr val="3A3A3E"/>
                </a:solidFill>
                <a:latin typeface="Arial"/>
              </a:rPr>
              <a:t>chưa</a:t>
            </a:r>
            <a:r>
              <a:rPr sz="605" b="1" i="0" dirty="0">
                <a:solidFill>
                  <a:srgbClr val="3A3A3E"/>
                </a:solidFill>
                <a:latin typeface="Arial"/>
              </a:rPr>
              <a:t> </a:t>
            </a:r>
            <a:r>
              <a:rPr sz="605" b="1" i="0" dirty="0" err="1">
                <a:solidFill>
                  <a:srgbClr val="3A3A3E"/>
                </a:solidFill>
                <a:latin typeface="Arial"/>
              </a:rPr>
              <a:t>từng</a:t>
            </a:r>
            <a:r>
              <a:rPr sz="605" b="1" i="0" dirty="0">
                <a:solidFill>
                  <a:srgbClr val="3A3A3E"/>
                </a:solidFill>
                <a:latin typeface="Arial"/>
              </a:rPr>
              <a:t> </a:t>
            </a:r>
            <a:r>
              <a:rPr sz="605" b="1" i="0" dirty="0" err="1">
                <a:solidFill>
                  <a:srgbClr val="3A3A3E"/>
                </a:solidFill>
                <a:latin typeface="Arial"/>
              </a:rPr>
              <a:t>có</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Kế</a:t>
            </a:r>
            <a:r>
              <a:rPr sz="605" b="0" i="0" dirty="0">
                <a:solidFill>
                  <a:srgbClr val="2B2B2E"/>
                </a:solidFill>
                <a:latin typeface="Arial"/>
              </a:rPr>
              <a:t> </a:t>
            </a:r>
            <a:r>
              <a:rPr sz="605" b="0" i="0" dirty="0" err="1">
                <a:solidFill>
                  <a:srgbClr val="2B2B2E"/>
                </a:solidFill>
                <a:latin typeface="Arial"/>
              </a:rPr>
              <a:t>hoạch</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tư</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2026 </a:t>
            </a:r>
            <a:r>
              <a:rPr sz="605" b="0" i="0" dirty="0" err="1">
                <a:solidFill>
                  <a:srgbClr val="2B2B2E"/>
                </a:solidFill>
                <a:latin typeface="Arial"/>
              </a:rPr>
              <a:t>là</a:t>
            </a:r>
            <a:r>
              <a:rPr sz="605" b="0" i="0" dirty="0">
                <a:solidFill>
                  <a:srgbClr val="2B2B2E"/>
                </a:solidFill>
                <a:latin typeface="Arial"/>
              </a:rPr>
              <a:t> 1,022.6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a:t>
            </a:r>
            <a:r>
              <a:rPr sz="605" b="0" i="0" dirty="0" err="1">
                <a:solidFill>
                  <a:srgbClr val="2B2B2E"/>
                </a:solidFill>
                <a:latin typeface="Arial"/>
              </a:rPr>
              <a:t>đồng</a:t>
            </a:r>
            <a:r>
              <a:rPr sz="605" b="0" i="0" dirty="0">
                <a:solidFill>
                  <a:srgbClr val="2B2B2E"/>
                </a:solidFill>
                <a:latin typeface="Arial"/>
              </a:rPr>
              <a:t>, </a:t>
            </a:r>
            <a:r>
              <a:rPr sz="605" b="0" i="0" dirty="0" err="1">
                <a:solidFill>
                  <a:srgbClr val="2B2B2E"/>
                </a:solidFill>
                <a:latin typeface="Arial"/>
              </a:rPr>
              <a:t>lớn</a:t>
            </a:r>
            <a:r>
              <a:rPr sz="605" b="0" i="0" dirty="0">
                <a:solidFill>
                  <a:srgbClr val="2B2B2E"/>
                </a:solidFill>
                <a:latin typeface="Arial"/>
              </a:rPr>
              <a:t> </a:t>
            </a:r>
            <a:r>
              <a:rPr sz="605" b="0" i="0" dirty="0" err="1">
                <a:solidFill>
                  <a:srgbClr val="2B2B2E"/>
                </a:solidFill>
                <a:latin typeface="Arial"/>
              </a:rPr>
              <a:t>nhất</a:t>
            </a:r>
            <a:r>
              <a:rPr sz="605" b="0" i="0" dirty="0">
                <a:solidFill>
                  <a:srgbClr val="2B2B2E"/>
                </a:solidFill>
                <a:latin typeface="Arial"/>
              </a:rPr>
              <a:t> </a:t>
            </a:r>
            <a:r>
              <a:rPr sz="605" b="0" i="0" dirty="0" err="1">
                <a:solidFill>
                  <a:srgbClr val="2B2B2E"/>
                </a:solidFill>
                <a:latin typeface="Arial"/>
              </a:rPr>
              <a:t>lịch</a:t>
            </a:r>
            <a:r>
              <a:rPr sz="605" b="0" i="0" dirty="0">
                <a:solidFill>
                  <a:srgbClr val="2B2B2E"/>
                </a:solidFill>
                <a:latin typeface="Arial"/>
              </a:rPr>
              <a:t> </a:t>
            </a:r>
            <a:r>
              <a:rPr sz="605" b="0" i="0" dirty="0" err="1">
                <a:solidFill>
                  <a:srgbClr val="2B2B2E"/>
                </a:solidFill>
                <a:latin typeface="Arial"/>
              </a:rPr>
              <a:t>sử</a:t>
            </a:r>
            <a:r>
              <a:rPr sz="605" b="0" i="0" dirty="0">
                <a:solidFill>
                  <a:srgbClr val="2B2B2E"/>
                </a:solidFill>
                <a:latin typeface="Arial"/>
              </a:rPr>
              <a:t>. </a:t>
            </a:r>
            <a:r>
              <a:rPr sz="605" b="0" i="0" dirty="0" err="1">
                <a:solidFill>
                  <a:srgbClr val="2B2B2E"/>
                </a:solidFill>
                <a:latin typeface="Arial"/>
              </a:rPr>
              <a:t>Giai</a:t>
            </a:r>
            <a:r>
              <a:rPr sz="605" b="0" i="0" dirty="0">
                <a:solidFill>
                  <a:srgbClr val="2B2B2E"/>
                </a:solidFill>
                <a:latin typeface="Arial"/>
              </a:rPr>
              <a:t> </a:t>
            </a:r>
            <a:r>
              <a:rPr sz="605" b="0" i="0" dirty="0" err="1">
                <a:solidFill>
                  <a:srgbClr val="2B2B2E"/>
                </a:solidFill>
                <a:latin typeface="Arial"/>
              </a:rPr>
              <a:t>đoạn</a:t>
            </a:r>
            <a:r>
              <a:rPr sz="605" b="0" i="0" dirty="0">
                <a:solidFill>
                  <a:srgbClr val="2B2B2E"/>
                </a:solidFill>
                <a:latin typeface="Arial"/>
              </a:rPr>
              <a:t> 2026</a:t>
            </a:r>
            <a:r>
              <a:rPr lang="en-US" sz="605" b="0" i="0" dirty="0">
                <a:solidFill>
                  <a:srgbClr val="2B2B2E"/>
                </a:solidFill>
                <a:latin typeface="Arial"/>
              </a:rPr>
              <a:t>-</a:t>
            </a:r>
            <a:r>
              <a:rPr sz="605" b="0" i="0" dirty="0">
                <a:solidFill>
                  <a:srgbClr val="2B2B2E"/>
                </a:solidFill>
                <a:latin typeface="Arial"/>
              </a:rPr>
              <a:t>30 </a:t>
            </a:r>
            <a:r>
              <a:rPr sz="605" b="0" i="0" dirty="0" err="1">
                <a:solidFill>
                  <a:srgbClr val="2B2B2E"/>
                </a:solidFill>
                <a:latin typeface="Arial"/>
              </a:rPr>
              <a:t>là</a:t>
            </a:r>
            <a:r>
              <a:rPr sz="605" b="0" i="0" dirty="0">
                <a:solidFill>
                  <a:srgbClr val="2B2B2E"/>
                </a:solidFill>
                <a:latin typeface="Arial"/>
              </a:rPr>
              <a:t> 8.22 </a:t>
            </a:r>
            <a:r>
              <a:rPr sz="605" b="0" i="0" dirty="0" err="1">
                <a:solidFill>
                  <a:srgbClr val="2B2B2E"/>
                </a:solidFill>
                <a:latin typeface="Arial"/>
              </a:rPr>
              <a:t>triệu</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a:t>
            </a:r>
            <a:r>
              <a:rPr sz="605" b="0" i="0" dirty="0" err="1">
                <a:solidFill>
                  <a:srgbClr val="2B2B2E"/>
                </a:solidFill>
                <a:latin typeface="Arial"/>
              </a:rPr>
              <a:t>trung</a:t>
            </a:r>
            <a:r>
              <a:rPr sz="605" b="0" i="0" dirty="0">
                <a:solidFill>
                  <a:srgbClr val="2B2B2E"/>
                </a:solidFill>
                <a:latin typeface="Arial"/>
              </a:rPr>
              <a:t> </a:t>
            </a:r>
            <a:r>
              <a:rPr sz="605" b="0" i="0" dirty="0" err="1">
                <a:solidFill>
                  <a:srgbClr val="2B2B2E"/>
                </a:solidFill>
                <a:latin typeface="Arial"/>
              </a:rPr>
              <a:t>ương</a:t>
            </a:r>
            <a:r>
              <a:rPr sz="605" b="0" i="0" dirty="0">
                <a:solidFill>
                  <a:srgbClr val="2B2B2E"/>
                </a:solidFill>
                <a:latin typeface="Arial"/>
              </a:rPr>
              <a:t> 3.8, </a:t>
            </a:r>
            <a:r>
              <a:rPr sz="605" b="0" i="0" dirty="0" err="1">
                <a:solidFill>
                  <a:srgbClr val="2B2B2E"/>
                </a:solidFill>
                <a:latin typeface="Arial"/>
              </a:rPr>
              <a:t>địa</a:t>
            </a:r>
            <a:r>
              <a:rPr sz="605" b="0" i="0" dirty="0">
                <a:solidFill>
                  <a:srgbClr val="2B2B2E"/>
                </a:solidFill>
                <a:latin typeface="Arial"/>
              </a:rPr>
              <a:t> </a:t>
            </a:r>
            <a:r>
              <a:rPr sz="605" b="0" i="0" dirty="0" err="1">
                <a:solidFill>
                  <a:srgbClr val="2B2B2E"/>
                </a:solidFill>
                <a:latin typeface="Arial"/>
              </a:rPr>
              <a:t>phương</a:t>
            </a:r>
            <a:r>
              <a:rPr sz="605" b="0" i="0" dirty="0">
                <a:solidFill>
                  <a:srgbClr val="2B2B2E"/>
                </a:solidFill>
                <a:latin typeface="Arial"/>
              </a:rPr>
              <a:t> 4.42), </a:t>
            </a:r>
            <a:r>
              <a:rPr sz="605" b="0" i="0" dirty="0" err="1">
                <a:solidFill>
                  <a:srgbClr val="2B2B2E"/>
                </a:solidFill>
                <a:latin typeface="Arial"/>
              </a:rPr>
              <a:t>suy</a:t>
            </a:r>
            <a:r>
              <a:rPr sz="605" b="0" i="0" dirty="0">
                <a:solidFill>
                  <a:srgbClr val="2B2B2E"/>
                </a:solidFill>
                <a:latin typeface="Arial"/>
              </a:rPr>
              <a:t> ra </a:t>
            </a:r>
            <a:r>
              <a:rPr sz="605" b="0" i="0" dirty="0" err="1">
                <a:solidFill>
                  <a:srgbClr val="2B2B2E"/>
                </a:solidFill>
                <a:latin typeface="Arial"/>
              </a:rPr>
              <a:t>bình</a:t>
            </a:r>
            <a:r>
              <a:rPr sz="605" b="0" i="0" dirty="0">
                <a:solidFill>
                  <a:srgbClr val="2B2B2E"/>
                </a:solidFill>
                <a:latin typeface="Arial"/>
              </a:rPr>
              <a:t> </a:t>
            </a:r>
            <a:r>
              <a:rPr sz="605" b="0" i="0" dirty="0" err="1">
                <a:solidFill>
                  <a:srgbClr val="2B2B2E"/>
                </a:solidFill>
                <a:latin typeface="Arial"/>
              </a:rPr>
              <a:t>quân</a:t>
            </a:r>
            <a:r>
              <a:rPr sz="605" b="0" i="0" dirty="0">
                <a:solidFill>
                  <a:srgbClr val="2B2B2E"/>
                </a:solidFill>
                <a:latin typeface="Arial"/>
              </a:rPr>
              <a:t> </a:t>
            </a:r>
            <a:r>
              <a:rPr sz="605" b="1" i="0" dirty="0">
                <a:solidFill>
                  <a:srgbClr val="C8102E"/>
                </a:solidFill>
                <a:latin typeface="Arial"/>
              </a:rPr>
              <a:t>~1,800 </a:t>
            </a:r>
            <a:r>
              <a:rPr sz="605" b="1" i="0" dirty="0" err="1">
                <a:solidFill>
                  <a:srgbClr val="C8102E"/>
                </a:solidFill>
                <a:latin typeface="Arial"/>
              </a:rPr>
              <a:t>nghìn</a:t>
            </a:r>
            <a:r>
              <a:rPr sz="605" b="1" i="0" dirty="0">
                <a:solidFill>
                  <a:srgbClr val="C8102E"/>
                </a:solidFill>
                <a:latin typeface="Arial"/>
              </a:rPr>
              <a:t> </a:t>
            </a:r>
            <a:r>
              <a:rPr sz="605" b="1" i="0" dirty="0" err="1">
                <a:solidFill>
                  <a:srgbClr val="C8102E"/>
                </a:solidFill>
                <a:latin typeface="Arial"/>
              </a:rPr>
              <a:t>tỷ</a:t>
            </a:r>
            <a:r>
              <a:rPr sz="605" b="1" i="0" dirty="0">
                <a:solidFill>
                  <a:srgbClr val="C8102E"/>
                </a:solidFill>
                <a:latin typeface="Arial"/>
              </a:rPr>
              <a:t>/</a:t>
            </a:r>
            <a:r>
              <a:rPr sz="605" b="1" i="0" dirty="0" err="1">
                <a:solidFill>
                  <a:srgbClr val="C8102E"/>
                </a:solidFill>
                <a:latin typeface="Arial"/>
              </a:rPr>
              <a:t>năm</a:t>
            </a:r>
            <a:r>
              <a:rPr sz="605" b="0" i="0" dirty="0">
                <a:solidFill>
                  <a:srgbClr val="2B2B2E"/>
                </a:solidFill>
                <a:latin typeface="Arial"/>
              </a:rPr>
              <a:t> </a:t>
            </a:r>
            <a:r>
              <a:rPr sz="605" b="0" i="0" dirty="0" err="1">
                <a:solidFill>
                  <a:srgbClr val="2B2B2E"/>
                </a:solidFill>
                <a:latin typeface="Arial"/>
              </a:rPr>
              <a:t>cho</a:t>
            </a:r>
            <a:r>
              <a:rPr sz="605" b="0" i="0" dirty="0">
                <a:solidFill>
                  <a:srgbClr val="2B2B2E"/>
                </a:solidFill>
                <a:latin typeface="Arial"/>
              </a:rPr>
              <a:t> 2027</a:t>
            </a:r>
            <a:r>
              <a:rPr lang="en-US" sz="605" b="0" i="0" dirty="0">
                <a:solidFill>
                  <a:srgbClr val="2B2B2E"/>
                </a:solidFill>
                <a:latin typeface="Arial"/>
              </a:rPr>
              <a:t>-</a:t>
            </a:r>
            <a:r>
              <a:rPr sz="605" b="0" i="0" dirty="0">
                <a:solidFill>
                  <a:srgbClr val="2B2B2E"/>
                </a:solidFill>
                <a:latin typeface="Arial"/>
              </a:rPr>
              <a:t>30,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76% so </a:t>
            </a:r>
            <a:r>
              <a:rPr sz="605" b="0" i="0" dirty="0" err="1">
                <a:solidFill>
                  <a:srgbClr val="2B2B2E"/>
                </a:solidFill>
                <a:latin typeface="Arial"/>
              </a:rPr>
              <a:t>với</a:t>
            </a:r>
            <a:r>
              <a:rPr sz="605" b="0" i="0" dirty="0">
                <a:solidFill>
                  <a:srgbClr val="2B2B2E"/>
                </a:solidFill>
                <a:latin typeface="Arial"/>
              </a:rPr>
              <a:t> 2026. </a:t>
            </a:r>
            <a:r>
              <a:rPr sz="605" b="0" i="0" dirty="0" err="1">
                <a:solidFill>
                  <a:srgbClr val="2B2B2E"/>
                </a:solidFill>
                <a:latin typeface="Arial"/>
              </a:rPr>
              <a:t>Nhóm</a:t>
            </a:r>
            <a:r>
              <a:rPr sz="605" b="0" i="0" dirty="0">
                <a:solidFill>
                  <a:srgbClr val="2B2B2E"/>
                </a:solidFill>
                <a:latin typeface="Arial"/>
              </a:rPr>
              <a:t> 38 </a:t>
            </a:r>
            <a:r>
              <a:rPr sz="605" b="0" i="0" dirty="0" err="1">
                <a:solidFill>
                  <a:srgbClr val="2B2B2E"/>
                </a:solidFill>
                <a:latin typeface="Arial"/>
              </a:rPr>
              <a:t>dự</a:t>
            </a:r>
            <a:r>
              <a:rPr sz="605" b="0" i="0" dirty="0">
                <a:solidFill>
                  <a:srgbClr val="2B2B2E"/>
                </a:solidFill>
                <a:latin typeface="Arial"/>
              </a:rPr>
              <a:t> </a:t>
            </a:r>
            <a:r>
              <a:rPr sz="605" b="0" i="0" dirty="0" err="1">
                <a:solidFill>
                  <a:srgbClr val="2B2B2E"/>
                </a:solidFill>
                <a:latin typeface="Arial"/>
              </a:rPr>
              <a:t>án</a:t>
            </a:r>
            <a:r>
              <a:rPr sz="605" b="0" i="0" dirty="0">
                <a:solidFill>
                  <a:srgbClr val="2B2B2E"/>
                </a:solidFill>
                <a:latin typeface="Arial"/>
              </a:rPr>
              <a:t> </a:t>
            </a:r>
            <a:r>
              <a:rPr sz="605" b="0" i="0" dirty="0" err="1">
                <a:solidFill>
                  <a:srgbClr val="2B2B2E"/>
                </a:solidFill>
                <a:latin typeface="Arial"/>
              </a:rPr>
              <a:t>trọng</a:t>
            </a:r>
            <a:r>
              <a:rPr sz="605" b="0" i="0" dirty="0">
                <a:solidFill>
                  <a:srgbClr val="2B2B2E"/>
                </a:solidFill>
                <a:latin typeface="Arial"/>
              </a:rPr>
              <a:t> </a:t>
            </a:r>
            <a:r>
              <a:rPr sz="605" b="0" i="0" dirty="0" err="1">
                <a:solidFill>
                  <a:srgbClr val="2B2B2E"/>
                </a:solidFill>
                <a:latin typeface="Arial"/>
              </a:rPr>
              <a:t>điểm</a:t>
            </a:r>
            <a:r>
              <a:rPr sz="605" b="0" i="0" dirty="0">
                <a:solidFill>
                  <a:srgbClr val="2B2B2E"/>
                </a:solidFill>
                <a:latin typeface="Arial"/>
              </a:rPr>
              <a:t> </a:t>
            </a:r>
            <a:r>
              <a:rPr sz="605" b="0" i="0" dirty="0" err="1">
                <a:solidFill>
                  <a:srgbClr val="2B2B2E"/>
                </a:solidFill>
                <a:latin typeface="Arial"/>
              </a:rPr>
              <a:t>quốc</a:t>
            </a:r>
            <a:r>
              <a:rPr sz="605" b="0" i="0" dirty="0">
                <a:solidFill>
                  <a:srgbClr val="2B2B2E"/>
                </a:solidFill>
                <a:latin typeface="Arial"/>
              </a:rPr>
              <a:t> </a:t>
            </a:r>
            <a:r>
              <a:rPr sz="605" b="0" i="0" dirty="0" err="1">
                <a:solidFill>
                  <a:srgbClr val="2B2B2E"/>
                </a:solidFill>
                <a:latin typeface="Arial"/>
              </a:rPr>
              <a:t>gia</a:t>
            </a:r>
            <a:r>
              <a:rPr sz="605" b="0" i="0" dirty="0">
                <a:solidFill>
                  <a:srgbClr val="2B2B2E"/>
                </a:solidFill>
                <a:latin typeface="Arial"/>
              </a:rPr>
              <a:t> 2026</a:t>
            </a:r>
            <a:r>
              <a:rPr lang="en-US" sz="605" b="0" i="0" dirty="0">
                <a:solidFill>
                  <a:srgbClr val="2B2B2E"/>
                </a:solidFill>
                <a:latin typeface="Arial"/>
              </a:rPr>
              <a:t>-</a:t>
            </a:r>
            <a:r>
              <a:rPr sz="605" b="0" i="0" dirty="0">
                <a:solidFill>
                  <a:srgbClr val="2B2B2E"/>
                </a:solidFill>
                <a:latin typeface="Arial"/>
              </a:rPr>
              <a:t>30 </a:t>
            </a:r>
            <a:r>
              <a:rPr sz="605" b="0" i="0" dirty="0" err="1">
                <a:solidFill>
                  <a:srgbClr val="2B2B2E"/>
                </a:solidFill>
                <a:latin typeface="Arial"/>
              </a:rPr>
              <a:t>có</a:t>
            </a:r>
            <a:r>
              <a:rPr sz="605" b="0" i="0" dirty="0">
                <a:solidFill>
                  <a:srgbClr val="2B2B2E"/>
                </a:solidFill>
                <a:latin typeface="Arial"/>
              </a:rPr>
              <a:t> </a:t>
            </a:r>
            <a:r>
              <a:rPr sz="605" b="0" i="0" dirty="0" err="1">
                <a:solidFill>
                  <a:srgbClr val="2B2B2E"/>
                </a:solidFill>
                <a:latin typeface="Arial"/>
              </a:rPr>
              <a:t>tổng</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khoảng</a:t>
            </a:r>
            <a:r>
              <a:rPr sz="605" b="0" i="0" dirty="0">
                <a:solidFill>
                  <a:srgbClr val="2B2B2E"/>
                </a:solidFill>
                <a:latin typeface="Arial"/>
              </a:rPr>
              <a:t> 5 </a:t>
            </a:r>
            <a:r>
              <a:rPr sz="605" b="0" i="0" dirty="0" err="1">
                <a:solidFill>
                  <a:srgbClr val="2B2B2E"/>
                </a:solidFill>
                <a:latin typeface="Arial"/>
              </a:rPr>
              <a:t>triệu</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(~190 </a:t>
            </a:r>
            <a:r>
              <a:rPr sz="605" b="0" i="0" dirty="0" err="1">
                <a:solidFill>
                  <a:srgbClr val="2B2B2E"/>
                </a:solidFill>
                <a:latin typeface="Arial"/>
              </a:rPr>
              <a:t>tỷ</a:t>
            </a:r>
            <a:r>
              <a:rPr sz="605" b="0" i="0" dirty="0">
                <a:solidFill>
                  <a:srgbClr val="2B2B2E"/>
                </a:solidFill>
                <a:latin typeface="Arial"/>
              </a:rPr>
              <a:t> USD), </a:t>
            </a:r>
            <a:r>
              <a:rPr sz="605" b="0" i="0" dirty="0" err="1">
                <a:solidFill>
                  <a:srgbClr val="2B2B2E"/>
                </a:solidFill>
                <a:latin typeface="Arial"/>
              </a:rPr>
              <a:t>riêng</a:t>
            </a:r>
            <a:r>
              <a:rPr sz="605" b="0" i="0" dirty="0">
                <a:solidFill>
                  <a:srgbClr val="2B2B2E"/>
                </a:solidFill>
                <a:latin typeface="Arial"/>
              </a:rPr>
              <a:t> 2026 </a:t>
            </a:r>
            <a:r>
              <a:rPr sz="605" b="0" i="0" dirty="0" err="1">
                <a:solidFill>
                  <a:srgbClr val="2B2B2E"/>
                </a:solidFill>
                <a:latin typeface="Arial"/>
              </a:rPr>
              <a:t>bố</a:t>
            </a:r>
            <a:r>
              <a:rPr sz="605" b="0" i="0" dirty="0">
                <a:solidFill>
                  <a:srgbClr val="2B2B2E"/>
                </a:solidFill>
                <a:latin typeface="Arial"/>
              </a:rPr>
              <a:t> </a:t>
            </a:r>
            <a:r>
              <a:rPr sz="605" b="0" i="0" dirty="0" err="1">
                <a:solidFill>
                  <a:srgbClr val="2B2B2E"/>
                </a:solidFill>
                <a:latin typeface="Arial"/>
              </a:rPr>
              <a:t>trí</a:t>
            </a:r>
            <a:r>
              <a:rPr sz="605" b="0" i="0" dirty="0">
                <a:solidFill>
                  <a:srgbClr val="2B2B2E"/>
                </a:solidFill>
                <a:latin typeface="Arial"/>
              </a:rPr>
              <a:t> 220,000 </a:t>
            </a:r>
            <a:r>
              <a:rPr sz="605" b="0" i="0" dirty="0" err="1">
                <a:solidFill>
                  <a:srgbClr val="2B2B2E"/>
                </a:solidFill>
                <a:latin typeface="Arial"/>
              </a:rPr>
              <a:t>tỷ</a:t>
            </a:r>
            <a:r>
              <a:rPr sz="605" b="0" i="0" dirty="0">
                <a:solidFill>
                  <a:srgbClr val="2B2B2E"/>
                </a:solidFill>
                <a:latin typeface="Arial"/>
              </a:rPr>
              <a:t>.</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Điểm</a:t>
            </a:r>
            <a:r>
              <a:rPr sz="605" b="1" i="0" dirty="0">
                <a:solidFill>
                  <a:srgbClr val="3A3A3E"/>
                </a:solidFill>
                <a:latin typeface="Arial"/>
              </a:rPr>
              <a:t> </a:t>
            </a:r>
            <a:r>
              <a:rPr sz="605" b="1" i="0" dirty="0" err="1">
                <a:solidFill>
                  <a:srgbClr val="3A3A3E"/>
                </a:solidFill>
                <a:latin typeface="Arial"/>
              </a:rPr>
              <a:t>rơi</a:t>
            </a:r>
            <a:r>
              <a:rPr sz="605" b="1" i="0" dirty="0">
                <a:solidFill>
                  <a:srgbClr val="3A3A3E"/>
                </a:solidFill>
                <a:latin typeface="Arial"/>
              </a:rPr>
              <a:t> </a:t>
            </a:r>
            <a:r>
              <a:rPr sz="605" b="1" i="0" dirty="0" err="1">
                <a:solidFill>
                  <a:srgbClr val="3A3A3E"/>
                </a:solidFill>
                <a:latin typeface="Arial"/>
              </a:rPr>
              <a:t>giải</a:t>
            </a:r>
            <a:r>
              <a:rPr sz="605" b="1" i="0" dirty="0">
                <a:solidFill>
                  <a:srgbClr val="3A3A3E"/>
                </a:solidFill>
                <a:latin typeface="Arial"/>
              </a:rPr>
              <a:t> </a:t>
            </a:r>
            <a:r>
              <a:rPr sz="605" b="1" i="0" dirty="0" err="1">
                <a:solidFill>
                  <a:srgbClr val="3A3A3E"/>
                </a:solidFill>
                <a:latin typeface="Arial"/>
              </a:rPr>
              <a:t>ngân</a:t>
            </a:r>
            <a:r>
              <a:rPr sz="605" b="1" i="0" dirty="0">
                <a:solidFill>
                  <a:srgbClr val="3A3A3E"/>
                </a:solidFill>
                <a:latin typeface="Arial"/>
              </a:rPr>
              <a:t> </a:t>
            </a:r>
            <a:r>
              <a:rPr sz="605" b="1" i="0" dirty="0" err="1">
                <a:solidFill>
                  <a:srgbClr val="3A3A3E"/>
                </a:solidFill>
                <a:latin typeface="Arial"/>
              </a:rPr>
              <a:t>còn</a:t>
            </a:r>
            <a:r>
              <a:rPr sz="605" b="1" i="0" dirty="0">
                <a:solidFill>
                  <a:srgbClr val="3A3A3E"/>
                </a:solidFill>
                <a:latin typeface="Arial"/>
              </a:rPr>
              <a:t> </a:t>
            </a:r>
            <a:r>
              <a:rPr sz="605" b="1" i="0" dirty="0" err="1">
                <a:solidFill>
                  <a:srgbClr val="3A3A3E"/>
                </a:solidFill>
                <a:latin typeface="Arial"/>
              </a:rPr>
              <a:t>phía</a:t>
            </a:r>
            <a:r>
              <a:rPr sz="605" b="1" i="0" dirty="0">
                <a:solidFill>
                  <a:srgbClr val="3A3A3E"/>
                </a:solidFill>
                <a:latin typeface="Arial"/>
              </a:rPr>
              <a:t> </a:t>
            </a:r>
            <a:r>
              <a:rPr sz="605" b="1" i="0" dirty="0" err="1">
                <a:solidFill>
                  <a:srgbClr val="3A3A3E"/>
                </a:solidFill>
                <a:latin typeface="Arial"/>
              </a:rPr>
              <a:t>trước</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Đến</a:t>
            </a:r>
            <a:r>
              <a:rPr sz="605" b="0" i="0" dirty="0">
                <a:solidFill>
                  <a:srgbClr val="2B2B2E"/>
                </a:solidFill>
                <a:latin typeface="Arial"/>
              </a:rPr>
              <a:t> 24/9/2026 </a:t>
            </a:r>
            <a:r>
              <a:rPr sz="605" b="0" i="0" dirty="0" err="1">
                <a:solidFill>
                  <a:srgbClr val="2B2B2E"/>
                </a:solidFill>
                <a:latin typeface="Arial"/>
              </a:rPr>
              <a:t>mới</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567.8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a:t>
            </a:r>
            <a:r>
              <a:rPr sz="605" b="0" i="0" dirty="0" err="1">
                <a:solidFill>
                  <a:srgbClr val="2B2B2E"/>
                </a:solidFill>
                <a:latin typeface="Arial"/>
              </a:rPr>
              <a:t>tương</a:t>
            </a:r>
            <a:r>
              <a:rPr sz="605" b="0" i="0" dirty="0">
                <a:solidFill>
                  <a:srgbClr val="2B2B2E"/>
                </a:solidFill>
                <a:latin typeface="Arial"/>
              </a:rPr>
              <a:t> </a:t>
            </a:r>
            <a:r>
              <a:rPr sz="605" b="0" i="0" dirty="0" err="1">
                <a:solidFill>
                  <a:srgbClr val="2B2B2E"/>
                </a:solidFill>
                <a:latin typeface="Arial"/>
              </a:rPr>
              <a:t>đương</a:t>
            </a:r>
            <a:r>
              <a:rPr sz="605" b="0" i="0" dirty="0">
                <a:solidFill>
                  <a:srgbClr val="2B2B2E"/>
                </a:solidFill>
                <a:latin typeface="Arial"/>
              </a:rPr>
              <a:t> </a:t>
            </a:r>
            <a:r>
              <a:rPr sz="605" b="1" i="0" dirty="0">
                <a:solidFill>
                  <a:srgbClr val="C8102E"/>
                </a:solidFill>
                <a:latin typeface="Arial"/>
              </a:rPr>
              <a:t>55.5%</a:t>
            </a:r>
            <a:r>
              <a:rPr sz="605" b="0" i="0" dirty="0">
                <a:solidFill>
                  <a:srgbClr val="2B2B2E"/>
                </a:solidFill>
                <a:latin typeface="Arial"/>
              </a:rPr>
              <a:t> </a:t>
            </a:r>
            <a:r>
              <a:rPr sz="605" b="0" i="0" dirty="0" err="1">
                <a:solidFill>
                  <a:srgbClr val="2B2B2E"/>
                </a:solidFill>
                <a:latin typeface="Arial"/>
              </a:rPr>
              <a:t>kế</a:t>
            </a:r>
            <a:r>
              <a:rPr sz="605" b="0" i="0" dirty="0">
                <a:solidFill>
                  <a:srgbClr val="2B2B2E"/>
                </a:solidFill>
                <a:latin typeface="Arial"/>
              </a:rPr>
              <a:t> </a:t>
            </a:r>
            <a:r>
              <a:rPr sz="605" b="0" i="0" dirty="0" err="1">
                <a:solidFill>
                  <a:srgbClr val="2B2B2E"/>
                </a:solidFill>
                <a:latin typeface="Arial"/>
              </a:rPr>
              <a:t>hoạch</a:t>
            </a:r>
            <a:r>
              <a:rPr sz="605" b="0" i="0" dirty="0">
                <a:solidFill>
                  <a:srgbClr val="2B2B2E"/>
                </a:solidFill>
                <a:latin typeface="Arial"/>
              </a:rPr>
              <a:t>. </a:t>
            </a:r>
            <a:r>
              <a:rPr sz="605" b="0" i="0" dirty="0" err="1">
                <a:solidFill>
                  <a:srgbClr val="2B2B2E"/>
                </a:solidFill>
                <a:latin typeface="Arial"/>
              </a:rPr>
              <a:t>Kịch</a:t>
            </a:r>
            <a:r>
              <a:rPr sz="605" b="0" i="0" dirty="0">
                <a:solidFill>
                  <a:srgbClr val="2B2B2E"/>
                </a:solidFill>
                <a:latin typeface="Arial"/>
              </a:rPr>
              <a:t> </a:t>
            </a:r>
            <a:r>
              <a:rPr sz="605" b="0" i="0" dirty="0" err="1">
                <a:solidFill>
                  <a:srgbClr val="2B2B2E"/>
                </a:solidFill>
                <a:latin typeface="Arial"/>
              </a:rPr>
              <a:t>bản</a:t>
            </a:r>
            <a:r>
              <a:rPr sz="605" b="0" i="0" dirty="0">
                <a:solidFill>
                  <a:srgbClr val="2B2B2E"/>
                </a:solidFill>
                <a:latin typeface="Arial"/>
              </a:rPr>
              <a:t> </a:t>
            </a:r>
            <a:r>
              <a:rPr sz="605" b="0" i="0" dirty="0" err="1">
                <a:solidFill>
                  <a:srgbClr val="2B2B2E"/>
                </a:solidFill>
                <a:latin typeface="Arial"/>
              </a:rPr>
              <a:t>cơ</a:t>
            </a:r>
            <a:r>
              <a:rPr sz="605" b="0" i="0" dirty="0">
                <a:solidFill>
                  <a:srgbClr val="2B2B2E"/>
                </a:solidFill>
                <a:latin typeface="Arial"/>
              </a:rPr>
              <a:t> </a:t>
            </a:r>
            <a:r>
              <a:rPr sz="605" b="0" i="0" dirty="0" err="1">
                <a:solidFill>
                  <a:srgbClr val="2B2B2E"/>
                </a:solidFill>
                <a:latin typeface="Arial"/>
              </a:rPr>
              <a:t>sở</a:t>
            </a:r>
            <a:r>
              <a:rPr sz="605" b="0" i="0" dirty="0">
                <a:solidFill>
                  <a:srgbClr val="2B2B2E"/>
                </a:solidFill>
                <a:latin typeface="Arial"/>
              </a:rPr>
              <a:t> </a:t>
            </a:r>
            <a:r>
              <a:rPr sz="605" b="0" i="0" dirty="0" err="1">
                <a:solidFill>
                  <a:srgbClr val="2B2B2E"/>
                </a:solidFill>
                <a:latin typeface="Arial"/>
              </a:rPr>
              <a:t>cả</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856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(83.7%) </a:t>
            </a:r>
            <a:r>
              <a:rPr sz="605" b="0" i="0" dirty="0" err="1">
                <a:solidFill>
                  <a:srgbClr val="2B2B2E"/>
                </a:solidFill>
                <a:latin typeface="Arial"/>
              </a:rPr>
              <a:t>cần</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~21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a:t>
            </a:r>
            <a:r>
              <a:rPr sz="605" b="0" i="0" dirty="0" err="1">
                <a:solidFill>
                  <a:srgbClr val="2B2B2E"/>
                </a:solidFill>
                <a:latin typeface="Arial"/>
              </a:rPr>
              <a:t>mỗi</a:t>
            </a:r>
            <a:r>
              <a:rPr sz="605" b="0" i="0" dirty="0">
                <a:solidFill>
                  <a:srgbClr val="2B2B2E"/>
                </a:solidFill>
                <a:latin typeface="Arial"/>
              </a:rPr>
              <a:t> </a:t>
            </a:r>
            <a:r>
              <a:rPr sz="605" b="0" i="0" dirty="0" err="1">
                <a:solidFill>
                  <a:srgbClr val="2B2B2E"/>
                </a:solidFill>
                <a:latin typeface="Arial"/>
              </a:rPr>
              <a:t>tuần</a:t>
            </a:r>
            <a:r>
              <a:rPr sz="605" b="0" i="0" dirty="0">
                <a:solidFill>
                  <a:srgbClr val="2B2B2E"/>
                </a:solidFill>
                <a:latin typeface="Arial"/>
              </a:rPr>
              <a:t> </a:t>
            </a:r>
            <a:r>
              <a:rPr sz="605" b="0" i="0" dirty="0" err="1">
                <a:solidFill>
                  <a:srgbClr val="2B2B2E"/>
                </a:solidFill>
                <a:latin typeface="Arial"/>
              </a:rPr>
              <a:t>còn</a:t>
            </a:r>
            <a:r>
              <a:rPr sz="605" b="0" i="0" dirty="0">
                <a:solidFill>
                  <a:srgbClr val="2B2B2E"/>
                </a:solidFill>
                <a:latin typeface="Arial"/>
              </a:rPr>
              <a:t> </a:t>
            </a:r>
            <a:r>
              <a:rPr sz="605" b="0" i="0" dirty="0" err="1">
                <a:solidFill>
                  <a:srgbClr val="2B2B2E"/>
                </a:solidFill>
                <a:latin typeface="Arial"/>
              </a:rPr>
              <a:t>lại</a:t>
            </a:r>
            <a:r>
              <a:rPr sz="605" b="0" i="0" dirty="0">
                <a:solidFill>
                  <a:srgbClr val="2B2B2E"/>
                </a:solidFill>
                <a:latin typeface="Arial"/>
              </a:rPr>
              <a:t>, </a:t>
            </a:r>
            <a:r>
              <a:rPr sz="605" b="0" i="0" dirty="0" err="1">
                <a:solidFill>
                  <a:srgbClr val="2B2B2E"/>
                </a:solidFill>
                <a:latin typeface="Arial"/>
              </a:rPr>
              <a:t>sát</a:t>
            </a:r>
            <a:r>
              <a:rPr sz="605" b="0" i="0" dirty="0">
                <a:solidFill>
                  <a:srgbClr val="2B2B2E"/>
                </a:solidFill>
                <a:latin typeface="Arial"/>
              </a:rPr>
              <a:t> </a:t>
            </a:r>
            <a:r>
              <a:rPr sz="605" b="0" i="0" dirty="0" err="1">
                <a:solidFill>
                  <a:srgbClr val="2B2B2E"/>
                </a:solidFill>
                <a:latin typeface="Arial"/>
              </a:rPr>
              <a:t>nhịp</a:t>
            </a:r>
            <a:r>
              <a:rPr sz="605" b="0" i="0" dirty="0">
                <a:solidFill>
                  <a:srgbClr val="2B2B2E"/>
                </a:solidFill>
                <a:latin typeface="Arial"/>
              </a:rPr>
              <a:t> </a:t>
            </a:r>
            <a:r>
              <a:rPr sz="605" b="0" i="0" dirty="0" err="1">
                <a:solidFill>
                  <a:srgbClr val="2B2B2E"/>
                </a:solidFill>
                <a:latin typeface="Arial"/>
              </a:rPr>
              <a:t>gần</a:t>
            </a:r>
            <a:r>
              <a:rPr sz="605" b="0" i="0" dirty="0">
                <a:solidFill>
                  <a:srgbClr val="2B2B2E"/>
                </a:solidFill>
                <a:latin typeface="Arial"/>
              </a:rPr>
              <a:t> </a:t>
            </a:r>
            <a:r>
              <a:rPr sz="605" b="0" i="0" dirty="0" err="1">
                <a:solidFill>
                  <a:srgbClr val="2B2B2E"/>
                </a:solidFill>
                <a:latin typeface="Arial"/>
              </a:rPr>
              <a:t>đây</a:t>
            </a:r>
            <a:r>
              <a:rPr sz="605" b="0" i="0" dirty="0">
                <a:solidFill>
                  <a:srgbClr val="2B2B2E"/>
                </a:solidFill>
                <a:latin typeface="Arial"/>
              </a:rPr>
              <a:t> (~22): </a:t>
            </a:r>
            <a:r>
              <a:rPr sz="605" b="0" i="0" dirty="0" err="1">
                <a:solidFill>
                  <a:srgbClr val="2B2B2E"/>
                </a:solidFill>
                <a:latin typeface="Arial"/>
              </a:rPr>
              <a:t>khả</a:t>
            </a:r>
            <a:r>
              <a:rPr sz="605" b="0" i="0" dirty="0">
                <a:solidFill>
                  <a:srgbClr val="2B2B2E"/>
                </a:solidFill>
                <a:latin typeface="Arial"/>
              </a:rPr>
              <a:t> </a:t>
            </a:r>
            <a:r>
              <a:rPr sz="605" b="0" i="0" dirty="0" err="1">
                <a:solidFill>
                  <a:srgbClr val="2B2B2E"/>
                </a:solidFill>
                <a:latin typeface="Arial"/>
              </a:rPr>
              <a:t>thi</a:t>
            </a:r>
            <a:r>
              <a:rPr sz="605" b="0" i="0" dirty="0">
                <a:solidFill>
                  <a:srgbClr val="2B2B2E"/>
                </a:solidFill>
                <a:latin typeface="Arial"/>
              </a:rPr>
              <a:t> </a:t>
            </a:r>
            <a:r>
              <a:rPr sz="605" b="0" i="0" dirty="0" err="1">
                <a:solidFill>
                  <a:srgbClr val="2B2B2E"/>
                </a:solidFill>
                <a:latin typeface="Arial"/>
              </a:rPr>
              <a:t>nhưng</a:t>
            </a:r>
            <a:r>
              <a:rPr sz="605" b="0" i="0" dirty="0">
                <a:solidFill>
                  <a:srgbClr val="2B2B2E"/>
                </a:solidFill>
                <a:latin typeface="Arial"/>
              </a:rPr>
              <a:t> </a:t>
            </a:r>
            <a:r>
              <a:rPr sz="605" b="0" i="0" dirty="0" err="1">
                <a:solidFill>
                  <a:srgbClr val="2B2B2E"/>
                </a:solidFill>
                <a:latin typeface="Arial"/>
              </a:rPr>
              <a:t>dồn</a:t>
            </a:r>
            <a:r>
              <a:rPr sz="605" b="0" i="0" dirty="0">
                <a:solidFill>
                  <a:srgbClr val="2B2B2E"/>
                </a:solidFill>
                <a:latin typeface="Arial"/>
              </a:rPr>
              <a:t> </a:t>
            </a:r>
            <a:r>
              <a:rPr sz="605" b="0" i="0" dirty="0" err="1">
                <a:solidFill>
                  <a:srgbClr val="2B2B2E"/>
                </a:solidFill>
                <a:latin typeface="Arial"/>
              </a:rPr>
              <a:t>vào</a:t>
            </a:r>
            <a:r>
              <a:rPr sz="605" b="0" i="0" dirty="0">
                <a:solidFill>
                  <a:srgbClr val="2B2B2E"/>
                </a:solidFill>
                <a:latin typeface="Arial"/>
              </a:rPr>
              <a:t> Q4. </a:t>
            </a:r>
            <a:r>
              <a:rPr sz="605" b="0" i="0" dirty="0" err="1">
                <a:solidFill>
                  <a:srgbClr val="2B2B2E"/>
                </a:solidFill>
                <a:latin typeface="Arial"/>
              </a:rPr>
              <a:t>Kịch</a:t>
            </a:r>
            <a:r>
              <a:rPr sz="605" b="0" i="0" dirty="0">
                <a:solidFill>
                  <a:srgbClr val="2B2B2E"/>
                </a:solidFill>
                <a:latin typeface="Arial"/>
              </a:rPr>
              <a:t> </a:t>
            </a:r>
            <a:r>
              <a:rPr sz="605" b="0" i="0" dirty="0" err="1">
                <a:solidFill>
                  <a:srgbClr val="2B2B2E"/>
                </a:solidFill>
                <a:latin typeface="Arial"/>
              </a:rPr>
              <a:t>bản</a:t>
            </a:r>
            <a:r>
              <a:rPr sz="605" b="0" i="0" dirty="0">
                <a:solidFill>
                  <a:srgbClr val="2B2B2E"/>
                </a:solidFill>
                <a:latin typeface="Arial"/>
              </a:rPr>
              <a:t> </a:t>
            </a:r>
            <a:r>
              <a:rPr sz="605" b="0" i="0" dirty="0" err="1">
                <a:solidFill>
                  <a:srgbClr val="2B2B2E"/>
                </a:solidFill>
                <a:latin typeface="Arial"/>
              </a:rPr>
              <a:t>thận</a:t>
            </a:r>
            <a:r>
              <a:rPr sz="605" b="0" i="0" dirty="0">
                <a:solidFill>
                  <a:srgbClr val="2B2B2E"/>
                </a:solidFill>
                <a:latin typeface="Arial"/>
              </a:rPr>
              <a:t> </a:t>
            </a:r>
            <a:r>
              <a:rPr sz="605" b="0" i="0" dirty="0" err="1">
                <a:solidFill>
                  <a:srgbClr val="2B2B2E"/>
                </a:solidFill>
                <a:latin typeface="Arial"/>
              </a:rPr>
              <a:t>trọng</a:t>
            </a:r>
            <a:r>
              <a:rPr sz="605" b="0" i="0" dirty="0">
                <a:solidFill>
                  <a:srgbClr val="2B2B2E"/>
                </a:solidFill>
                <a:latin typeface="Arial"/>
              </a:rPr>
              <a:t> (767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75.0%) </a:t>
            </a:r>
            <a:r>
              <a:rPr sz="605" b="0" i="0" dirty="0" err="1">
                <a:solidFill>
                  <a:srgbClr val="2B2B2E"/>
                </a:solidFill>
                <a:latin typeface="Arial"/>
              </a:rPr>
              <a:t>chỉ</a:t>
            </a:r>
            <a:r>
              <a:rPr sz="605" b="0" i="0" dirty="0">
                <a:solidFill>
                  <a:srgbClr val="2B2B2E"/>
                </a:solidFill>
                <a:latin typeface="Arial"/>
              </a:rPr>
              <a:t> </a:t>
            </a:r>
            <a:r>
              <a:rPr sz="605" b="0" i="0" dirty="0" err="1">
                <a:solidFill>
                  <a:srgbClr val="2B2B2E"/>
                </a:solidFill>
                <a:latin typeface="Arial"/>
              </a:rPr>
              <a:t>cần</a:t>
            </a:r>
            <a:r>
              <a:rPr sz="605" b="0" i="0" dirty="0">
                <a:solidFill>
                  <a:srgbClr val="2B2B2E"/>
                </a:solidFill>
                <a:latin typeface="Arial"/>
              </a:rPr>
              <a:t> 14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a:t>
            </a:r>
            <a:r>
              <a:rPr sz="605" b="0" i="0" dirty="0" err="1">
                <a:solidFill>
                  <a:srgbClr val="2B2B2E"/>
                </a:solidFill>
                <a:latin typeface="Arial"/>
              </a:rPr>
              <a:t>tuần</a:t>
            </a:r>
            <a:r>
              <a:rPr sz="605" b="0" i="0" dirty="0">
                <a:solidFill>
                  <a:srgbClr val="2B2B2E"/>
                </a:solidFill>
                <a:latin typeface="Arial"/>
              </a:rPr>
              <a:t>; </a:t>
            </a:r>
            <a:r>
              <a:rPr sz="605" b="0" i="0" dirty="0" err="1">
                <a:solidFill>
                  <a:srgbClr val="2B2B2E"/>
                </a:solidFill>
                <a:latin typeface="Arial"/>
              </a:rPr>
              <a:t>kịch</a:t>
            </a:r>
            <a:r>
              <a:rPr sz="605" b="0" i="0" dirty="0">
                <a:solidFill>
                  <a:srgbClr val="2B2B2E"/>
                </a:solidFill>
                <a:latin typeface="Arial"/>
              </a:rPr>
              <a:t> </a:t>
            </a:r>
            <a:r>
              <a:rPr sz="605" b="0" i="0" dirty="0" err="1">
                <a:solidFill>
                  <a:srgbClr val="2B2B2E"/>
                </a:solidFill>
                <a:latin typeface="Arial"/>
              </a:rPr>
              <a:t>bản</a:t>
            </a:r>
            <a:r>
              <a:rPr sz="605" b="0" i="0" dirty="0">
                <a:solidFill>
                  <a:srgbClr val="2B2B2E"/>
                </a:solidFill>
                <a:latin typeface="Arial"/>
              </a:rPr>
              <a:t> </a:t>
            </a:r>
            <a:r>
              <a:rPr sz="605" b="0" i="0" dirty="0" err="1">
                <a:solidFill>
                  <a:srgbClr val="2B2B2E"/>
                </a:solidFill>
                <a:latin typeface="Arial"/>
              </a:rPr>
              <a:t>lạc</a:t>
            </a:r>
            <a:r>
              <a:rPr sz="605" b="0" i="0" dirty="0">
                <a:solidFill>
                  <a:srgbClr val="2B2B2E"/>
                </a:solidFill>
                <a:latin typeface="Arial"/>
              </a:rPr>
              <a:t> </a:t>
            </a:r>
            <a:r>
              <a:rPr sz="605" b="0" i="0" dirty="0" err="1">
                <a:solidFill>
                  <a:srgbClr val="2B2B2E"/>
                </a:solidFill>
                <a:latin typeface="Arial"/>
              </a:rPr>
              <a:t>quan</a:t>
            </a:r>
            <a:r>
              <a:rPr sz="605" b="0" i="0" dirty="0">
                <a:solidFill>
                  <a:srgbClr val="2B2B2E"/>
                </a:solidFill>
                <a:latin typeface="Arial"/>
              </a:rPr>
              <a:t> (969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 94.8%) </a:t>
            </a:r>
            <a:r>
              <a:rPr sz="605" b="0" i="0" dirty="0" err="1">
                <a:solidFill>
                  <a:srgbClr val="2B2B2E"/>
                </a:solidFill>
                <a:latin typeface="Arial"/>
              </a:rPr>
              <a:t>cần</a:t>
            </a:r>
            <a:r>
              <a:rPr sz="605" b="0" i="0" dirty="0">
                <a:solidFill>
                  <a:srgbClr val="2B2B2E"/>
                </a:solidFill>
                <a:latin typeface="Arial"/>
              </a:rPr>
              <a:t> 29 </a:t>
            </a:r>
            <a:r>
              <a:rPr sz="605" b="0" i="0" dirty="0" err="1">
                <a:solidFill>
                  <a:srgbClr val="2B2B2E"/>
                </a:solidFill>
                <a:latin typeface="Arial"/>
              </a:rPr>
              <a:t>nghìn</a:t>
            </a:r>
            <a:r>
              <a:rPr sz="605" b="0" i="0" dirty="0">
                <a:solidFill>
                  <a:srgbClr val="2B2B2E"/>
                </a:solidFill>
                <a:latin typeface="Arial"/>
              </a:rPr>
              <a:t> </a:t>
            </a:r>
            <a:r>
              <a:rPr sz="605" b="0" i="0" dirty="0" err="1">
                <a:solidFill>
                  <a:srgbClr val="2B2B2E"/>
                </a:solidFill>
                <a:latin typeface="Arial"/>
              </a:rPr>
              <a:t>tỷ</a:t>
            </a:r>
            <a:r>
              <a:rPr sz="605" b="0" i="0" dirty="0">
                <a:solidFill>
                  <a:srgbClr val="2B2B2E"/>
                </a:solidFill>
                <a:latin typeface="Arial"/>
              </a:rPr>
              <a:t>/</a:t>
            </a:r>
            <a:r>
              <a:rPr sz="605" b="0" i="0" dirty="0" err="1">
                <a:solidFill>
                  <a:srgbClr val="2B2B2E"/>
                </a:solidFill>
                <a:latin typeface="Arial"/>
              </a:rPr>
              <a:t>tuần</a:t>
            </a:r>
            <a:r>
              <a:rPr sz="605" b="0" i="0" dirty="0">
                <a:solidFill>
                  <a:srgbClr val="2B2B2E"/>
                </a:solidFill>
                <a:latin typeface="Arial"/>
              </a:rPr>
              <a:t>. </a:t>
            </a:r>
            <a:r>
              <a:rPr sz="605" b="0" i="0" dirty="0" err="1">
                <a:solidFill>
                  <a:srgbClr val="2B2B2E"/>
                </a:solidFill>
                <a:latin typeface="Arial"/>
              </a:rPr>
              <a:t>Phần</a:t>
            </a:r>
            <a:r>
              <a:rPr sz="605" b="0" i="0" dirty="0">
                <a:solidFill>
                  <a:srgbClr val="2B2B2E"/>
                </a:solidFill>
                <a:latin typeface="Arial"/>
              </a:rPr>
              <a:t> </a:t>
            </a:r>
            <a:r>
              <a:rPr sz="605" b="0" i="0" dirty="0" err="1">
                <a:solidFill>
                  <a:srgbClr val="2B2B2E"/>
                </a:solidFill>
                <a:latin typeface="Arial"/>
              </a:rPr>
              <a:t>chưa</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chuyển</a:t>
            </a:r>
            <a:r>
              <a:rPr sz="605" b="0" i="0" dirty="0">
                <a:solidFill>
                  <a:srgbClr val="2B2B2E"/>
                </a:solidFill>
                <a:latin typeface="Arial"/>
              </a:rPr>
              <a:t> sang 2027, </a:t>
            </a:r>
            <a:r>
              <a:rPr sz="605" b="0" i="0" dirty="0" err="1">
                <a:solidFill>
                  <a:srgbClr val="2B2B2E"/>
                </a:solidFill>
                <a:latin typeface="Arial"/>
              </a:rPr>
              <a:t>đúng</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a:t>
            </a:r>
            <a:r>
              <a:rPr sz="605" b="0" i="0" dirty="0" err="1">
                <a:solidFill>
                  <a:srgbClr val="2B2B2E"/>
                </a:solidFill>
                <a:latin typeface="Arial"/>
              </a:rPr>
              <a:t>kế</a:t>
            </a:r>
            <a:r>
              <a:rPr sz="605" b="0" i="0" dirty="0">
                <a:solidFill>
                  <a:srgbClr val="2B2B2E"/>
                </a:solidFill>
                <a:latin typeface="Arial"/>
              </a:rPr>
              <a:t> </a:t>
            </a:r>
            <a:r>
              <a:rPr sz="605" b="0" i="0" dirty="0" err="1">
                <a:solidFill>
                  <a:srgbClr val="2B2B2E"/>
                </a:solidFill>
                <a:latin typeface="Arial"/>
              </a:rPr>
              <a:t>hoạch</a:t>
            </a:r>
            <a:r>
              <a:rPr sz="605" b="0" i="0" dirty="0">
                <a:solidFill>
                  <a:srgbClr val="2B2B2E"/>
                </a:solidFill>
                <a:latin typeface="Arial"/>
              </a:rPr>
              <a:t> </a:t>
            </a:r>
            <a:r>
              <a:rPr sz="605" b="0" i="0" dirty="0" err="1">
                <a:solidFill>
                  <a:srgbClr val="2B2B2E"/>
                </a:solidFill>
                <a:latin typeface="Arial"/>
              </a:rPr>
              <a:t>bình</a:t>
            </a:r>
            <a:r>
              <a:rPr sz="605" b="0" i="0" dirty="0">
                <a:solidFill>
                  <a:srgbClr val="2B2B2E"/>
                </a:solidFill>
                <a:latin typeface="Arial"/>
              </a:rPr>
              <a:t> </a:t>
            </a:r>
            <a:r>
              <a:rPr sz="605" b="0" i="0" dirty="0" err="1">
                <a:solidFill>
                  <a:srgbClr val="2B2B2E"/>
                </a:solidFill>
                <a:latin typeface="Arial"/>
              </a:rPr>
              <a:t>quân</a:t>
            </a:r>
            <a:r>
              <a:rPr sz="605" b="0" i="0" dirty="0">
                <a:solidFill>
                  <a:srgbClr val="2B2B2E"/>
                </a:solidFill>
                <a:latin typeface="Arial"/>
              </a:rPr>
              <a:t> </a:t>
            </a:r>
            <a:r>
              <a:rPr sz="605" b="0" i="0" dirty="0" err="1">
                <a:solidFill>
                  <a:srgbClr val="2B2B2E"/>
                </a:solidFill>
                <a:latin typeface="Arial"/>
              </a:rPr>
              <a:t>tăng</a:t>
            </a:r>
            <a:r>
              <a:rPr sz="605" b="0" i="0" dirty="0">
                <a:solidFill>
                  <a:srgbClr val="2B2B2E"/>
                </a:solidFill>
                <a:latin typeface="Arial"/>
              </a:rPr>
              <a:t> 76%.</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Doanh</a:t>
            </a:r>
            <a:r>
              <a:rPr sz="605" b="1" i="0" dirty="0">
                <a:solidFill>
                  <a:srgbClr val="3A3A3E"/>
                </a:solidFill>
                <a:latin typeface="Arial"/>
              </a:rPr>
              <a:t> </a:t>
            </a:r>
            <a:r>
              <a:rPr sz="605" b="1" i="0" dirty="0" err="1">
                <a:solidFill>
                  <a:srgbClr val="3A3A3E"/>
                </a:solidFill>
                <a:latin typeface="Arial"/>
              </a:rPr>
              <a:t>thu</a:t>
            </a:r>
            <a:r>
              <a:rPr sz="605" b="1" i="0" dirty="0">
                <a:solidFill>
                  <a:srgbClr val="3A3A3E"/>
                </a:solidFill>
                <a:latin typeface="Arial"/>
              </a:rPr>
              <a:t> </a:t>
            </a:r>
            <a:r>
              <a:rPr sz="605" b="1" i="0" dirty="0" err="1">
                <a:solidFill>
                  <a:srgbClr val="3A3A3E"/>
                </a:solidFill>
                <a:latin typeface="Arial"/>
              </a:rPr>
              <a:t>nhà</a:t>
            </a:r>
            <a:r>
              <a:rPr sz="605" b="1" i="0" dirty="0">
                <a:solidFill>
                  <a:srgbClr val="3A3A3E"/>
                </a:solidFill>
                <a:latin typeface="Arial"/>
              </a:rPr>
              <a:t> </a:t>
            </a:r>
            <a:r>
              <a:rPr sz="605" b="1" i="0" dirty="0" err="1">
                <a:solidFill>
                  <a:srgbClr val="3A3A3E"/>
                </a:solidFill>
                <a:latin typeface="Arial"/>
              </a:rPr>
              <a:t>thầu</a:t>
            </a:r>
            <a:r>
              <a:rPr sz="605" b="1" i="0" dirty="0">
                <a:solidFill>
                  <a:srgbClr val="3A3A3E"/>
                </a:solidFill>
                <a:latin typeface="Arial"/>
              </a:rPr>
              <a:t> </a:t>
            </a:r>
            <a:r>
              <a:rPr sz="605" b="1" i="0" dirty="0" err="1">
                <a:solidFill>
                  <a:srgbClr val="3A3A3E"/>
                </a:solidFill>
                <a:latin typeface="Arial"/>
              </a:rPr>
              <a:t>dồn</a:t>
            </a:r>
            <a:r>
              <a:rPr sz="605" b="1" i="0" dirty="0">
                <a:solidFill>
                  <a:srgbClr val="3A3A3E"/>
                </a:solidFill>
                <a:latin typeface="Arial"/>
              </a:rPr>
              <a:t> </a:t>
            </a:r>
            <a:r>
              <a:rPr sz="605" b="1" i="0" dirty="0" err="1">
                <a:solidFill>
                  <a:srgbClr val="3A3A3E"/>
                </a:solidFill>
                <a:latin typeface="Arial"/>
              </a:rPr>
              <a:t>về</a:t>
            </a:r>
            <a:r>
              <a:rPr sz="605" b="1" i="0" dirty="0">
                <a:solidFill>
                  <a:srgbClr val="3A3A3E"/>
                </a:solidFill>
                <a:latin typeface="Arial"/>
              </a:rPr>
              <a:t> </a:t>
            </a:r>
            <a:r>
              <a:rPr sz="605" b="1" i="0" dirty="0" err="1">
                <a:solidFill>
                  <a:srgbClr val="3A3A3E"/>
                </a:solidFill>
                <a:latin typeface="Arial"/>
              </a:rPr>
              <a:t>cuối</a:t>
            </a:r>
            <a:r>
              <a:rPr sz="605" b="1" i="0" dirty="0">
                <a:solidFill>
                  <a:srgbClr val="3A3A3E"/>
                </a:solidFill>
                <a:latin typeface="Arial"/>
              </a:rPr>
              <a:t> </a:t>
            </a:r>
            <a:r>
              <a:rPr sz="605" b="1" i="0" dirty="0" err="1">
                <a:solidFill>
                  <a:srgbClr val="3A3A3E"/>
                </a:solidFill>
                <a:latin typeface="Arial"/>
              </a:rPr>
              <a:t>năm</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Quý</a:t>
            </a:r>
            <a:r>
              <a:rPr sz="605" b="0" i="0" dirty="0">
                <a:solidFill>
                  <a:srgbClr val="2B2B2E"/>
                </a:solidFill>
                <a:latin typeface="Arial"/>
              </a:rPr>
              <a:t> 4/2025 </a:t>
            </a:r>
            <a:r>
              <a:rPr sz="605" b="0" i="0" dirty="0" err="1">
                <a:solidFill>
                  <a:srgbClr val="2B2B2E"/>
                </a:solidFill>
                <a:latin typeface="Arial"/>
              </a:rPr>
              <a:t>chiếm</a:t>
            </a:r>
            <a:r>
              <a:rPr sz="605" b="0" i="0" dirty="0">
                <a:solidFill>
                  <a:srgbClr val="2B2B2E"/>
                </a:solidFill>
                <a:latin typeface="Arial"/>
              </a:rPr>
              <a:t> ~33% </a:t>
            </a:r>
            <a:r>
              <a:rPr sz="605" b="0" i="0" dirty="0" err="1">
                <a:solidFill>
                  <a:srgbClr val="2B2B2E"/>
                </a:solidFill>
                <a:latin typeface="Arial"/>
              </a:rPr>
              <a:t>doanh</a:t>
            </a:r>
            <a:r>
              <a:rPr sz="605" b="0" i="0" dirty="0">
                <a:solidFill>
                  <a:srgbClr val="2B2B2E"/>
                </a:solidFill>
                <a:latin typeface="Arial"/>
              </a:rPr>
              <a:t> </a:t>
            </a:r>
            <a:r>
              <a:rPr sz="605" b="0" i="0" dirty="0" err="1">
                <a:solidFill>
                  <a:srgbClr val="2B2B2E"/>
                </a:solidFill>
                <a:latin typeface="Arial"/>
              </a:rPr>
              <a:t>thu</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2025 </a:t>
            </a:r>
            <a:r>
              <a:rPr sz="605" b="0" i="0" dirty="0" err="1">
                <a:solidFill>
                  <a:srgbClr val="2B2B2E"/>
                </a:solidFill>
                <a:latin typeface="Arial"/>
              </a:rPr>
              <a:t>của</a:t>
            </a:r>
            <a:r>
              <a:rPr sz="605" b="0" i="0" dirty="0">
                <a:solidFill>
                  <a:srgbClr val="2B2B2E"/>
                </a:solidFill>
                <a:latin typeface="Arial"/>
              </a:rPr>
              <a:t> CTD; </a:t>
            </a:r>
            <a:r>
              <a:rPr sz="605" b="0" i="0" dirty="0" err="1">
                <a:solidFill>
                  <a:srgbClr val="2B2B2E"/>
                </a:solidFill>
                <a:latin typeface="Arial"/>
              </a:rPr>
              <a:t>nếu</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Q4/2026 </a:t>
            </a:r>
            <a:r>
              <a:rPr sz="605" b="0" i="0" dirty="0" err="1">
                <a:solidFill>
                  <a:srgbClr val="2B2B2E"/>
                </a:solidFill>
                <a:latin typeface="Arial"/>
              </a:rPr>
              <a:t>đạt</a:t>
            </a:r>
            <a:r>
              <a:rPr sz="605" b="0" i="0" dirty="0">
                <a:solidFill>
                  <a:srgbClr val="2B2B2E"/>
                </a:solidFill>
                <a:latin typeface="Arial"/>
              </a:rPr>
              <a:t> </a:t>
            </a:r>
            <a:r>
              <a:rPr sz="605" b="0" i="0" dirty="0" err="1">
                <a:solidFill>
                  <a:srgbClr val="2B2B2E"/>
                </a:solidFill>
                <a:latin typeface="Arial"/>
              </a:rPr>
              <a:t>kịch</a:t>
            </a:r>
            <a:r>
              <a:rPr sz="605" b="0" i="0" dirty="0">
                <a:solidFill>
                  <a:srgbClr val="2B2B2E"/>
                </a:solidFill>
                <a:latin typeface="Arial"/>
              </a:rPr>
              <a:t> </a:t>
            </a:r>
            <a:r>
              <a:rPr sz="605" b="0" i="0" dirty="0" err="1">
                <a:solidFill>
                  <a:srgbClr val="2B2B2E"/>
                </a:solidFill>
                <a:latin typeface="Arial"/>
              </a:rPr>
              <a:t>bản</a:t>
            </a:r>
            <a:r>
              <a:rPr sz="605" b="0" i="0" dirty="0">
                <a:solidFill>
                  <a:srgbClr val="2B2B2E"/>
                </a:solidFill>
                <a:latin typeface="Arial"/>
              </a:rPr>
              <a:t> </a:t>
            </a:r>
            <a:r>
              <a:rPr sz="605" b="0" i="0" dirty="0" err="1">
                <a:solidFill>
                  <a:srgbClr val="2B2B2E"/>
                </a:solidFill>
                <a:latin typeface="Arial"/>
              </a:rPr>
              <a:t>cơ</a:t>
            </a:r>
            <a:r>
              <a:rPr sz="605" b="0" i="0" dirty="0">
                <a:solidFill>
                  <a:srgbClr val="2B2B2E"/>
                </a:solidFill>
                <a:latin typeface="Arial"/>
              </a:rPr>
              <a:t> </a:t>
            </a:r>
            <a:r>
              <a:rPr sz="605" b="0" i="0" dirty="0" err="1">
                <a:solidFill>
                  <a:srgbClr val="2B2B2E"/>
                </a:solidFill>
                <a:latin typeface="Arial"/>
              </a:rPr>
              <a:t>sở</a:t>
            </a:r>
            <a:r>
              <a:rPr sz="605" b="0" i="0" dirty="0">
                <a:solidFill>
                  <a:srgbClr val="2B2B2E"/>
                </a:solidFill>
                <a:latin typeface="Arial"/>
              </a:rPr>
              <a:t>, </a:t>
            </a:r>
            <a:r>
              <a:rPr sz="605" b="0" i="0" dirty="0" err="1">
                <a:solidFill>
                  <a:srgbClr val="2B2B2E"/>
                </a:solidFill>
                <a:latin typeface="Arial"/>
              </a:rPr>
              <a:t>doanh</a:t>
            </a:r>
            <a:r>
              <a:rPr sz="605" b="0" i="0" dirty="0">
                <a:solidFill>
                  <a:srgbClr val="2B2B2E"/>
                </a:solidFill>
                <a:latin typeface="Arial"/>
              </a:rPr>
              <a:t> </a:t>
            </a:r>
            <a:r>
              <a:rPr sz="605" b="0" i="0" dirty="0" err="1">
                <a:solidFill>
                  <a:srgbClr val="2B2B2E"/>
                </a:solidFill>
                <a:latin typeface="Arial"/>
              </a:rPr>
              <a:t>thu</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dòng</a:t>
            </a:r>
            <a:r>
              <a:rPr sz="605" b="0" i="0" dirty="0">
                <a:solidFill>
                  <a:srgbClr val="2B2B2E"/>
                </a:solidFill>
                <a:latin typeface="Arial"/>
              </a:rPr>
              <a:t> </a:t>
            </a:r>
            <a:r>
              <a:rPr sz="605" b="0" i="0" dirty="0" err="1">
                <a:solidFill>
                  <a:srgbClr val="2B2B2E"/>
                </a:solidFill>
                <a:latin typeface="Arial"/>
              </a:rPr>
              <a:t>tiền</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thầu</a:t>
            </a:r>
            <a:r>
              <a:rPr sz="605" b="0" i="0" dirty="0">
                <a:solidFill>
                  <a:srgbClr val="2B2B2E"/>
                </a:solidFill>
                <a:latin typeface="Arial"/>
              </a:rPr>
              <a:t> </a:t>
            </a:r>
            <a:r>
              <a:rPr sz="605" b="0" i="0" dirty="0" err="1">
                <a:solidFill>
                  <a:srgbClr val="2B2B2E"/>
                </a:solidFill>
                <a:latin typeface="Arial"/>
              </a:rPr>
              <a:t>hưởng</a:t>
            </a:r>
            <a:r>
              <a:rPr sz="605" b="0" i="0" dirty="0">
                <a:solidFill>
                  <a:srgbClr val="2B2B2E"/>
                </a:solidFill>
                <a:latin typeface="Arial"/>
              </a:rPr>
              <a:t> </a:t>
            </a:r>
            <a:r>
              <a:rPr sz="605" b="0" i="0" dirty="0" err="1">
                <a:solidFill>
                  <a:srgbClr val="2B2B2E"/>
                </a:solidFill>
                <a:latin typeface="Arial"/>
              </a:rPr>
              <a:t>lợi</a:t>
            </a:r>
            <a:r>
              <a:rPr sz="605" b="0" i="0" dirty="0">
                <a:solidFill>
                  <a:srgbClr val="2B2B2E"/>
                </a:solidFill>
                <a:latin typeface="Arial"/>
              </a:rPr>
              <a:t> </a:t>
            </a:r>
            <a:r>
              <a:rPr sz="605" b="0" i="0" dirty="0" err="1">
                <a:solidFill>
                  <a:srgbClr val="2B2B2E"/>
                </a:solidFill>
                <a:latin typeface="Arial"/>
              </a:rPr>
              <a:t>sớm</a:t>
            </a:r>
            <a:r>
              <a:rPr sz="605" b="0" i="0" dirty="0">
                <a:solidFill>
                  <a:srgbClr val="2B2B2E"/>
                </a:solidFill>
                <a:latin typeface="Arial"/>
              </a:rPr>
              <a:t>. </a:t>
            </a:r>
            <a:r>
              <a:rPr sz="605" b="0" i="0" dirty="0" err="1">
                <a:solidFill>
                  <a:srgbClr val="2B2B2E"/>
                </a:solidFill>
                <a:latin typeface="Arial"/>
              </a:rPr>
              <a:t>Rủi</a:t>
            </a:r>
            <a:r>
              <a:rPr sz="605" b="0" i="0" dirty="0">
                <a:solidFill>
                  <a:srgbClr val="2B2B2E"/>
                </a:solidFill>
                <a:latin typeface="Arial"/>
              </a:rPr>
              <a:t> </a:t>
            </a:r>
            <a:r>
              <a:rPr sz="605" b="0" i="0" dirty="0" err="1">
                <a:solidFill>
                  <a:srgbClr val="2B2B2E"/>
                </a:solidFill>
                <a:latin typeface="Arial"/>
              </a:rPr>
              <a:t>ro</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a:t>
            </a:r>
            <a:r>
              <a:rPr sz="605" b="0" i="0" dirty="0" err="1">
                <a:solidFill>
                  <a:srgbClr val="2B2B2E"/>
                </a:solidFill>
                <a:latin typeface="Arial"/>
              </a:rPr>
              <a:t>chậm</a:t>
            </a:r>
            <a:r>
              <a:rPr sz="605" b="0" i="0" dirty="0">
                <a:solidFill>
                  <a:srgbClr val="2B2B2E"/>
                </a:solidFill>
                <a:latin typeface="Arial"/>
              </a:rPr>
              <a:t>: </a:t>
            </a:r>
            <a:r>
              <a:rPr sz="605" b="0" i="0" dirty="0" err="1">
                <a:solidFill>
                  <a:srgbClr val="2B2B2E"/>
                </a:solidFill>
                <a:latin typeface="Arial"/>
              </a:rPr>
              <a:t>đường</a:t>
            </a:r>
            <a:r>
              <a:rPr sz="605" b="0" i="0" dirty="0">
                <a:solidFill>
                  <a:srgbClr val="2B2B2E"/>
                </a:solidFill>
                <a:latin typeface="Arial"/>
              </a:rPr>
              <a:t> </a:t>
            </a:r>
            <a:r>
              <a:rPr sz="605" b="0" i="0" dirty="0" err="1">
                <a:solidFill>
                  <a:srgbClr val="2B2B2E"/>
                </a:solidFill>
                <a:latin typeface="Arial"/>
              </a:rPr>
              <a:t>sắt</a:t>
            </a:r>
            <a:r>
              <a:rPr sz="605" b="0" i="0" dirty="0">
                <a:solidFill>
                  <a:srgbClr val="2B2B2E"/>
                </a:solidFill>
                <a:latin typeface="Arial"/>
              </a:rPr>
              <a:t> </a:t>
            </a:r>
            <a:r>
              <a:rPr sz="605" b="0" i="0" dirty="0" err="1">
                <a:solidFill>
                  <a:srgbClr val="2B2B2E"/>
                </a:solidFill>
                <a:latin typeface="Arial"/>
              </a:rPr>
              <a:t>tốc</a:t>
            </a:r>
            <a:r>
              <a:rPr sz="605" b="0" i="0" dirty="0">
                <a:solidFill>
                  <a:srgbClr val="2B2B2E"/>
                </a:solidFill>
                <a:latin typeface="Arial"/>
              </a:rPr>
              <a:t> </a:t>
            </a:r>
            <a:r>
              <a:rPr sz="605" b="0" i="0" dirty="0" err="1">
                <a:solidFill>
                  <a:srgbClr val="2B2B2E"/>
                </a:solidFill>
                <a:latin typeface="Arial"/>
              </a:rPr>
              <a:t>độ</a:t>
            </a:r>
            <a:r>
              <a:rPr sz="605" b="0" i="0" dirty="0">
                <a:solidFill>
                  <a:srgbClr val="2B2B2E"/>
                </a:solidFill>
                <a:latin typeface="Arial"/>
              </a:rPr>
              <a:t>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Bắc</a:t>
            </a:r>
            <a:r>
              <a:rPr lang="en-US" sz="605" b="0" i="0" dirty="0">
                <a:solidFill>
                  <a:srgbClr val="2B2B2E"/>
                </a:solidFill>
                <a:latin typeface="Arial"/>
              </a:rPr>
              <a:t>-</a:t>
            </a:r>
            <a:r>
              <a:rPr sz="605" b="0" i="0" dirty="0">
                <a:solidFill>
                  <a:srgbClr val="2B2B2E"/>
                </a:solidFill>
                <a:latin typeface="Arial"/>
              </a:rPr>
              <a:t>Nam </a:t>
            </a:r>
            <a:r>
              <a:rPr sz="605" b="0" i="0" dirty="0" err="1">
                <a:solidFill>
                  <a:srgbClr val="2B2B2E"/>
                </a:solidFill>
                <a:latin typeface="Arial"/>
              </a:rPr>
              <a:t>mới</a:t>
            </a:r>
            <a:r>
              <a:rPr sz="605" b="0" i="0" dirty="0">
                <a:solidFill>
                  <a:srgbClr val="2B2B2E"/>
                </a:solidFill>
                <a:latin typeface="Arial"/>
              </a:rPr>
              <a:t> </a:t>
            </a:r>
            <a:r>
              <a:rPr sz="605" b="0" i="0" dirty="0" err="1">
                <a:solidFill>
                  <a:srgbClr val="2B2B2E"/>
                </a:solidFill>
                <a:latin typeface="Arial"/>
              </a:rPr>
              <a:t>giải</a:t>
            </a:r>
            <a:r>
              <a:rPr sz="605" b="0" i="0" dirty="0">
                <a:solidFill>
                  <a:srgbClr val="2B2B2E"/>
                </a:solidFill>
                <a:latin typeface="Arial"/>
              </a:rPr>
              <a:t> </a:t>
            </a:r>
            <a:r>
              <a:rPr sz="605" b="0" i="0" dirty="0" err="1">
                <a:solidFill>
                  <a:srgbClr val="2B2B2E"/>
                </a:solidFill>
                <a:latin typeface="Arial"/>
              </a:rPr>
              <a:t>ngân</a:t>
            </a:r>
            <a:r>
              <a:rPr sz="605" b="0" i="0" dirty="0">
                <a:solidFill>
                  <a:srgbClr val="2B2B2E"/>
                </a:solidFill>
                <a:latin typeface="Arial"/>
              </a:rPr>
              <a:t> ~2%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được</a:t>
            </a:r>
            <a:r>
              <a:rPr sz="605" b="0" i="0" dirty="0">
                <a:solidFill>
                  <a:srgbClr val="2B2B2E"/>
                </a:solidFill>
                <a:latin typeface="Arial"/>
              </a:rPr>
              <a:t> </a:t>
            </a:r>
            <a:r>
              <a:rPr sz="605" b="0" i="0" dirty="0" err="1">
                <a:solidFill>
                  <a:srgbClr val="2B2B2E"/>
                </a:solidFill>
                <a:latin typeface="Arial"/>
              </a:rPr>
              <a:t>bố</a:t>
            </a:r>
            <a:r>
              <a:rPr sz="605" b="0" i="0" dirty="0">
                <a:solidFill>
                  <a:srgbClr val="2B2B2E"/>
                </a:solidFill>
                <a:latin typeface="Arial"/>
              </a:rPr>
              <a:t> </a:t>
            </a:r>
            <a:r>
              <a:rPr sz="605" b="0" i="0" dirty="0" err="1">
                <a:solidFill>
                  <a:srgbClr val="2B2B2E"/>
                </a:solidFill>
                <a:latin typeface="Arial"/>
              </a:rPr>
              <a:t>trí</a:t>
            </a:r>
            <a:r>
              <a:rPr sz="605" b="0" i="0" dirty="0">
                <a:solidFill>
                  <a:srgbClr val="2B2B2E"/>
                </a:solidFill>
                <a:latin typeface="Arial"/>
              </a:rPr>
              <a:t> (VIR, 1H/2026), </a:t>
            </a:r>
            <a:r>
              <a:rPr sz="605" b="0" i="0" dirty="0" err="1">
                <a:solidFill>
                  <a:srgbClr val="2B2B2E"/>
                </a:solidFill>
                <a:latin typeface="Arial"/>
              </a:rPr>
              <a:t>nên</a:t>
            </a:r>
            <a:r>
              <a:rPr sz="605" b="0" i="0" dirty="0">
                <a:solidFill>
                  <a:srgbClr val="2B2B2E"/>
                </a:solidFill>
                <a:latin typeface="Arial"/>
              </a:rPr>
              <a:t> </a:t>
            </a:r>
            <a:r>
              <a:rPr sz="605" b="0" i="0" dirty="0" err="1">
                <a:solidFill>
                  <a:srgbClr val="2B2B2E"/>
                </a:solidFill>
                <a:latin typeface="Arial"/>
              </a:rPr>
              <a:t>nhiều</a:t>
            </a:r>
            <a:r>
              <a:rPr sz="605" b="0" i="0" dirty="0">
                <a:solidFill>
                  <a:srgbClr val="2B2B2E"/>
                </a:solidFill>
                <a:latin typeface="Arial"/>
              </a:rPr>
              <a:t> </a:t>
            </a:r>
            <a:r>
              <a:rPr sz="605" b="0" i="0" dirty="0" err="1">
                <a:solidFill>
                  <a:srgbClr val="2B2B2E"/>
                </a:solidFill>
                <a:latin typeface="Arial"/>
              </a:rPr>
              <a:t>khối</a:t>
            </a:r>
            <a:r>
              <a:rPr sz="605" b="0" i="0" dirty="0">
                <a:solidFill>
                  <a:srgbClr val="2B2B2E"/>
                </a:solidFill>
                <a:latin typeface="Arial"/>
              </a:rPr>
              <a:t> </a:t>
            </a:r>
            <a:r>
              <a:rPr sz="605" b="0" i="0" dirty="0" err="1">
                <a:solidFill>
                  <a:srgbClr val="2B2B2E"/>
                </a:solidFill>
                <a:latin typeface="Arial"/>
              </a:rPr>
              <a:t>lượng</a:t>
            </a:r>
            <a:r>
              <a:rPr sz="605" b="0" i="0" dirty="0">
                <a:solidFill>
                  <a:srgbClr val="2B2B2E"/>
                </a:solidFill>
                <a:latin typeface="Arial"/>
              </a:rPr>
              <a:t> </a:t>
            </a:r>
            <a:r>
              <a:rPr sz="605" b="0" i="0" dirty="0" err="1">
                <a:solidFill>
                  <a:srgbClr val="2B2B2E"/>
                </a:solidFill>
                <a:latin typeface="Arial"/>
              </a:rPr>
              <a:t>sẽ</a:t>
            </a:r>
            <a:r>
              <a:rPr sz="605" b="0" i="0" dirty="0">
                <a:solidFill>
                  <a:srgbClr val="2B2B2E"/>
                </a:solidFill>
                <a:latin typeface="Arial"/>
              </a:rPr>
              <a:t> </a:t>
            </a:r>
            <a:r>
              <a:rPr sz="605" b="0" i="0" dirty="0" err="1">
                <a:solidFill>
                  <a:srgbClr val="2B2B2E"/>
                </a:solidFill>
                <a:latin typeface="Arial"/>
              </a:rPr>
              <a:t>trôi</a:t>
            </a:r>
            <a:r>
              <a:rPr sz="605" b="0" i="0" dirty="0">
                <a:solidFill>
                  <a:srgbClr val="2B2B2E"/>
                </a:solidFill>
                <a:latin typeface="Arial"/>
              </a:rPr>
              <a:t> sang 2027</a:t>
            </a:r>
            <a:r>
              <a:rPr lang="en-US" sz="605" b="0" i="0" dirty="0">
                <a:solidFill>
                  <a:srgbClr val="2B2B2E"/>
                </a:solidFill>
                <a:latin typeface="Arial"/>
              </a:rPr>
              <a:t>-</a:t>
            </a:r>
            <a:r>
              <a:rPr sz="605" b="0" i="0" dirty="0">
                <a:solidFill>
                  <a:srgbClr val="2B2B2E"/>
                </a:solidFill>
                <a:latin typeface="Arial"/>
              </a:rPr>
              <a:t>28.</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Chuyển</a:t>
            </a:r>
            <a:r>
              <a:rPr sz="605" b="1" i="0" dirty="0">
                <a:solidFill>
                  <a:srgbClr val="3A3A3E"/>
                </a:solidFill>
                <a:latin typeface="Arial"/>
              </a:rPr>
              <a:t> </a:t>
            </a:r>
            <a:r>
              <a:rPr sz="605" b="1" i="0" dirty="0" err="1">
                <a:solidFill>
                  <a:srgbClr val="3A3A3E"/>
                </a:solidFill>
                <a:latin typeface="Arial"/>
              </a:rPr>
              <a:t>pha</a:t>
            </a:r>
            <a:r>
              <a:rPr sz="605" b="1" i="0" dirty="0">
                <a:solidFill>
                  <a:srgbClr val="3A3A3E"/>
                </a:solidFill>
                <a:latin typeface="Arial"/>
              </a:rPr>
              <a:t> </a:t>
            </a:r>
            <a:r>
              <a:rPr sz="605" b="1" i="0" dirty="0" err="1">
                <a:solidFill>
                  <a:srgbClr val="3A3A3E"/>
                </a:solidFill>
                <a:latin typeface="Arial"/>
              </a:rPr>
              <a:t>dự</a:t>
            </a:r>
            <a:r>
              <a:rPr sz="605" b="1" i="0" dirty="0">
                <a:solidFill>
                  <a:srgbClr val="3A3A3E"/>
                </a:solidFill>
                <a:latin typeface="Arial"/>
              </a:rPr>
              <a:t> </a:t>
            </a:r>
            <a:r>
              <a:rPr sz="605" b="1" i="0" dirty="0" err="1">
                <a:solidFill>
                  <a:srgbClr val="3A3A3E"/>
                </a:solidFill>
                <a:latin typeface="Arial"/>
              </a:rPr>
              <a:t>án</a:t>
            </a:r>
            <a:r>
              <a:rPr sz="605" b="1" i="0" dirty="0">
                <a:solidFill>
                  <a:srgbClr val="3A3A3E"/>
                </a:solidFill>
                <a:latin typeface="Arial"/>
              </a:rPr>
              <a:t> </a:t>
            </a:r>
            <a:r>
              <a:rPr sz="605" b="1" i="0" dirty="0" err="1">
                <a:solidFill>
                  <a:srgbClr val="3A3A3E"/>
                </a:solidFill>
                <a:latin typeface="Arial"/>
              </a:rPr>
              <a:t>nên</a:t>
            </a:r>
            <a:r>
              <a:rPr sz="605" b="1" i="0" dirty="0">
                <a:solidFill>
                  <a:srgbClr val="3A3A3E"/>
                </a:solidFill>
                <a:latin typeface="Arial"/>
              </a:rPr>
              <a:t> chu </a:t>
            </a:r>
            <a:r>
              <a:rPr sz="605" b="1" i="0" dirty="0" err="1">
                <a:solidFill>
                  <a:srgbClr val="3A3A3E"/>
                </a:solidFill>
                <a:latin typeface="Arial"/>
              </a:rPr>
              <a:t>kỳ</a:t>
            </a:r>
            <a:r>
              <a:rPr sz="605" b="1" i="0" dirty="0">
                <a:solidFill>
                  <a:srgbClr val="3A3A3E"/>
                </a:solidFill>
                <a:latin typeface="Arial"/>
              </a:rPr>
              <a:t> </a:t>
            </a:r>
            <a:r>
              <a:rPr sz="605" b="1" i="0" dirty="0" err="1">
                <a:solidFill>
                  <a:srgbClr val="3A3A3E"/>
                </a:solidFill>
                <a:latin typeface="Arial"/>
              </a:rPr>
              <a:t>không</a:t>
            </a:r>
            <a:r>
              <a:rPr sz="605" b="1" i="0" dirty="0">
                <a:solidFill>
                  <a:srgbClr val="3A3A3E"/>
                </a:solidFill>
                <a:latin typeface="Arial"/>
              </a:rPr>
              <a:t> </a:t>
            </a:r>
            <a:r>
              <a:rPr sz="605" b="1" i="0" dirty="0" err="1">
                <a:solidFill>
                  <a:srgbClr val="3A3A3E"/>
                </a:solidFill>
                <a:latin typeface="Arial"/>
              </a:rPr>
              <a:t>đứt</a:t>
            </a:r>
            <a:r>
              <a:rPr sz="605" b="1" i="0" dirty="0">
                <a:solidFill>
                  <a:srgbClr val="3A3A3E"/>
                </a:solidFill>
                <a:latin typeface="Arial"/>
              </a:rPr>
              <a:t> </a:t>
            </a:r>
            <a:r>
              <a:rPr sz="605" b="1" i="0" dirty="0" err="1">
                <a:solidFill>
                  <a:srgbClr val="3A3A3E"/>
                </a:solidFill>
                <a:latin typeface="Arial"/>
              </a:rPr>
              <a:t>đoạn</a:t>
            </a:r>
            <a:r>
              <a:rPr sz="605" b="1" i="0" dirty="0">
                <a:solidFill>
                  <a:srgbClr val="3A3A3E"/>
                </a:solidFill>
                <a:latin typeface="Arial"/>
              </a:rPr>
              <a:t>.</a:t>
            </a:r>
            <a:r>
              <a:rPr sz="605" b="0" i="0" dirty="0">
                <a:solidFill>
                  <a:srgbClr val="2B2B2E"/>
                </a:solidFill>
                <a:latin typeface="Arial"/>
              </a:rPr>
              <a:t> Long </a:t>
            </a:r>
            <a:r>
              <a:rPr sz="605" b="0" i="0" dirty="0" err="1">
                <a:solidFill>
                  <a:srgbClr val="2B2B2E"/>
                </a:solidFill>
                <a:latin typeface="Arial"/>
              </a:rPr>
              <a:t>Thành</a:t>
            </a:r>
            <a:r>
              <a:rPr sz="605" b="0" i="0" dirty="0">
                <a:solidFill>
                  <a:srgbClr val="2B2B2E"/>
                </a:solidFill>
                <a:latin typeface="Arial"/>
              </a:rPr>
              <a:t> (76% </a:t>
            </a:r>
            <a:r>
              <a:rPr sz="605" b="0" i="0" dirty="0" err="1">
                <a:solidFill>
                  <a:srgbClr val="2B2B2E"/>
                </a:solidFill>
                <a:latin typeface="Arial"/>
              </a:rPr>
              <a:t>hoàn</a:t>
            </a:r>
            <a:r>
              <a:rPr sz="605" b="0" i="0" dirty="0">
                <a:solidFill>
                  <a:srgbClr val="2B2B2E"/>
                </a:solidFill>
                <a:latin typeface="Arial"/>
              </a:rPr>
              <a:t> </a:t>
            </a:r>
            <a:r>
              <a:rPr sz="605" b="0" i="0" dirty="0" err="1">
                <a:solidFill>
                  <a:srgbClr val="2B2B2E"/>
                </a:solidFill>
                <a:latin typeface="Arial"/>
              </a:rPr>
              <a:t>thành</a:t>
            </a:r>
            <a:r>
              <a:rPr sz="605" b="0" i="0" dirty="0">
                <a:solidFill>
                  <a:srgbClr val="2B2B2E"/>
                </a:solidFill>
                <a:latin typeface="Arial"/>
              </a:rPr>
              <a:t>), </a:t>
            </a:r>
            <a:r>
              <a:rPr sz="605" b="0" i="0" dirty="0" err="1">
                <a:solidFill>
                  <a:srgbClr val="2B2B2E"/>
                </a:solidFill>
                <a:latin typeface="Arial"/>
              </a:rPr>
              <a:t>Vành</a:t>
            </a:r>
            <a:r>
              <a:rPr sz="605" b="0" i="0" dirty="0">
                <a:solidFill>
                  <a:srgbClr val="2B2B2E"/>
                </a:solidFill>
                <a:latin typeface="Arial"/>
              </a:rPr>
              <a:t> </a:t>
            </a:r>
            <a:r>
              <a:rPr sz="605" b="0" i="0" dirty="0" err="1">
                <a:solidFill>
                  <a:srgbClr val="2B2B2E"/>
                </a:solidFill>
                <a:latin typeface="Arial"/>
              </a:rPr>
              <a:t>đai</a:t>
            </a:r>
            <a:r>
              <a:rPr sz="605" b="0" i="0" dirty="0">
                <a:solidFill>
                  <a:srgbClr val="2B2B2E"/>
                </a:solidFill>
                <a:latin typeface="Arial"/>
              </a:rPr>
              <a:t> 3 </a:t>
            </a:r>
            <a:r>
              <a:rPr sz="605" b="0" i="0" dirty="0" err="1">
                <a:solidFill>
                  <a:srgbClr val="2B2B2E"/>
                </a:solidFill>
                <a:latin typeface="Arial"/>
              </a:rPr>
              <a:t>và</a:t>
            </a:r>
            <a:r>
              <a:rPr sz="605" b="0" i="0" dirty="0">
                <a:solidFill>
                  <a:srgbClr val="2B2B2E"/>
                </a:solidFill>
                <a:latin typeface="Arial"/>
              </a:rPr>
              <a:t> 4 (75</a:t>
            </a:r>
            <a:r>
              <a:rPr lang="en-US" sz="605" b="0" i="0" dirty="0">
                <a:solidFill>
                  <a:srgbClr val="2B2B2E"/>
                </a:solidFill>
                <a:latin typeface="Arial"/>
              </a:rPr>
              <a:t>-</a:t>
            </a:r>
            <a:r>
              <a:rPr sz="605" b="0" i="0" dirty="0">
                <a:solidFill>
                  <a:srgbClr val="2B2B2E"/>
                </a:solidFill>
                <a:latin typeface="Arial"/>
              </a:rPr>
              <a:t>79%) </a:t>
            </a:r>
            <a:r>
              <a:rPr sz="605" b="0" i="0" dirty="0" err="1">
                <a:solidFill>
                  <a:srgbClr val="2B2B2E"/>
                </a:solidFill>
                <a:latin typeface="Arial"/>
              </a:rPr>
              <a:t>sắp</a:t>
            </a:r>
            <a:r>
              <a:rPr sz="605" b="0" i="0" dirty="0">
                <a:solidFill>
                  <a:srgbClr val="2B2B2E"/>
                </a:solidFill>
                <a:latin typeface="Arial"/>
              </a:rPr>
              <a:t> </a:t>
            </a:r>
            <a:r>
              <a:rPr sz="605" b="0" i="0" dirty="0" err="1">
                <a:solidFill>
                  <a:srgbClr val="2B2B2E"/>
                </a:solidFill>
                <a:latin typeface="Arial"/>
              </a:rPr>
              <a:t>về</a:t>
            </a:r>
            <a:r>
              <a:rPr sz="605" b="0" i="0" dirty="0">
                <a:solidFill>
                  <a:srgbClr val="2B2B2E"/>
                </a:solidFill>
                <a:latin typeface="Arial"/>
              </a:rPr>
              <a:t> </a:t>
            </a:r>
            <a:r>
              <a:rPr sz="605" b="0" i="0" dirty="0" err="1">
                <a:solidFill>
                  <a:srgbClr val="2B2B2E"/>
                </a:solidFill>
                <a:latin typeface="Arial"/>
              </a:rPr>
              <a:t>đích</a:t>
            </a:r>
            <a:r>
              <a:rPr sz="605" b="0" i="0" dirty="0">
                <a:solidFill>
                  <a:srgbClr val="2B2B2E"/>
                </a:solidFill>
                <a:latin typeface="Arial"/>
              </a:rPr>
              <a:t>; Gia </a:t>
            </a:r>
            <a:r>
              <a:rPr sz="605" b="0" i="0" dirty="0" err="1">
                <a:solidFill>
                  <a:srgbClr val="2B2B2E"/>
                </a:solidFill>
                <a:latin typeface="Arial"/>
              </a:rPr>
              <a:t>Bình</a:t>
            </a:r>
            <a:r>
              <a:rPr sz="605" b="0" i="0" dirty="0">
                <a:solidFill>
                  <a:srgbClr val="2B2B2E"/>
                </a:solidFill>
                <a:latin typeface="Arial"/>
              </a:rPr>
              <a:t> (</a:t>
            </a:r>
            <a:r>
              <a:rPr sz="605" b="0" i="0" dirty="0" err="1">
                <a:solidFill>
                  <a:srgbClr val="2B2B2E"/>
                </a:solidFill>
                <a:latin typeface="Arial"/>
              </a:rPr>
              <a:t>vận</a:t>
            </a:r>
            <a:r>
              <a:rPr sz="605" b="0" i="0" dirty="0">
                <a:solidFill>
                  <a:srgbClr val="2B2B2E"/>
                </a:solidFill>
                <a:latin typeface="Arial"/>
              </a:rPr>
              <a:t> </a:t>
            </a:r>
            <a:r>
              <a:rPr sz="605" b="0" i="0" dirty="0" err="1">
                <a:solidFill>
                  <a:srgbClr val="2B2B2E"/>
                </a:solidFill>
                <a:latin typeface="Arial"/>
              </a:rPr>
              <a:t>hành</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2027, </a:t>
            </a:r>
            <a:r>
              <a:rPr sz="605" b="0" i="0" dirty="0" err="1">
                <a:solidFill>
                  <a:srgbClr val="2B2B2E"/>
                </a:solidFill>
                <a:latin typeface="Arial"/>
              </a:rPr>
              <a:t>phục</a:t>
            </a:r>
            <a:r>
              <a:rPr sz="605" b="0" i="0" dirty="0">
                <a:solidFill>
                  <a:srgbClr val="2B2B2E"/>
                </a:solidFill>
                <a:latin typeface="Arial"/>
              </a:rPr>
              <a:t> </a:t>
            </a:r>
            <a:r>
              <a:rPr sz="605" b="0" i="0" dirty="0" err="1">
                <a:solidFill>
                  <a:srgbClr val="2B2B2E"/>
                </a:solidFill>
                <a:latin typeface="Arial"/>
              </a:rPr>
              <a:t>vụ</a:t>
            </a:r>
            <a:r>
              <a:rPr sz="605" b="0" i="0" dirty="0">
                <a:solidFill>
                  <a:srgbClr val="2B2B2E"/>
                </a:solidFill>
                <a:latin typeface="Arial"/>
              </a:rPr>
              <a:t> APEC 2027), Metro 2 TP.HCM (</a:t>
            </a:r>
            <a:r>
              <a:rPr sz="605" b="0" i="0" dirty="0" err="1">
                <a:solidFill>
                  <a:srgbClr val="2B2B2E"/>
                </a:solidFill>
                <a:latin typeface="Arial"/>
              </a:rPr>
              <a:t>khởi</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1/2026), </a:t>
            </a:r>
            <a:r>
              <a:rPr sz="605" b="0" i="0" dirty="0" err="1">
                <a:solidFill>
                  <a:srgbClr val="2B2B2E"/>
                </a:solidFill>
                <a:latin typeface="Arial"/>
              </a:rPr>
              <a:t>Cần</a:t>
            </a:r>
            <a:r>
              <a:rPr sz="605" b="0" i="0" dirty="0">
                <a:solidFill>
                  <a:srgbClr val="2B2B2E"/>
                </a:solidFill>
                <a:latin typeface="Arial"/>
              </a:rPr>
              <a:t> </a:t>
            </a:r>
            <a:r>
              <a:rPr sz="605" b="0" i="0" dirty="0" err="1">
                <a:solidFill>
                  <a:srgbClr val="2B2B2E"/>
                </a:solidFill>
                <a:latin typeface="Arial"/>
              </a:rPr>
              <a:t>Giờ</a:t>
            </a:r>
            <a:r>
              <a:rPr sz="605" b="0" i="0" dirty="0">
                <a:solidFill>
                  <a:srgbClr val="2B2B2E"/>
                </a:solidFill>
                <a:latin typeface="Arial"/>
              </a:rPr>
              <a:t> (</a:t>
            </a:r>
            <a:r>
              <a:rPr sz="605" b="0" i="0" dirty="0" err="1">
                <a:solidFill>
                  <a:srgbClr val="2B2B2E"/>
                </a:solidFill>
                <a:latin typeface="Arial"/>
              </a:rPr>
              <a:t>giai</a:t>
            </a:r>
            <a:r>
              <a:rPr sz="605" b="0" i="0" dirty="0">
                <a:solidFill>
                  <a:srgbClr val="2B2B2E"/>
                </a:solidFill>
                <a:latin typeface="Arial"/>
              </a:rPr>
              <a:t> </a:t>
            </a:r>
            <a:r>
              <a:rPr sz="605" b="0" i="0" dirty="0" err="1">
                <a:solidFill>
                  <a:srgbClr val="2B2B2E"/>
                </a:solidFill>
                <a:latin typeface="Arial"/>
              </a:rPr>
              <a:t>đoạn</a:t>
            </a:r>
            <a:r>
              <a:rPr sz="605" b="0" i="0" dirty="0">
                <a:solidFill>
                  <a:srgbClr val="2B2B2E"/>
                </a:solidFill>
                <a:latin typeface="Arial"/>
              </a:rPr>
              <a:t> 1 </a:t>
            </a:r>
            <a:r>
              <a:rPr sz="605" b="0" i="0" dirty="0" err="1">
                <a:solidFill>
                  <a:srgbClr val="2B2B2E"/>
                </a:solidFill>
                <a:latin typeface="Arial"/>
              </a:rPr>
              <a:t>trước</a:t>
            </a:r>
            <a:r>
              <a:rPr sz="605" b="0" i="0" dirty="0">
                <a:solidFill>
                  <a:srgbClr val="2B2B2E"/>
                </a:solidFill>
                <a:latin typeface="Arial"/>
              </a:rPr>
              <a:t> 2030)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đường</a:t>
            </a:r>
            <a:r>
              <a:rPr sz="605" b="0" i="0" dirty="0">
                <a:solidFill>
                  <a:srgbClr val="2B2B2E"/>
                </a:solidFill>
                <a:latin typeface="Arial"/>
              </a:rPr>
              <a:t> </a:t>
            </a:r>
            <a:r>
              <a:rPr sz="605" b="0" i="0" dirty="0" err="1">
                <a:solidFill>
                  <a:srgbClr val="2B2B2E"/>
                </a:solidFill>
                <a:latin typeface="Arial"/>
              </a:rPr>
              <a:t>sắt</a:t>
            </a:r>
            <a:r>
              <a:rPr sz="605" b="0" i="0" dirty="0">
                <a:solidFill>
                  <a:srgbClr val="2B2B2E"/>
                </a:solidFill>
                <a:latin typeface="Arial"/>
              </a:rPr>
              <a:t> </a:t>
            </a:r>
            <a:r>
              <a:rPr sz="605" b="0" i="0" dirty="0" err="1">
                <a:solidFill>
                  <a:srgbClr val="2B2B2E"/>
                </a:solidFill>
                <a:latin typeface="Arial"/>
              </a:rPr>
              <a:t>tốc</a:t>
            </a:r>
            <a:r>
              <a:rPr sz="605" b="0" i="0" dirty="0">
                <a:solidFill>
                  <a:srgbClr val="2B2B2E"/>
                </a:solidFill>
                <a:latin typeface="Arial"/>
              </a:rPr>
              <a:t> </a:t>
            </a:r>
            <a:r>
              <a:rPr sz="605" b="0" i="0" dirty="0" err="1">
                <a:solidFill>
                  <a:srgbClr val="2B2B2E"/>
                </a:solidFill>
                <a:latin typeface="Arial"/>
              </a:rPr>
              <a:t>độ</a:t>
            </a:r>
            <a:r>
              <a:rPr sz="605" b="0" i="0" dirty="0">
                <a:solidFill>
                  <a:srgbClr val="2B2B2E"/>
                </a:solidFill>
                <a:latin typeface="Arial"/>
              </a:rPr>
              <a:t>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từ</a:t>
            </a:r>
            <a:r>
              <a:rPr sz="605" b="0" i="0" dirty="0">
                <a:solidFill>
                  <a:srgbClr val="2B2B2E"/>
                </a:solidFill>
                <a:latin typeface="Arial"/>
              </a:rPr>
              <a:t> </a:t>
            </a:r>
            <a:r>
              <a:rPr sz="605" b="0" i="0" dirty="0" err="1">
                <a:solidFill>
                  <a:srgbClr val="2B2B2E"/>
                </a:solidFill>
                <a:latin typeface="Arial"/>
              </a:rPr>
              <a:t>cuối</a:t>
            </a:r>
            <a:r>
              <a:rPr sz="605" b="0" i="0" dirty="0">
                <a:solidFill>
                  <a:srgbClr val="2B2B2E"/>
                </a:solidFill>
                <a:latin typeface="Arial"/>
              </a:rPr>
              <a:t> 2027) </a:t>
            </a:r>
            <a:r>
              <a:rPr sz="605" b="0" i="0" dirty="0" err="1">
                <a:solidFill>
                  <a:srgbClr val="2B2B2E"/>
                </a:solidFill>
                <a:latin typeface="Arial"/>
              </a:rPr>
              <a:t>thế</a:t>
            </a:r>
            <a:r>
              <a:rPr sz="605" b="0" i="0" dirty="0">
                <a:solidFill>
                  <a:srgbClr val="2B2B2E"/>
                </a:solidFill>
                <a:latin typeface="Arial"/>
              </a:rPr>
              <a:t> </a:t>
            </a:r>
            <a:r>
              <a:rPr sz="605" b="0" i="0" dirty="0" err="1">
                <a:solidFill>
                  <a:srgbClr val="2B2B2E"/>
                </a:solidFill>
                <a:latin typeface="Arial"/>
              </a:rPr>
              <a:t>chỗ</a:t>
            </a:r>
            <a:r>
              <a:rPr sz="605" b="0" i="0" dirty="0">
                <a:solidFill>
                  <a:srgbClr val="2B2B2E"/>
                </a:solidFill>
                <a:latin typeface="Arial"/>
              </a:rPr>
              <a:t>.</a:t>
            </a:r>
          </a:p>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Phần</a:t>
            </a:r>
            <a:r>
              <a:rPr sz="605" b="1" i="0" dirty="0">
                <a:solidFill>
                  <a:srgbClr val="3A3A3E"/>
                </a:solidFill>
                <a:latin typeface="Arial"/>
              </a:rPr>
              <a:t> </a:t>
            </a:r>
            <a:r>
              <a:rPr sz="605" b="1" i="0" dirty="0" err="1">
                <a:solidFill>
                  <a:srgbClr val="3A3A3E"/>
                </a:solidFill>
                <a:latin typeface="Arial"/>
              </a:rPr>
              <a:t>giá</a:t>
            </a:r>
            <a:r>
              <a:rPr sz="605" b="1" i="0" dirty="0">
                <a:solidFill>
                  <a:srgbClr val="3A3A3E"/>
                </a:solidFill>
                <a:latin typeface="Arial"/>
              </a:rPr>
              <a:t> </a:t>
            </a:r>
            <a:r>
              <a:rPr sz="605" b="1" i="0" dirty="0" err="1">
                <a:solidFill>
                  <a:srgbClr val="3A3A3E"/>
                </a:solidFill>
                <a:latin typeface="Arial"/>
              </a:rPr>
              <a:t>trị</a:t>
            </a:r>
            <a:r>
              <a:rPr sz="605" b="1" i="0" dirty="0">
                <a:solidFill>
                  <a:srgbClr val="3A3A3E"/>
                </a:solidFill>
                <a:latin typeface="Arial"/>
              </a:rPr>
              <a:t> </a:t>
            </a:r>
            <a:r>
              <a:rPr sz="605" b="1" i="0" dirty="0" err="1">
                <a:solidFill>
                  <a:srgbClr val="3A3A3E"/>
                </a:solidFill>
                <a:latin typeface="Arial"/>
              </a:rPr>
              <a:t>cao</a:t>
            </a:r>
            <a:r>
              <a:rPr sz="605" b="1" i="0" dirty="0">
                <a:solidFill>
                  <a:srgbClr val="3A3A3E"/>
                </a:solidFill>
                <a:latin typeface="Arial"/>
              </a:rPr>
              <a:t> </a:t>
            </a:r>
            <a:r>
              <a:rPr sz="605" b="1" i="0" dirty="0" err="1">
                <a:solidFill>
                  <a:srgbClr val="3A3A3E"/>
                </a:solidFill>
                <a:latin typeface="Arial"/>
              </a:rPr>
              <a:t>nhất</a:t>
            </a:r>
            <a:r>
              <a:rPr sz="605" b="1" i="0" dirty="0">
                <a:solidFill>
                  <a:srgbClr val="3A3A3E"/>
                </a:solidFill>
                <a:latin typeface="Arial"/>
              </a:rPr>
              <a:t> </a:t>
            </a:r>
            <a:r>
              <a:rPr sz="605" b="1" i="0" dirty="0" err="1">
                <a:solidFill>
                  <a:srgbClr val="3A3A3E"/>
                </a:solidFill>
                <a:latin typeface="Arial"/>
              </a:rPr>
              <a:t>là</a:t>
            </a:r>
            <a:r>
              <a:rPr sz="605" b="1" i="0" dirty="0">
                <a:solidFill>
                  <a:srgbClr val="3A3A3E"/>
                </a:solidFill>
                <a:latin typeface="Arial"/>
              </a:rPr>
              <a:t> </a:t>
            </a:r>
            <a:r>
              <a:rPr sz="605" b="1" i="0" dirty="0" err="1">
                <a:solidFill>
                  <a:srgbClr val="3A3A3E"/>
                </a:solidFill>
                <a:latin typeface="Arial"/>
              </a:rPr>
              <a:t>phần</a:t>
            </a:r>
            <a:r>
              <a:rPr sz="605" b="1" i="0" dirty="0">
                <a:solidFill>
                  <a:srgbClr val="3A3A3E"/>
                </a:solidFill>
                <a:latin typeface="Arial"/>
              </a:rPr>
              <a:t> </a:t>
            </a:r>
            <a:r>
              <a:rPr sz="605" b="1" i="0" dirty="0" err="1">
                <a:solidFill>
                  <a:srgbClr val="3A3A3E"/>
                </a:solidFill>
                <a:latin typeface="Arial"/>
              </a:rPr>
              <a:t>phức</a:t>
            </a:r>
            <a:r>
              <a:rPr sz="605" b="1" i="0" dirty="0">
                <a:solidFill>
                  <a:srgbClr val="3A3A3E"/>
                </a:solidFill>
                <a:latin typeface="Arial"/>
              </a:rPr>
              <a:t> </a:t>
            </a:r>
            <a:r>
              <a:rPr sz="605" b="1" i="0" dirty="0" err="1">
                <a:solidFill>
                  <a:srgbClr val="3A3A3E"/>
                </a:solidFill>
                <a:latin typeface="Arial"/>
              </a:rPr>
              <a:t>tạp</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kết</a:t>
            </a:r>
            <a:r>
              <a:rPr sz="605" b="0" i="0" dirty="0">
                <a:solidFill>
                  <a:srgbClr val="2B2B2E"/>
                </a:solidFill>
                <a:latin typeface="Arial"/>
              </a:rPr>
              <a:t> </a:t>
            </a:r>
            <a:r>
              <a:rPr sz="605" b="0" i="0" dirty="0" err="1">
                <a:solidFill>
                  <a:srgbClr val="2B2B2E"/>
                </a:solidFill>
                <a:latin typeface="Arial"/>
              </a:rPr>
              <a:t>cấu</a:t>
            </a:r>
            <a:r>
              <a:rPr sz="605" b="0" i="0" dirty="0">
                <a:solidFill>
                  <a:srgbClr val="2B2B2E"/>
                </a:solidFill>
                <a:latin typeface="Arial"/>
              </a:rPr>
              <a:t> </a:t>
            </a:r>
            <a:r>
              <a:rPr sz="605" b="0" i="0" dirty="0" err="1">
                <a:solidFill>
                  <a:srgbClr val="2B2B2E"/>
                </a:solidFill>
                <a:latin typeface="Arial"/>
              </a:rPr>
              <a:t>ngầm</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ga</a:t>
            </a:r>
            <a:r>
              <a:rPr sz="605" b="0" i="0" dirty="0">
                <a:solidFill>
                  <a:srgbClr val="2B2B2E"/>
                </a:solidFill>
                <a:latin typeface="Arial"/>
              </a:rPr>
              <a:t> </a:t>
            </a:r>
            <a:r>
              <a:rPr sz="605" b="0" i="0" dirty="0" err="1">
                <a:solidFill>
                  <a:srgbClr val="2B2B2E"/>
                </a:solidFill>
                <a:latin typeface="Arial"/>
              </a:rPr>
              <a:t>hàng</a:t>
            </a:r>
            <a:r>
              <a:rPr sz="605" b="0" i="0" dirty="0">
                <a:solidFill>
                  <a:srgbClr val="2B2B2E"/>
                </a:solidFill>
                <a:latin typeface="Arial"/>
              </a:rPr>
              <a:t> </a:t>
            </a:r>
            <a:r>
              <a:rPr sz="605" b="0" i="0" dirty="0" err="1">
                <a:solidFill>
                  <a:srgbClr val="2B2B2E"/>
                </a:solidFill>
                <a:latin typeface="Arial"/>
              </a:rPr>
              <a:t>không</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a:t>
            </a:r>
            <a:r>
              <a:rPr sz="605" b="0" i="0" dirty="0" err="1">
                <a:solidFill>
                  <a:srgbClr val="2B2B2E"/>
                </a:solidFill>
                <a:latin typeface="Arial"/>
              </a:rPr>
              <a:t>để</a:t>
            </a:r>
            <a:r>
              <a:rPr sz="605" b="0" i="0" dirty="0">
                <a:solidFill>
                  <a:srgbClr val="2B2B2E"/>
                </a:solidFill>
                <a:latin typeface="Arial"/>
              </a:rPr>
              <a:t> </a:t>
            </a:r>
            <a:r>
              <a:rPr sz="605" b="0" i="0" dirty="0" err="1">
                <a:solidFill>
                  <a:srgbClr val="2B2B2E"/>
                </a:solidFill>
                <a:latin typeface="Arial"/>
              </a:rPr>
              <a:t>xe</a:t>
            </a:r>
            <a:r>
              <a:rPr sz="605" b="0" i="0" dirty="0">
                <a:solidFill>
                  <a:srgbClr val="2B2B2E"/>
                </a:solidFill>
                <a:latin typeface="Arial"/>
              </a:rPr>
              <a:t> </a:t>
            </a:r>
            <a:r>
              <a:rPr sz="605" b="0" i="0" dirty="0" err="1">
                <a:solidFill>
                  <a:srgbClr val="2B2B2E"/>
                </a:solidFill>
                <a:latin typeface="Arial"/>
              </a:rPr>
              <a:t>nhiều</a:t>
            </a:r>
            <a:r>
              <a:rPr sz="605" b="0" i="0" dirty="0">
                <a:solidFill>
                  <a:srgbClr val="2B2B2E"/>
                </a:solidFill>
                <a:latin typeface="Arial"/>
              </a:rPr>
              <a:t> </a:t>
            </a:r>
            <a:r>
              <a:rPr sz="605" b="0" i="0" dirty="0" err="1">
                <a:solidFill>
                  <a:srgbClr val="2B2B2E"/>
                </a:solidFill>
                <a:latin typeface="Arial"/>
              </a:rPr>
              <a:t>tầng</a:t>
            </a:r>
            <a:r>
              <a:rPr sz="605" b="0" i="0" dirty="0">
                <a:solidFill>
                  <a:srgbClr val="2B2B2E"/>
                </a:solidFill>
                <a:latin typeface="Arial"/>
              </a:rPr>
              <a:t>, </a:t>
            </a:r>
            <a:r>
              <a:rPr sz="605" b="0" i="0" dirty="0" err="1">
                <a:solidFill>
                  <a:srgbClr val="2B2B2E"/>
                </a:solidFill>
                <a:latin typeface="Arial"/>
              </a:rPr>
              <a:t>siêu</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trình</a:t>
            </a:r>
            <a:r>
              <a:rPr sz="605" b="0" i="0" dirty="0">
                <a:solidFill>
                  <a:srgbClr val="2B2B2E"/>
                </a:solidFill>
                <a:latin typeface="Arial"/>
              </a:rPr>
              <a:t> </a:t>
            </a:r>
            <a:r>
              <a:rPr sz="605" b="0" i="0" dirty="0" err="1">
                <a:solidFill>
                  <a:srgbClr val="2B2B2E"/>
                </a:solidFill>
                <a:latin typeface="Arial"/>
              </a:rPr>
              <a:t>ven</a:t>
            </a:r>
            <a:r>
              <a:rPr sz="605" b="0" i="0" dirty="0">
                <a:solidFill>
                  <a:srgbClr val="2B2B2E"/>
                </a:solidFill>
                <a:latin typeface="Arial"/>
              </a:rPr>
              <a:t> </a:t>
            </a:r>
            <a:r>
              <a:rPr sz="605" b="0" i="0" dirty="0" err="1">
                <a:solidFill>
                  <a:srgbClr val="2B2B2E"/>
                </a:solidFill>
                <a:latin typeface="Arial"/>
              </a:rPr>
              <a:t>biển</a:t>
            </a:r>
            <a:r>
              <a:rPr sz="605" b="0" i="0" dirty="0">
                <a:solidFill>
                  <a:srgbClr val="2B2B2E"/>
                </a:solidFill>
                <a:latin typeface="Arial"/>
              </a:rPr>
              <a:t> (</a:t>
            </a:r>
            <a:r>
              <a:rPr sz="605" b="0" i="0" dirty="0" err="1">
                <a:solidFill>
                  <a:srgbClr val="2B2B2E"/>
                </a:solidFill>
                <a:latin typeface="Arial"/>
              </a:rPr>
              <a:t>bảng</a:t>
            </a:r>
            <a:r>
              <a:rPr sz="605" b="0" i="0" dirty="0">
                <a:solidFill>
                  <a:srgbClr val="2B2B2E"/>
                </a:solidFill>
                <a:latin typeface="Arial"/>
              </a:rPr>
              <a:t> </a:t>
            </a:r>
            <a:r>
              <a:rPr sz="605" b="0" i="0" dirty="0" err="1">
                <a:solidFill>
                  <a:srgbClr val="2B2B2E"/>
                </a:solidFill>
                <a:latin typeface="Arial"/>
              </a:rPr>
              <a:t>dưới</a:t>
            </a:r>
            <a:r>
              <a:rPr sz="605" b="0" i="0" dirty="0">
                <a:solidFill>
                  <a:srgbClr val="2B2B2E"/>
                </a:solidFill>
                <a:latin typeface="Arial"/>
              </a:rPr>
              <a:t>). </a:t>
            </a:r>
            <a:r>
              <a:rPr sz="605" b="0" i="0" dirty="0" err="1">
                <a:solidFill>
                  <a:srgbClr val="2B2B2E"/>
                </a:solidFill>
                <a:latin typeface="Arial"/>
              </a:rPr>
              <a:t>Đây</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vùng</a:t>
            </a:r>
            <a:r>
              <a:rPr sz="605" b="0" i="0" dirty="0">
                <a:solidFill>
                  <a:srgbClr val="2B2B2E"/>
                </a:solidFill>
                <a:latin typeface="Arial"/>
              </a:rPr>
              <a:t> </a:t>
            </a:r>
            <a:r>
              <a:rPr sz="605" b="0" i="0" dirty="0" err="1">
                <a:solidFill>
                  <a:srgbClr val="2B2B2E"/>
                </a:solidFill>
                <a:latin typeface="Arial"/>
              </a:rPr>
              <a:t>mục</a:t>
            </a:r>
            <a:r>
              <a:rPr sz="605" b="0" i="0" dirty="0">
                <a:solidFill>
                  <a:srgbClr val="2B2B2E"/>
                </a:solidFill>
                <a:latin typeface="Arial"/>
              </a:rPr>
              <a:t> </a:t>
            </a:r>
            <a:r>
              <a:rPr sz="605" b="0" i="0" dirty="0" err="1">
                <a:solidFill>
                  <a:srgbClr val="2B2B2E"/>
                </a:solidFill>
                <a:latin typeface="Arial"/>
              </a:rPr>
              <a:t>tiêu</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CTD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nhóm</a:t>
            </a:r>
            <a:r>
              <a:rPr sz="605" b="0" i="0" dirty="0">
                <a:solidFill>
                  <a:srgbClr val="2B2B2E"/>
                </a:solidFill>
                <a:latin typeface="Arial"/>
              </a:rPr>
              <a:t> </a:t>
            </a:r>
            <a:r>
              <a:rPr sz="605" b="0" i="0" dirty="0" err="1">
                <a:solidFill>
                  <a:srgbClr val="2B2B2E"/>
                </a:solidFill>
                <a:latin typeface="Arial"/>
              </a:rPr>
              <a:t>công</a:t>
            </a:r>
            <a:r>
              <a:rPr sz="605" b="0" i="0" dirty="0">
                <a:solidFill>
                  <a:srgbClr val="2B2B2E"/>
                </a:solidFill>
                <a:latin typeface="Arial"/>
              </a:rPr>
              <a:t> </a:t>
            </a:r>
            <a:r>
              <a:rPr sz="605" b="0" i="0" dirty="0" err="1">
                <a:solidFill>
                  <a:srgbClr val="2B2B2E"/>
                </a:solidFill>
                <a:latin typeface="Arial"/>
              </a:rPr>
              <a:t>trình</a:t>
            </a:r>
            <a:r>
              <a:rPr sz="605" b="0" i="0" dirty="0">
                <a:solidFill>
                  <a:srgbClr val="2B2B2E"/>
                </a:solidFill>
                <a:latin typeface="Arial"/>
              </a:rPr>
              <a:t> </a:t>
            </a:r>
            <a:r>
              <a:rPr sz="605" b="0" i="0" dirty="0" err="1">
                <a:solidFill>
                  <a:srgbClr val="2B2B2E"/>
                </a:solidFill>
                <a:latin typeface="Arial"/>
              </a:rPr>
              <a:t>có</a:t>
            </a:r>
            <a:r>
              <a:rPr sz="605" b="0" i="0" dirty="0">
                <a:solidFill>
                  <a:srgbClr val="2B2B2E"/>
                </a:solidFill>
                <a:latin typeface="Arial"/>
              </a:rPr>
              <a:t> </a:t>
            </a:r>
            <a:r>
              <a:rPr sz="605" b="0" i="0" dirty="0" err="1">
                <a:solidFill>
                  <a:srgbClr val="2B2B2E"/>
                </a:solidFill>
                <a:latin typeface="Arial"/>
              </a:rPr>
              <a:t>biên</a:t>
            </a:r>
            <a:r>
              <a:rPr sz="605" b="0" i="0" dirty="0">
                <a:solidFill>
                  <a:srgbClr val="2B2B2E"/>
                </a:solidFill>
                <a:latin typeface="Arial"/>
              </a:rPr>
              <a:t> </a:t>
            </a:r>
            <a:r>
              <a:rPr sz="605" b="0" i="0" dirty="0" err="1">
                <a:solidFill>
                  <a:srgbClr val="2B2B2E"/>
                </a:solidFill>
                <a:latin typeface="Arial"/>
              </a:rPr>
              <a:t>cao</a:t>
            </a:r>
            <a:r>
              <a:rPr sz="605" b="0" i="0" dirty="0">
                <a:solidFill>
                  <a:srgbClr val="2B2B2E"/>
                </a:solidFill>
                <a:latin typeface="Arial"/>
              </a:rPr>
              <a:t> </a:t>
            </a:r>
            <a:r>
              <a:rPr sz="605" b="0" i="0" dirty="0" err="1">
                <a:solidFill>
                  <a:srgbClr val="2B2B2E"/>
                </a:solidFill>
                <a:latin typeface="Arial"/>
              </a:rPr>
              <a:t>hơn</a:t>
            </a:r>
            <a:r>
              <a:rPr sz="605" b="0" i="0" dirty="0">
                <a:solidFill>
                  <a:srgbClr val="2B2B2E"/>
                </a:solidFill>
                <a:latin typeface="Arial"/>
              </a:rPr>
              <a:t> </a:t>
            </a:r>
            <a:r>
              <a:rPr sz="605" b="0" i="0" dirty="0" err="1">
                <a:solidFill>
                  <a:srgbClr val="2B2B2E"/>
                </a:solidFill>
                <a:latin typeface="Arial"/>
              </a:rPr>
              <a:t>nhà</a:t>
            </a:r>
            <a:r>
              <a:rPr sz="605" b="0" i="0" dirty="0">
                <a:solidFill>
                  <a:srgbClr val="2B2B2E"/>
                </a:solidFill>
                <a:latin typeface="Arial"/>
              </a:rPr>
              <a:t> ở (</a:t>
            </a:r>
            <a:r>
              <a:rPr sz="605" b="0" i="0" dirty="0" err="1">
                <a:solidFill>
                  <a:srgbClr val="2B2B2E"/>
                </a:solidFill>
                <a:latin typeface="Arial"/>
              </a:rPr>
              <a:t>trang</a:t>
            </a:r>
            <a:r>
              <a:rPr sz="605" b="0" i="0" dirty="0">
                <a:solidFill>
                  <a:srgbClr val="2B2B2E"/>
                </a:solidFill>
                <a:latin typeface="Arial"/>
              </a:rPr>
              <a:t> 2).</a:t>
            </a:r>
          </a:p>
        </p:txBody>
      </p:sp>
      <p:sp>
        <p:nvSpPr>
          <p:cNvPr id="46" name="TextBox 45"/>
          <p:cNvSpPr txBox="1"/>
          <p:nvPr/>
        </p:nvSpPr>
        <p:spPr>
          <a:xfrm>
            <a:off x="230344" y="9008046"/>
            <a:ext cx="7170188" cy="362404"/>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sz="605" b="1" i="0" dirty="0" err="1">
                <a:solidFill>
                  <a:srgbClr val="3A3A3E"/>
                </a:solidFill>
                <a:latin typeface="Arial"/>
              </a:rPr>
              <a:t>Cung</a:t>
            </a:r>
            <a:r>
              <a:rPr sz="605" b="1" i="0" dirty="0">
                <a:solidFill>
                  <a:srgbClr val="3A3A3E"/>
                </a:solidFill>
                <a:latin typeface="Arial"/>
              </a:rPr>
              <a:t> </a:t>
            </a:r>
            <a:r>
              <a:rPr sz="605" b="1" i="0" dirty="0" err="1">
                <a:solidFill>
                  <a:srgbClr val="3A3A3E"/>
                </a:solidFill>
                <a:latin typeface="Arial"/>
              </a:rPr>
              <a:t>cầu</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thép</a:t>
            </a:r>
            <a:r>
              <a:rPr sz="605" b="0" i="0" dirty="0">
                <a:solidFill>
                  <a:srgbClr val="2B2B2E"/>
                </a:solidFill>
                <a:latin typeface="Arial"/>
              </a:rPr>
              <a:t> </a:t>
            </a:r>
            <a:r>
              <a:rPr sz="605" b="0" i="0" dirty="0" err="1">
                <a:solidFill>
                  <a:srgbClr val="2B2B2E"/>
                </a:solidFill>
                <a:latin typeface="Arial"/>
              </a:rPr>
              <a:t>thành</a:t>
            </a:r>
            <a:r>
              <a:rPr sz="605" b="0" i="0" dirty="0">
                <a:solidFill>
                  <a:srgbClr val="2B2B2E"/>
                </a:solidFill>
                <a:latin typeface="Arial"/>
              </a:rPr>
              <a:t> </a:t>
            </a:r>
            <a:r>
              <a:rPr sz="605" b="0" i="0" dirty="0" err="1">
                <a:solidFill>
                  <a:srgbClr val="2B2B2E"/>
                </a:solidFill>
                <a:latin typeface="Arial"/>
              </a:rPr>
              <a:t>phẩm</a:t>
            </a:r>
            <a:r>
              <a:rPr sz="605" b="0" i="0" dirty="0">
                <a:solidFill>
                  <a:srgbClr val="2B2B2E"/>
                </a:solidFill>
                <a:latin typeface="Arial"/>
              </a:rPr>
              <a:t> 32.3 </a:t>
            </a:r>
            <a:r>
              <a:rPr sz="605" b="0" i="0" dirty="0" err="1">
                <a:solidFill>
                  <a:srgbClr val="2B2B2E"/>
                </a:solidFill>
                <a:latin typeface="Arial"/>
              </a:rPr>
              <a:t>triệu</a:t>
            </a:r>
            <a:r>
              <a:rPr sz="605" b="0" i="0" dirty="0">
                <a:solidFill>
                  <a:srgbClr val="2B2B2E"/>
                </a:solidFill>
                <a:latin typeface="Arial"/>
              </a:rPr>
              <a:t> </a:t>
            </a:r>
            <a:r>
              <a:rPr sz="605" b="0" i="0" dirty="0" err="1">
                <a:solidFill>
                  <a:srgbClr val="2B2B2E"/>
                </a:solidFill>
                <a:latin typeface="Arial"/>
              </a:rPr>
              <a:t>tấn</a:t>
            </a:r>
            <a:r>
              <a:rPr sz="605" b="0" i="0" dirty="0">
                <a:solidFill>
                  <a:srgbClr val="2B2B2E"/>
                </a:solidFill>
                <a:latin typeface="Arial"/>
              </a:rPr>
              <a:t> </a:t>
            </a:r>
            <a:r>
              <a:rPr sz="605" b="0" i="0" dirty="0" err="1">
                <a:solidFill>
                  <a:srgbClr val="2B2B2E"/>
                </a:solidFill>
                <a:latin typeface="Arial"/>
              </a:rPr>
              <a:t>năm</a:t>
            </a:r>
            <a:r>
              <a:rPr sz="605" b="0" i="0" dirty="0">
                <a:solidFill>
                  <a:srgbClr val="2B2B2E"/>
                </a:solidFill>
                <a:latin typeface="Arial"/>
              </a:rPr>
              <a:t> 2025 (+10%), </a:t>
            </a:r>
            <a:r>
              <a:rPr sz="605" b="0" i="0" dirty="0" err="1">
                <a:solidFill>
                  <a:srgbClr val="2B2B2E"/>
                </a:solidFill>
                <a:latin typeface="Arial"/>
              </a:rPr>
              <a:t>cơ</a:t>
            </a:r>
            <a:r>
              <a:rPr sz="605" b="0" i="0" dirty="0">
                <a:solidFill>
                  <a:srgbClr val="2B2B2E"/>
                </a:solidFill>
                <a:latin typeface="Arial"/>
              </a:rPr>
              <a:t> </a:t>
            </a:r>
            <a:r>
              <a:rPr sz="605" b="0" i="0" dirty="0" err="1">
                <a:solidFill>
                  <a:srgbClr val="2B2B2E"/>
                </a:solidFill>
                <a:latin typeface="Arial"/>
              </a:rPr>
              <a:t>sở</a:t>
            </a:r>
            <a:r>
              <a:rPr sz="605" b="0" i="0" dirty="0">
                <a:solidFill>
                  <a:srgbClr val="2B2B2E"/>
                </a:solidFill>
                <a:latin typeface="Arial"/>
              </a:rPr>
              <a:t> 33.8 (2026F) </a:t>
            </a:r>
            <a:r>
              <a:rPr sz="605" b="0" i="0" dirty="0" err="1">
                <a:solidFill>
                  <a:srgbClr val="2B2B2E"/>
                </a:solidFill>
                <a:latin typeface="Arial"/>
              </a:rPr>
              <a:t>và</a:t>
            </a:r>
            <a:r>
              <a:rPr sz="605" b="0" i="0" dirty="0">
                <a:solidFill>
                  <a:srgbClr val="2B2B2E"/>
                </a:solidFill>
                <a:latin typeface="Arial"/>
              </a:rPr>
              <a:t> 36.0 (2027F); xi </a:t>
            </a:r>
            <a:r>
              <a:rPr sz="605" b="0" i="0" dirty="0" err="1">
                <a:solidFill>
                  <a:srgbClr val="2B2B2E"/>
                </a:solidFill>
                <a:latin typeface="Arial"/>
              </a:rPr>
              <a:t>măng</a:t>
            </a:r>
            <a:r>
              <a:rPr sz="605" b="0" i="0" dirty="0">
                <a:solidFill>
                  <a:srgbClr val="2B2B2E"/>
                </a:solidFill>
                <a:latin typeface="Arial"/>
              </a:rPr>
              <a:t> </a:t>
            </a:r>
            <a:r>
              <a:rPr sz="605" b="0" i="0" dirty="0" err="1">
                <a:solidFill>
                  <a:srgbClr val="2B2B2E"/>
                </a:solidFill>
                <a:latin typeface="Arial"/>
              </a:rPr>
              <a:t>nội</a:t>
            </a:r>
            <a:r>
              <a:rPr sz="605" b="0" i="0" dirty="0">
                <a:solidFill>
                  <a:srgbClr val="2B2B2E"/>
                </a:solidFill>
                <a:latin typeface="Arial"/>
              </a:rPr>
              <a:t> </a:t>
            </a:r>
            <a:r>
              <a:rPr sz="605" b="0" i="0" dirty="0" err="1">
                <a:solidFill>
                  <a:srgbClr val="2B2B2E"/>
                </a:solidFill>
                <a:latin typeface="Arial"/>
              </a:rPr>
              <a:t>địa</a:t>
            </a:r>
            <a:r>
              <a:rPr sz="605" b="0" i="0" dirty="0">
                <a:solidFill>
                  <a:srgbClr val="2B2B2E"/>
                </a:solidFill>
                <a:latin typeface="Arial"/>
              </a:rPr>
              <a:t> 75 → 87 → 94 </a:t>
            </a:r>
            <a:r>
              <a:rPr sz="605" b="0" i="0" dirty="0" err="1">
                <a:solidFill>
                  <a:srgbClr val="2B2B2E"/>
                </a:solidFill>
                <a:latin typeface="Arial"/>
              </a:rPr>
              <a:t>triệu</a:t>
            </a:r>
            <a:r>
              <a:rPr sz="605" b="0" i="0" dirty="0">
                <a:solidFill>
                  <a:srgbClr val="2B2B2E"/>
                </a:solidFill>
                <a:latin typeface="Arial"/>
              </a:rPr>
              <a:t> </a:t>
            </a:r>
            <a:r>
              <a:rPr sz="605" b="0" i="0" dirty="0" err="1">
                <a:solidFill>
                  <a:srgbClr val="2B2B2E"/>
                </a:solidFill>
                <a:latin typeface="Arial"/>
              </a:rPr>
              <a:t>tấn</a:t>
            </a:r>
            <a:r>
              <a:rPr sz="605" b="0" i="0" dirty="0">
                <a:solidFill>
                  <a:srgbClr val="2B2B2E"/>
                </a:solidFill>
                <a:latin typeface="Arial"/>
              </a:rPr>
              <a:t>. </a:t>
            </a:r>
            <a:r>
              <a:rPr sz="605" b="0" i="0" dirty="0" err="1">
                <a:solidFill>
                  <a:srgbClr val="2B2B2E"/>
                </a:solidFill>
                <a:latin typeface="Arial"/>
              </a:rPr>
              <a:t>Thiếu</a:t>
            </a:r>
            <a:r>
              <a:rPr sz="605" b="0" i="0" dirty="0">
                <a:solidFill>
                  <a:srgbClr val="2B2B2E"/>
                </a:solidFill>
                <a:latin typeface="Arial"/>
              </a:rPr>
              <a:t> </a:t>
            </a:r>
            <a:r>
              <a:rPr sz="605" b="0" i="0" dirty="0" err="1">
                <a:solidFill>
                  <a:srgbClr val="2B2B2E"/>
                </a:solidFill>
                <a:latin typeface="Arial"/>
              </a:rPr>
              <a:t>hụt</a:t>
            </a:r>
            <a:r>
              <a:rPr sz="605" b="0" i="0" dirty="0">
                <a:solidFill>
                  <a:srgbClr val="2B2B2E"/>
                </a:solidFill>
                <a:latin typeface="Arial"/>
              </a:rPr>
              <a:t> 2026: ~6 </a:t>
            </a:r>
            <a:r>
              <a:rPr sz="605" b="0" i="0" dirty="0" err="1">
                <a:solidFill>
                  <a:srgbClr val="2B2B2E"/>
                </a:solidFill>
                <a:latin typeface="Arial"/>
              </a:rPr>
              <a:t>triệu</a:t>
            </a:r>
            <a:r>
              <a:rPr sz="605" b="0" i="0" dirty="0">
                <a:solidFill>
                  <a:srgbClr val="2B2B2E"/>
                </a:solidFill>
                <a:latin typeface="Arial"/>
              </a:rPr>
              <a:t> m³ </a:t>
            </a:r>
            <a:r>
              <a:rPr sz="605" b="0" i="0" dirty="0" err="1">
                <a:solidFill>
                  <a:srgbClr val="2B2B2E"/>
                </a:solidFill>
                <a:latin typeface="Arial"/>
              </a:rPr>
              <a:t>đá</a:t>
            </a:r>
            <a:r>
              <a:rPr sz="605" b="0" i="0" dirty="0">
                <a:solidFill>
                  <a:srgbClr val="2B2B2E"/>
                </a:solidFill>
                <a:latin typeface="Arial"/>
              </a:rPr>
              <a:t>, 1.8 </a:t>
            </a:r>
            <a:r>
              <a:rPr sz="605" b="0" i="0" dirty="0" err="1">
                <a:solidFill>
                  <a:srgbClr val="2B2B2E"/>
                </a:solidFill>
                <a:latin typeface="Arial"/>
              </a:rPr>
              <a:t>triệu</a:t>
            </a:r>
            <a:r>
              <a:rPr sz="605" b="0" i="0" dirty="0">
                <a:solidFill>
                  <a:srgbClr val="2B2B2E"/>
                </a:solidFill>
                <a:latin typeface="Arial"/>
              </a:rPr>
              <a:t> m³ </a:t>
            </a:r>
            <a:r>
              <a:rPr sz="605" b="0" i="0" dirty="0" err="1">
                <a:solidFill>
                  <a:srgbClr val="2B2B2E"/>
                </a:solidFill>
                <a:latin typeface="Arial"/>
              </a:rPr>
              <a:t>cát</a:t>
            </a:r>
            <a:r>
              <a:rPr sz="605" b="0" i="0" dirty="0">
                <a:solidFill>
                  <a:srgbClr val="2B2B2E"/>
                </a:solidFill>
                <a:latin typeface="Arial"/>
              </a:rPr>
              <a:t> </a:t>
            </a:r>
            <a:r>
              <a:rPr sz="605" b="0" i="0" dirty="0" err="1">
                <a:solidFill>
                  <a:srgbClr val="2B2B2E"/>
                </a:solidFill>
                <a:latin typeface="Arial"/>
              </a:rPr>
              <a:t>xây</a:t>
            </a:r>
            <a:r>
              <a:rPr sz="605" b="0" i="0" dirty="0">
                <a:solidFill>
                  <a:srgbClr val="2B2B2E"/>
                </a:solidFill>
                <a:latin typeface="Arial"/>
              </a:rPr>
              <a:t> </a:t>
            </a:r>
            <a:r>
              <a:rPr sz="605" b="0" i="0" dirty="0" err="1">
                <a:solidFill>
                  <a:srgbClr val="2B2B2E"/>
                </a:solidFill>
                <a:latin typeface="Arial"/>
              </a:rPr>
              <a:t>dựng</a:t>
            </a:r>
            <a:r>
              <a:rPr sz="605" b="0" i="0" dirty="0">
                <a:solidFill>
                  <a:srgbClr val="2B2B2E"/>
                </a:solidFill>
                <a:latin typeface="Arial"/>
              </a:rPr>
              <a:t>, 30 </a:t>
            </a:r>
            <a:r>
              <a:rPr sz="605" b="0" i="0" dirty="0" err="1">
                <a:solidFill>
                  <a:srgbClr val="2B2B2E"/>
                </a:solidFill>
                <a:latin typeface="Arial"/>
              </a:rPr>
              <a:t>triệu</a:t>
            </a:r>
            <a:r>
              <a:rPr sz="605" b="0" i="0" dirty="0">
                <a:solidFill>
                  <a:srgbClr val="2B2B2E"/>
                </a:solidFill>
                <a:latin typeface="Arial"/>
              </a:rPr>
              <a:t> m³ </a:t>
            </a:r>
            <a:r>
              <a:rPr sz="605" b="0" i="0" dirty="0" err="1">
                <a:solidFill>
                  <a:srgbClr val="2B2B2E"/>
                </a:solidFill>
                <a:latin typeface="Arial"/>
              </a:rPr>
              <a:t>cát</a:t>
            </a:r>
            <a:r>
              <a:rPr sz="605" b="0" i="0" dirty="0">
                <a:solidFill>
                  <a:srgbClr val="2B2B2E"/>
                </a:solidFill>
                <a:latin typeface="Arial"/>
              </a:rPr>
              <a:t> san </a:t>
            </a:r>
            <a:r>
              <a:rPr sz="605" b="0" i="0" dirty="0" err="1">
                <a:solidFill>
                  <a:srgbClr val="2B2B2E"/>
                </a:solidFill>
                <a:latin typeface="Arial"/>
              </a:rPr>
              <a:t>lấp</a:t>
            </a:r>
            <a:r>
              <a:rPr sz="605" b="0" i="0" dirty="0">
                <a:solidFill>
                  <a:srgbClr val="2B2B2E"/>
                </a:solidFill>
                <a:latin typeface="Arial"/>
              </a:rPr>
              <a:t>; </a:t>
            </a:r>
            <a:r>
              <a:rPr sz="605" b="0" i="0" dirty="0" err="1">
                <a:solidFill>
                  <a:srgbClr val="2B2B2E"/>
                </a:solidFill>
                <a:latin typeface="Arial"/>
              </a:rPr>
              <a:t>nhu</a:t>
            </a:r>
            <a:r>
              <a:rPr sz="605" b="0" i="0" dirty="0">
                <a:solidFill>
                  <a:srgbClr val="2B2B2E"/>
                </a:solidFill>
                <a:latin typeface="Arial"/>
              </a:rPr>
              <a:t> </a:t>
            </a:r>
            <a:r>
              <a:rPr sz="605" b="0" i="0" dirty="0" err="1">
                <a:solidFill>
                  <a:srgbClr val="2B2B2E"/>
                </a:solidFill>
                <a:latin typeface="Arial"/>
              </a:rPr>
              <a:t>cầu</a:t>
            </a:r>
            <a:r>
              <a:rPr sz="605" b="0" i="0" dirty="0">
                <a:solidFill>
                  <a:srgbClr val="2B2B2E"/>
                </a:solidFill>
                <a:latin typeface="Arial"/>
              </a:rPr>
              <a:t> 2027</a:t>
            </a:r>
            <a:r>
              <a:rPr lang="en-US" sz="605" b="0" i="0" dirty="0">
                <a:solidFill>
                  <a:srgbClr val="2B2B2E"/>
                </a:solidFill>
                <a:latin typeface="Arial"/>
              </a:rPr>
              <a:t>-</a:t>
            </a:r>
            <a:r>
              <a:rPr sz="605" b="0" i="0" dirty="0">
                <a:solidFill>
                  <a:srgbClr val="2B2B2E"/>
                </a:solidFill>
                <a:latin typeface="Arial"/>
              </a:rPr>
              <a:t>30: 36 </a:t>
            </a:r>
            <a:r>
              <a:rPr sz="605" b="0" i="0" dirty="0" err="1">
                <a:solidFill>
                  <a:srgbClr val="2B2B2E"/>
                </a:solidFill>
                <a:latin typeface="Arial"/>
              </a:rPr>
              <a:t>triệu</a:t>
            </a:r>
            <a:r>
              <a:rPr sz="605" b="0" i="0" dirty="0">
                <a:solidFill>
                  <a:srgbClr val="2B2B2E"/>
                </a:solidFill>
                <a:latin typeface="Arial"/>
              </a:rPr>
              <a:t> m³ </a:t>
            </a:r>
            <a:r>
              <a:rPr sz="605" b="0" i="0" dirty="0" err="1">
                <a:solidFill>
                  <a:srgbClr val="2B2B2E"/>
                </a:solidFill>
                <a:latin typeface="Arial"/>
              </a:rPr>
              <a:t>đá</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&gt;278 </a:t>
            </a:r>
            <a:r>
              <a:rPr sz="605" b="0" i="0" dirty="0" err="1">
                <a:solidFill>
                  <a:srgbClr val="2B2B2E"/>
                </a:solidFill>
                <a:latin typeface="Arial"/>
              </a:rPr>
              <a:t>triệu</a:t>
            </a:r>
            <a:r>
              <a:rPr sz="605" b="0" i="0" dirty="0">
                <a:solidFill>
                  <a:srgbClr val="2B2B2E"/>
                </a:solidFill>
                <a:latin typeface="Arial"/>
              </a:rPr>
              <a:t> m³ </a:t>
            </a:r>
            <a:r>
              <a:rPr sz="605" b="0" i="0" dirty="0" err="1">
                <a:solidFill>
                  <a:srgbClr val="2B2B2E"/>
                </a:solidFill>
                <a:latin typeface="Arial"/>
              </a:rPr>
              <a:t>cát</a:t>
            </a:r>
            <a:r>
              <a:rPr sz="605" b="0" i="0" dirty="0">
                <a:solidFill>
                  <a:srgbClr val="2B2B2E"/>
                </a:solidFill>
                <a:latin typeface="Arial"/>
              </a:rPr>
              <a:t> san </a:t>
            </a:r>
            <a:r>
              <a:rPr sz="605" b="0" i="0" dirty="0" err="1">
                <a:solidFill>
                  <a:srgbClr val="2B2B2E"/>
                </a:solidFill>
                <a:latin typeface="Arial"/>
              </a:rPr>
              <a:t>lấp</a:t>
            </a:r>
            <a:r>
              <a:rPr sz="605" b="0" i="0" dirty="0">
                <a:solidFill>
                  <a:srgbClr val="2B2B2E"/>
                </a:solidFill>
                <a:latin typeface="Arial"/>
              </a:rPr>
              <a:t>. </a:t>
            </a:r>
            <a:r>
              <a:rPr sz="605" b="1" i="0" dirty="0" err="1">
                <a:solidFill>
                  <a:srgbClr val="3A3A3E"/>
                </a:solidFill>
                <a:latin typeface="Arial"/>
              </a:rPr>
              <a:t>Rủi</a:t>
            </a:r>
            <a:r>
              <a:rPr sz="605" b="1" i="0" dirty="0">
                <a:solidFill>
                  <a:srgbClr val="3A3A3E"/>
                </a:solidFill>
                <a:latin typeface="Arial"/>
              </a:rPr>
              <a:t> </a:t>
            </a:r>
            <a:r>
              <a:rPr sz="605" b="1" i="0" dirty="0" err="1">
                <a:solidFill>
                  <a:srgbClr val="3A3A3E"/>
                </a:solidFill>
                <a:latin typeface="Arial"/>
              </a:rPr>
              <a:t>ro</a:t>
            </a:r>
            <a:r>
              <a:rPr sz="605" b="1" i="0" dirty="0">
                <a:solidFill>
                  <a:srgbClr val="3A3A3E"/>
                </a:solidFill>
                <a:latin typeface="Arial"/>
              </a:rPr>
              <a:t> </a:t>
            </a:r>
            <a:r>
              <a:rPr sz="605" b="1" i="0" dirty="0" err="1">
                <a:solidFill>
                  <a:srgbClr val="3A3A3E"/>
                </a:solidFill>
                <a:latin typeface="Arial"/>
              </a:rPr>
              <a:t>biên</a:t>
            </a:r>
            <a:r>
              <a:rPr sz="605" b="1" i="0" dirty="0">
                <a:solidFill>
                  <a:srgbClr val="3A3A3E"/>
                </a:solidFill>
                <a:latin typeface="Arial"/>
              </a:rPr>
              <a:t> </a:t>
            </a:r>
            <a:r>
              <a:rPr sz="605" b="1" i="0" dirty="0" err="1">
                <a:solidFill>
                  <a:srgbClr val="3A3A3E"/>
                </a:solidFill>
                <a:latin typeface="Arial"/>
              </a:rPr>
              <a:t>của</a:t>
            </a:r>
            <a:r>
              <a:rPr sz="605" b="1" i="0" dirty="0">
                <a:solidFill>
                  <a:srgbClr val="3A3A3E"/>
                </a:solidFill>
                <a:latin typeface="Arial"/>
              </a:rPr>
              <a:t> </a:t>
            </a:r>
            <a:r>
              <a:rPr sz="605" b="1" i="0" dirty="0" err="1">
                <a:solidFill>
                  <a:srgbClr val="3A3A3E"/>
                </a:solidFill>
                <a:latin typeface="Arial"/>
              </a:rPr>
              <a:t>nhà</a:t>
            </a:r>
            <a:r>
              <a:rPr sz="605" b="1" i="0" dirty="0">
                <a:solidFill>
                  <a:srgbClr val="3A3A3E"/>
                </a:solidFill>
                <a:latin typeface="Arial"/>
              </a:rPr>
              <a:t> </a:t>
            </a:r>
            <a:r>
              <a:rPr sz="605" b="1" i="0" dirty="0" err="1">
                <a:solidFill>
                  <a:srgbClr val="3A3A3E"/>
                </a:solidFill>
                <a:latin typeface="Arial"/>
              </a:rPr>
              <a:t>thầu</a:t>
            </a:r>
            <a:r>
              <a:rPr sz="605" b="1" i="0" dirty="0">
                <a:solidFill>
                  <a:srgbClr val="3A3A3E"/>
                </a:solidFill>
                <a:latin typeface="Arial"/>
              </a:rPr>
              <a:t>:</a:t>
            </a:r>
            <a:r>
              <a:rPr sz="605" b="0" i="0" dirty="0">
                <a:solidFill>
                  <a:srgbClr val="2B2B2E"/>
                </a:solidFill>
                <a:latin typeface="Arial"/>
              </a:rPr>
              <a:t> </a:t>
            </a:r>
            <a:r>
              <a:rPr sz="605" b="0" i="0" dirty="0" err="1">
                <a:solidFill>
                  <a:srgbClr val="2B2B2E"/>
                </a:solidFill>
                <a:latin typeface="Arial"/>
              </a:rPr>
              <a:t>hợp</a:t>
            </a:r>
            <a:r>
              <a:rPr sz="605" b="0" i="0" dirty="0">
                <a:solidFill>
                  <a:srgbClr val="2B2B2E"/>
                </a:solidFill>
                <a:latin typeface="Arial"/>
              </a:rPr>
              <a:t> </a:t>
            </a:r>
            <a:r>
              <a:rPr sz="605" b="0" i="0" dirty="0" err="1">
                <a:solidFill>
                  <a:srgbClr val="2B2B2E"/>
                </a:solidFill>
                <a:latin typeface="Arial"/>
              </a:rPr>
              <a:t>đồng</a:t>
            </a:r>
            <a:r>
              <a:rPr sz="605" b="0" i="0" dirty="0">
                <a:solidFill>
                  <a:srgbClr val="2B2B2E"/>
                </a:solidFill>
                <a:latin typeface="Arial"/>
              </a:rPr>
              <a:t> </a:t>
            </a:r>
            <a:r>
              <a:rPr sz="605" b="0" i="0" dirty="0" err="1">
                <a:solidFill>
                  <a:srgbClr val="2B2B2E"/>
                </a:solidFill>
                <a:latin typeface="Arial"/>
              </a:rPr>
              <a:t>giá</a:t>
            </a:r>
            <a:r>
              <a:rPr sz="605" b="0" i="0" dirty="0">
                <a:solidFill>
                  <a:srgbClr val="2B2B2E"/>
                </a:solidFill>
                <a:latin typeface="Arial"/>
              </a:rPr>
              <a:t> </a:t>
            </a:r>
            <a:r>
              <a:rPr sz="605" b="0" i="0" dirty="0" err="1">
                <a:solidFill>
                  <a:srgbClr val="2B2B2E"/>
                </a:solidFill>
                <a:latin typeface="Arial"/>
              </a:rPr>
              <a:t>cố</a:t>
            </a:r>
            <a:r>
              <a:rPr sz="605" b="0" i="0" dirty="0">
                <a:solidFill>
                  <a:srgbClr val="2B2B2E"/>
                </a:solidFill>
                <a:latin typeface="Arial"/>
              </a:rPr>
              <a:t> </a:t>
            </a:r>
            <a:r>
              <a:rPr sz="605" b="0" i="0" dirty="0" err="1">
                <a:solidFill>
                  <a:srgbClr val="2B2B2E"/>
                </a:solidFill>
                <a:latin typeface="Arial"/>
              </a:rPr>
              <a:t>định</a:t>
            </a:r>
            <a:r>
              <a:rPr sz="605" b="0" i="0" dirty="0">
                <a:solidFill>
                  <a:srgbClr val="2B2B2E"/>
                </a:solidFill>
                <a:latin typeface="Arial"/>
              </a:rPr>
              <a:t> 6</a:t>
            </a:r>
            <a:r>
              <a:rPr lang="en-US" sz="605" b="0" i="0" dirty="0">
                <a:solidFill>
                  <a:srgbClr val="2B2B2E"/>
                </a:solidFill>
                <a:latin typeface="Arial"/>
              </a:rPr>
              <a:t>-</a:t>
            </a:r>
            <a:r>
              <a:rPr sz="605" b="0" i="0" dirty="0">
                <a:solidFill>
                  <a:srgbClr val="2B2B2E"/>
                </a:solidFill>
                <a:latin typeface="Arial"/>
              </a:rPr>
              <a:t>12 </a:t>
            </a:r>
            <a:r>
              <a:rPr sz="605" b="0" i="0" dirty="0" err="1">
                <a:solidFill>
                  <a:srgbClr val="2B2B2E"/>
                </a:solidFill>
                <a:latin typeface="Arial"/>
              </a:rPr>
              <a:t>tháng</a:t>
            </a:r>
            <a:r>
              <a:rPr sz="605" b="0" i="0" dirty="0">
                <a:solidFill>
                  <a:srgbClr val="2B2B2E"/>
                </a:solidFill>
                <a:latin typeface="Arial"/>
              </a:rPr>
              <a:t> </a:t>
            </a:r>
            <a:r>
              <a:rPr sz="605" b="0" i="0" dirty="0" err="1">
                <a:solidFill>
                  <a:srgbClr val="2B2B2E"/>
                </a:solidFill>
                <a:latin typeface="Arial"/>
              </a:rPr>
              <a:t>làm</a:t>
            </a:r>
            <a:r>
              <a:rPr sz="605" b="0" i="0" dirty="0">
                <a:solidFill>
                  <a:srgbClr val="2B2B2E"/>
                </a:solidFill>
                <a:latin typeface="Arial"/>
              </a:rPr>
              <a:t> chi </a:t>
            </a:r>
            <a:r>
              <a:rPr sz="605" b="0" i="0" dirty="0" err="1">
                <a:solidFill>
                  <a:srgbClr val="2B2B2E"/>
                </a:solidFill>
                <a:latin typeface="Arial"/>
              </a:rPr>
              <a:t>phí</a:t>
            </a:r>
            <a:r>
              <a:rPr sz="605" b="0" i="0" dirty="0">
                <a:solidFill>
                  <a:srgbClr val="2B2B2E"/>
                </a:solidFill>
                <a:latin typeface="Arial"/>
              </a:rPr>
              <a:t> </a:t>
            </a:r>
            <a:r>
              <a:rPr sz="605" b="0" i="0" dirty="0" err="1">
                <a:solidFill>
                  <a:srgbClr val="2B2B2E"/>
                </a:solidFill>
                <a:latin typeface="Arial"/>
              </a:rPr>
              <a:t>phản</a:t>
            </a:r>
            <a:r>
              <a:rPr sz="605" b="0" i="0" dirty="0">
                <a:solidFill>
                  <a:srgbClr val="2B2B2E"/>
                </a:solidFill>
                <a:latin typeface="Arial"/>
              </a:rPr>
              <a:t> </a:t>
            </a:r>
            <a:r>
              <a:rPr sz="605" b="0" i="0" dirty="0" err="1">
                <a:solidFill>
                  <a:srgbClr val="2B2B2E"/>
                </a:solidFill>
                <a:latin typeface="Arial"/>
              </a:rPr>
              <a:t>ánh</a:t>
            </a:r>
            <a:r>
              <a:rPr sz="605" b="0" i="0" dirty="0">
                <a:solidFill>
                  <a:srgbClr val="2B2B2E"/>
                </a:solidFill>
                <a:latin typeface="Arial"/>
              </a:rPr>
              <a:t> </a:t>
            </a:r>
            <a:r>
              <a:rPr sz="605" b="0" i="0" dirty="0" err="1">
                <a:solidFill>
                  <a:srgbClr val="2B2B2E"/>
                </a:solidFill>
                <a:latin typeface="Arial"/>
              </a:rPr>
              <a:t>chậm</a:t>
            </a:r>
            <a:r>
              <a:rPr sz="605" b="0" i="0" dirty="0">
                <a:solidFill>
                  <a:srgbClr val="2B2B2E"/>
                </a:solidFill>
                <a:latin typeface="Arial"/>
              </a:rPr>
              <a:t>, </a:t>
            </a:r>
            <a:r>
              <a:rPr sz="605" b="0" i="0" dirty="0" err="1">
                <a:solidFill>
                  <a:srgbClr val="2B2B2E"/>
                </a:solidFill>
                <a:latin typeface="Arial"/>
              </a:rPr>
              <a:t>lộ</a:t>
            </a:r>
            <a:r>
              <a:rPr sz="605" b="0" i="0" dirty="0">
                <a:solidFill>
                  <a:srgbClr val="2B2B2E"/>
                </a:solidFill>
                <a:latin typeface="Arial"/>
              </a:rPr>
              <a:t> ra </a:t>
            </a:r>
            <a:r>
              <a:rPr sz="605" b="0" i="0" dirty="0" err="1">
                <a:solidFill>
                  <a:srgbClr val="2B2B2E"/>
                </a:solidFill>
                <a:latin typeface="Arial"/>
              </a:rPr>
              <a:t>khi</a:t>
            </a:r>
            <a:r>
              <a:rPr sz="605" b="0" i="0" dirty="0">
                <a:solidFill>
                  <a:srgbClr val="2B2B2E"/>
                </a:solidFill>
                <a:latin typeface="Arial"/>
              </a:rPr>
              <a:t> </a:t>
            </a:r>
            <a:r>
              <a:rPr sz="605" b="0" i="0" dirty="0" err="1">
                <a:solidFill>
                  <a:srgbClr val="2B2B2E"/>
                </a:solidFill>
                <a:latin typeface="Arial"/>
              </a:rPr>
              <a:t>hợp</a:t>
            </a:r>
            <a:r>
              <a:rPr sz="605" b="0" i="0" dirty="0">
                <a:solidFill>
                  <a:srgbClr val="2B2B2E"/>
                </a:solidFill>
                <a:latin typeface="Arial"/>
              </a:rPr>
              <a:t> </a:t>
            </a:r>
            <a:r>
              <a:rPr sz="605" b="0" i="0" dirty="0" err="1">
                <a:solidFill>
                  <a:srgbClr val="2B2B2E"/>
                </a:solidFill>
                <a:latin typeface="Arial"/>
              </a:rPr>
              <a:t>đồng</a:t>
            </a:r>
            <a:r>
              <a:rPr sz="605" b="0" i="0" dirty="0">
                <a:solidFill>
                  <a:srgbClr val="2B2B2E"/>
                </a:solidFill>
                <a:latin typeface="Arial"/>
              </a:rPr>
              <a:t> </a:t>
            </a:r>
            <a:r>
              <a:rPr sz="605" b="0" i="0" dirty="0" err="1">
                <a:solidFill>
                  <a:srgbClr val="2B2B2E"/>
                </a:solidFill>
                <a:latin typeface="Arial"/>
              </a:rPr>
              <a:t>cũ</a:t>
            </a:r>
            <a:r>
              <a:rPr sz="605" b="0" i="0" dirty="0">
                <a:solidFill>
                  <a:srgbClr val="2B2B2E"/>
                </a:solidFill>
                <a:latin typeface="Arial"/>
              </a:rPr>
              <a:t> </a:t>
            </a:r>
            <a:r>
              <a:rPr sz="605" b="0" i="0" dirty="0" err="1">
                <a:solidFill>
                  <a:srgbClr val="2B2B2E"/>
                </a:solidFill>
                <a:latin typeface="Arial"/>
              </a:rPr>
              <a:t>hết</a:t>
            </a:r>
            <a:r>
              <a:rPr sz="605" b="0" i="0" dirty="0">
                <a:solidFill>
                  <a:srgbClr val="2B2B2E"/>
                </a:solidFill>
                <a:latin typeface="Arial"/>
              </a:rPr>
              <a:t> </a:t>
            </a:r>
            <a:r>
              <a:rPr sz="605" b="0" i="0" dirty="0" err="1">
                <a:solidFill>
                  <a:srgbClr val="2B2B2E"/>
                </a:solidFill>
                <a:latin typeface="Arial"/>
              </a:rPr>
              <a:t>hạn</a:t>
            </a:r>
            <a:r>
              <a:rPr sz="605" b="0" i="0" dirty="0">
                <a:solidFill>
                  <a:srgbClr val="2B2B2E"/>
                </a:solidFill>
                <a:latin typeface="Arial"/>
              </a:rPr>
              <a:t> </a:t>
            </a:r>
            <a:r>
              <a:rPr sz="605" b="0" i="0" dirty="0" err="1">
                <a:solidFill>
                  <a:srgbClr val="2B2B2E"/>
                </a:solidFill>
                <a:latin typeface="Arial"/>
              </a:rPr>
              <a:t>trong</a:t>
            </a:r>
            <a:r>
              <a:rPr sz="605" b="0" i="0" dirty="0">
                <a:solidFill>
                  <a:srgbClr val="2B2B2E"/>
                </a:solidFill>
                <a:latin typeface="Arial"/>
              </a:rPr>
              <a:t> 2027.</a:t>
            </a:r>
          </a:p>
        </p:txBody>
      </p:sp>
      <p:pic>
        <p:nvPicPr>
          <p:cNvPr id="47" name="Picture 46" descr="p0_0.png"/>
          <p:cNvPicPr>
            <a:picLocks noChangeAspect="1"/>
          </p:cNvPicPr>
          <p:nvPr/>
        </p:nvPicPr>
        <p:blipFill>
          <a:blip r:embed="rId2"/>
          <a:stretch>
            <a:fillRect/>
          </a:stretch>
        </p:blipFill>
        <p:spPr>
          <a:xfrm>
            <a:off x="236250" y="1475086"/>
            <a:ext cx="2090812" cy="885938"/>
          </a:xfrm>
          <a:prstGeom prst="rect">
            <a:avLst/>
          </a:prstGeom>
        </p:spPr>
      </p:pic>
      <p:pic>
        <p:nvPicPr>
          <p:cNvPr id="48" name="Picture 47" descr="p0_1.png"/>
          <p:cNvPicPr>
            <a:picLocks noChangeAspect="1"/>
          </p:cNvPicPr>
          <p:nvPr/>
        </p:nvPicPr>
        <p:blipFill>
          <a:blip r:embed="rId3"/>
          <a:stretch>
            <a:fillRect/>
          </a:stretch>
        </p:blipFill>
        <p:spPr>
          <a:xfrm>
            <a:off x="236250" y="2611301"/>
            <a:ext cx="2090812" cy="590625"/>
          </a:xfrm>
          <a:prstGeom prst="rect">
            <a:avLst/>
          </a:prstGeom>
        </p:spPr>
      </p:pic>
      <p:pic>
        <p:nvPicPr>
          <p:cNvPr id="49" name="Picture 48" descr="p0_2.png"/>
          <p:cNvPicPr>
            <a:picLocks noChangeAspect="1"/>
          </p:cNvPicPr>
          <p:nvPr/>
        </p:nvPicPr>
        <p:blipFill>
          <a:blip r:embed="rId4"/>
          <a:stretch>
            <a:fillRect/>
          </a:stretch>
        </p:blipFill>
        <p:spPr>
          <a:xfrm>
            <a:off x="236250" y="3629391"/>
            <a:ext cx="2090812" cy="874125"/>
          </a:xfrm>
          <a:prstGeom prst="rect">
            <a:avLst/>
          </a:prstGeom>
        </p:spPr>
      </p:pic>
      <p:pic>
        <p:nvPicPr>
          <p:cNvPr id="50" name="Picture 49" descr="p0_3.png"/>
          <p:cNvPicPr>
            <a:picLocks noChangeAspect="1"/>
          </p:cNvPicPr>
          <p:nvPr/>
        </p:nvPicPr>
        <p:blipFill>
          <a:blip r:embed="rId5"/>
          <a:stretch>
            <a:fillRect/>
          </a:stretch>
        </p:blipFill>
        <p:spPr>
          <a:xfrm>
            <a:off x="236250" y="4897758"/>
            <a:ext cx="2090812" cy="614250"/>
          </a:xfrm>
          <a:prstGeom prst="rect">
            <a:avLst/>
          </a:prstGeom>
        </p:spPr>
      </p:pic>
      <p:pic>
        <p:nvPicPr>
          <p:cNvPr id="51" name="Picture 50" descr="p0_4.png"/>
          <p:cNvPicPr>
            <a:picLocks noChangeAspect="1"/>
          </p:cNvPicPr>
          <p:nvPr/>
        </p:nvPicPr>
        <p:blipFill>
          <a:blip r:embed="rId6"/>
          <a:stretch>
            <a:fillRect/>
          </a:stretch>
        </p:blipFill>
        <p:spPr>
          <a:xfrm>
            <a:off x="236250" y="5762285"/>
            <a:ext cx="7087500" cy="1051312"/>
          </a:xfrm>
          <a:prstGeom prst="rect">
            <a:avLst/>
          </a:prstGeom>
        </p:spPr>
      </p:pic>
      <p:pic>
        <p:nvPicPr>
          <p:cNvPr id="52" name="Picture 51" descr="p0_5.png"/>
          <p:cNvPicPr>
            <a:picLocks noChangeAspect="1"/>
          </p:cNvPicPr>
          <p:nvPr/>
        </p:nvPicPr>
        <p:blipFill>
          <a:blip r:embed="rId7"/>
          <a:stretch>
            <a:fillRect/>
          </a:stretch>
        </p:blipFill>
        <p:spPr>
          <a:xfrm>
            <a:off x="236250" y="8159023"/>
            <a:ext cx="2090812" cy="696938"/>
          </a:xfrm>
          <a:prstGeom prst="rect">
            <a:avLst/>
          </a:prstGeom>
        </p:spPr>
      </p:pic>
      <p:pic>
        <p:nvPicPr>
          <p:cNvPr id="53" name="Picture 52" descr="p0_6.png"/>
          <p:cNvPicPr>
            <a:picLocks noChangeAspect="1"/>
          </p:cNvPicPr>
          <p:nvPr/>
        </p:nvPicPr>
        <p:blipFill>
          <a:blip r:embed="rId8"/>
          <a:stretch>
            <a:fillRect/>
          </a:stretch>
        </p:blipFill>
        <p:spPr>
          <a:xfrm>
            <a:off x="2457000" y="8159023"/>
            <a:ext cx="2090812" cy="637875"/>
          </a:xfrm>
          <a:prstGeom prst="rect">
            <a:avLst/>
          </a:prstGeom>
        </p:spPr>
      </p:pic>
      <p:pic>
        <p:nvPicPr>
          <p:cNvPr id="54" name="Picture 53" descr="p0_7.png"/>
          <p:cNvPicPr>
            <a:picLocks noChangeAspect="1"/>
          </p:cNvPicPr>
          <p:nvPr/>
        </p:nvPicPr>
        <p:blipFill>
          <a:blip r:embed="rId9"/>
          <a:stretch>
            <a:fillRect/>
          </a:stretch>
        </p:blipFill>
        <p:spPr>
          <a:xfrm>
            <a:off x="4677750" y="8159023"/>
            <a:ext cx="2090812" cy="637875"/>
          </a:xfrm>
          <a:prstGeom prst="rect">
            <a:avLst/>
          </a:prstGeom>
        </p:spPr>
      </p:pic>
      <p:graphicFrame>
        <p:nvGraphicFramePr>
          <p:cNvPr id="55" name="Table 54"/>
          <p:cNvGraphicFramePr>
            <a:graphicFrameLocks noGrp="1"/>
          </p:cNvGraphicFramePr>
          <p:nvPr/>
        </p:nvGraphicFramePr>
        <p:xfrm>
          <a:off x="236250" y="6925078"/>
          <a:ext cx="7087500" cy="803527"/>
        </p:xfrm>
        <a:graphic>
          <a:graphicData uri="http://schemas.openxmlformats.org/drawingml/2006/table">
            <a:tbl>
              <a:tblPr>
                <a:tableStyleId>{2D5ABB26-0587-4C30-8999-92F81FD0307C}</a:tableStyleId>
              </a:tblPr>
              <a:tblGrid>
                <a:gridCol w="1204875">
                  <a:extLst>
                    <a:ext uri="{9D8B030D-6E8A-4147-A177-3AD203B41FA5}">
                      <a16:colId xmlns:a16="http://schemas.microsoft.com/office/drawing/2014/main" val="20000"/>
                    </a:ext>
                  </a:extLst>
                </a:gridCol>
                <a:gridCol w="2409750">
                  <a:extLst>
                    <a:ext uri="{9D8B030D-6E8A-4147-A177-3AD203B41FA5}">
                      <a16:colId xmlns:a16="http://schemas.microsoft.com/office/drawing/2014/main" val="20001"/>
                    </a:ext>
                  </a:extLst>
                </a:gridCol>
                <a:gridCol w="1488375">
                  <a:extLst>
                    <a:ext uri="{9D8B030D-6E8A-4147-A177-3AD203B41FA5}">
                      <a16:colId xmlns:a16="http://schemas.microsoft.com/office/drawing/2014/main" val="20002"/>
                    </a:ext>
                  </a:extLst>
                </a:gridCol>
                <a:gridCol w="1984500">
                  <a:extLst>
                    <a:ext uri="{9D8B030D-6E8A-4147-A177-3AD203B41FA5}">
                      <a16:colId xmlns:a16="http://schemas.microsoft.com/office/drawing/2014/main" val="20003"/>
                    </a:ext>
                  </a:extLst>
                </a:gridCol>
              </a:tblGrid>
              <a:tr h="100406">
                <a:tc>
                  <a:txBody>
                    <a:bodyPr/>
                    <a:lstStyle/>
                    <a:p>
                      <a:pPr algn="l">
                        <a:lnSpc>
                          <a:spcPts val="623"/>
                        </a:lnSpc>
                        <a:spcBef>
                          <a:spcPts val="0"/>
                        </a:spcBef>
                        <a:spcAft>
                          <a:spcPts val="0"/>
                        </a:spcAft>
                      </a:pPr>
                      <a:r>
                        <a:rPr sz="465" b="1" i="0" dirty="0" err="1">
                          <a:solidFill>
                            <a:srgbClr val="FFFFFF"/>
                          </a:solidFill>
                          <a:latin typeface="Arial"/>
                        </a:rPr>
                        <a:t>Cụm</a:t>
                      </a:r>
                      <a:r>
                        <a:rPr sz="465" b="1" i="0" dirty="0">
                          <a:solidFill>
                            <a:srgbClr val="FFFFFF"/>
                          </a:solidFill>
                          <a:latin typeface="Arial"/>
                        </a:rPr>
                        <a:t> </a:t>
                      </a:r>
                      <a:r>
                        <a:rPr sz="465" b="1" i="0" dirty="0" err="1">
                          <a:solidFill>
                            <a:srgbClr val="FFFFFF"/>
                          </a:solidFill>
                          <a:latin typeface="Arial"/>
                        </a:rPr>
                        <a:t>dự</a:t>
                      </a:r>
                      <a:r>
                        <a:rPr sz="465" b="1" i="0" dirty="0">
                          <a:solidFill>
                            <a:srgbClr val="FFFFFF"/>
                          </a:solidFill>
                          <a:latin typeface="Arial"/>
                        </a:rPr>
                        <a:t> </a:t>
                      </a:r>
                      <a:r>
                        <a:rPr sz="465" b="1" i="0" dirty="0" err="1">
                          <a:solidFill>
                            <a:srgbClr val="FFFFFF"/>
                          </a:solidFill>
                          <a:latin typeface="Arial"/>
                        </a:rPr>
                        <a:t>án</a:t>
                      </a:r>
                      <a:endParaRPr lang="vi-VN" sz="600" dirty="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dirty="0" err="1">
                          <a:solidFill>
                            <a:srgbClr val="FFFFFF"/>
                          </a:solidFill>
                          <a:latin typeface="Arial"/>
                        </a:rPr>
                        <a:t>Dự</a:t>
                      </a:r>
                      <a:r>
                        <a:rPr sz="465" b="1" i="0" dirty="0">
                          <a:solidFill>
                            <a:srgbClr val="FFFFFF"/>
                          </a:solidFill>
                          <a:latin typeface="Arial"/>
                        </a:rPr>
                        <a:t> </a:t>
                      </a:r>
                      <a:r>
                        <a:rPr sz="465" b="1" i="0" dirty="0" err="1">
                          <a:solidFill>
                            <a:srgbClr val="FFFFFF"/>
                          </a:solidFill>
                          <a:latin typeface="Arial"/>
                        </a:rPr>
                        <a:t>án</a:t>
                      </a:r>
                      <a:r>
                        <a:rPr sz="465" b="1" i="0" dirty="0">
                          <a:solidFill>
                            <a:srgbClr val="FFFFFF"/>
                          </a:solidFill>
                          <a:latin typeface="Arial"/>
                        </a:rPr>
                        <a:t> </a:t>
                      </a:r>
                      <a:r>
                        <a:rPr sz="465" b="1" i="0" dirty="0" err="1">
                          <a:solidFill>
                            <a:srgbClr val="FFFFFF"/>
                          </a:solidFill>
                          <a:latin typeface="Arial"/>
                        </a:rPr>
                        <a:t>trọng</a:t>
                      </a:r>
                      <a:r>
                        <a:rPr sz="465" b="1" i="0" dirty="0">
                          <a:solidFill>
                            <a:srgbClr val="FFFFFF"/>
                          </a:solidFill>
                          <a:latin typeface="Arial"/>
                        </a:rPr>
                        <a:t> </a:t>
                      </a:r>
                      <a:r>
                        <a:rPr sz="465" b="1" i="0" dirty="0" err="1">
                          <a:solidFill>
                            <a:srgbClr val="FFFFFF"/>
                          </a:solidFill>
                          <a:latin typeface="Arial"/>
                        </a:rPr>
                        <a:t>điểm</a:t>
                      </a:r>
                      <a:r>
                        <a:rPr sz="465" b="1" i="0" dirty="0">
                          <a:solidFill>
                            <a:srgbClr val="FFFFFF"/>
                          </a:solidFill>
                          <a:latin typeface="Arial"/>
                        </a:rPr>
                        <a:t> 2026</a:t>
                      </a:r>
                      <a:r>
                        <a:rPr lang="en-US" sz="465" b="1" i="0" dirty="0">
                          <a:solidFill>
                            <a:srgbClr val="FFFFFF"/>
                          </a:solidFill>
                          <a:latin typeface="Arial"/>
                        </a:rPr>
                        <a:t>-</a:t>
                      </a:r>
                      <a:r>
                        <a:rPr sz="465" b="1" i="0" dirty="0">
                          <a:solidFill>
                            <a:srgbClr val="FFFFFF"/>
                          </a:solidFill>
                          <a:latin typeface="Arial"/>
                        </a:rPr>
                        <a:t>2030</a:t>
                      </a:r>
                      <a:endParaRPr lang="vi-VN" sz="600" dirty="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Mốc tiến độ</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Cấu phần kỹ thuật phức tạp (vùng mục tiêu của CTD)</a:t>
                      </a:r>
                      <a:endParaRPr lang="vi-VN" sz="600"/>
                    </a:p>
                  </a:txBody>
                  <a:tcPr marL="35438" marR="35438" marT="11812" marB="11812">
                    <a:lnL w="0">
                      <a:noFill/>
                    </a:lnL>
                    <a:lnR w="0">
                      <a:noFill/>
                    </a:lnR>
                    <a:lnT w="0">
                      <a:noFill/>
                    </a:lnT>
                    <a:lnB w="9525">
                      <a:solidFill>
                        <a:srgbClr val="FFFFFF"/>
                      </a:solidFill>
                    </a:lnB>
                    <a:solidFill>
                      <a:srgbClr val="3A3A3E"/>
                    </a:solidFill>
                  </a:tcPr>
                </a:tc>
                <a:extLst>
                  <a:ext uri="{0D108BD9-81ED-4DB2-BD59-A6C34878D82A}">
                    <a16:rowId xmlns:a16="http://schemas.microsoft.com/office/drawing/2014/main" val="10000"/>
                  </a:ext>
                </a:extLst>
              </a:tr>
              <a:tr h="287837">
                <a:tc>
                  <a:txBody>
                    <a:bodyPr/>
                    <a:lstStyle/>
                    <a:p>
                      <a:pPr algn="l">
                        <a:lnSpc>
                          <a:spcPts val="623"/>
                        </a:lnSpc>
                        <a:spcBef>
                          <a:spcPts val="0"/>
                        </a:spcBef>
                        <a:spcAft>
                          <a:spcPts val="0"/>
                        </a:spcAft>
                      </a:pPr>
                      <a:r>
                        <a:rPr sz="512" b="1" i="0">
                          <a:solidFill>
                            <a:srgbClr val="2B2B2E"/>
                          </a:solidFill>
                          <a:latin typeface="Arial"/>
                        </a:rPr>
                        <a:t>1. Đường sắt đô thị và kết cấu ngầm</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dirty="0">
                          <a:solidFill>
                            <a:srgbClr val="2B2B2E"/>
                          </a:solidFill>
                          <a:latin typeface="Arial"/>
                        </a:rPr>
                        <a:t>Metro 2 TP.HCM (</a:t>
                      </a:r>
                      <a:r>
                        <a:rPr sz="512" b="0" i="0" dirty="0" err="1">
                          <a:solidFill>
                            <a:srgbClr val="2B2B2E"/>
                          </a:solidFill>
                          <a:latin typeface="Arial"/>
                        </a:rPr>
                        <a:t>Bến</a:t>
                      </a:r>
                      <a:r>
                        <a:rPr sz="512" b="0" i="0" dirty="0">
                          <a:solidFill>
                            <a:srgbClr val="2B2B2E"/>
                          </a:solidFill>
                          <a:latin typeface="Arial"/>
                        </a:rPr>
                        <a:t> </a:t>
                      </a:r>
                      <a:r>
                        <a:rPr sz="512" b="0" i="0" dirty="0" err="1">
                          <a:solidFill>
                            <a:srgbClr val="2B2B2E"/>
                          </a:solidFill>
                          <a:latin typeface="Arial"/>
                        </a:rPr>
                        <a:t>Thành</a:t>
                      </a:r>
                      <a:r>
                        <a:rPr sz="512" b="0" i="0" dirty="0">
                          <a:solidFill>
                            <a:srgbClr val="2B2B2E"/>
                          </a:solidFill>
                          <a:latin typeface="Arial"/>
                        </a:rPr>
                        <a:t> </a:t>
                      </a:r>
                      <a:r>
                        <a:rPr lang="en-US" sz="512" b="0" i="0" dirty="0">
                          <a:solidFill>
                            <a:srgbClr val="2B2B2E"/>
                          </a:solidFill>
                          <a:latin typeface="Arial"/>
                        </a:rPr>
                        <a:t>-</a:t>
                      </a:r>
                      <a:r>
                        <a:rPr sz="512" b="0" i="0" dirty="0">
                          <a:solidFill>
                            <a:srgbClr val="2B2B2E"/>
                          </a:solidFill>
                          <a:latin typeface="Arial"/>
                        </a:rPr>
                        <a:t> </a:t>
                      </a:r>
                      <a:r>
                        <a:rPr sz="512" b="0" i="0" dirty="0" err="1">
                          <a:solidFill>
                            <a:srgbClr val="2B2B2E"/>
                          </a:solidFill>
                          <a:latin typeface="Arial"/>
                        </a:rPr>
                        <a:t>Tham</a:t>
                      </a:r>
                      <a:r>
                        <a:rPr sz="512" b="0" i="0" dirty="0">
                          <a:solidFill>
                            <a:srgbClr val="2B2B2E"/>
                          </a:solidFill>
                          <a:latin typeface="Arial"/>
                        </a:rPr>
                        <a:t> </a:t>
                      </a:r>
                      <a:r>
                        <a:rPr sz="512" b="0" i="0" dirty="0" err="1">
                          <a:solidFill>
                            <a:srgbClr val="2B2B2E"/>
                          </a:solidFill>
                          <a:latin typeface="Arial"/>
                        </a:rPr>
                        <a:t>Lương</a:t>
                      </a:r>
                      <a:r>
                        <a:rPr sz="512" b="0" i="0" dirty="0">
                          <a:solidFill>
                            <a:srgbClr val="2B2B2E"/>
                          </a:solidFill>
                          <a:latin typeface="Arial"/>
                        </a:rPr>
                        <a:t>, 47,890 </a:t>
                      </a:r>
                      <a:r>
                        <a:rPr sz="512" b="0" i="0" dirty="0" err="1">
                          <a:solidFill>
                            <a:srgbClr val="2B2B2E"/>
                          </a:solidFill>
                          <a:latin typeface="Arial"/>
                        </a:rPr>
                        <a:t>tỷ</a:t>
                      </a:r>
                      <a:r>
                        <a:rPr sz="512" b="0" i="0" dirty="0">
                          <a:solidFill>
                            <a:srgbClr val="2B2B2E"/>
                          </a:solidFill>
                          <a:latin typeface="Arial"/>
                        </a:rPr>
                        <a:t>, 11 km </a:t>
                      </a:r>
                      <a:r>
                        <a:rPr sz="512" b="0" i="0" dirty="0" err="1">
                          <a:solidFill>
                            <a:srgbClr val="2B2B2E"/>
                          </a:solidFill>
                          <a:latin typeface="Arial"/>
                        </a:rPr>
                        <a:t>gồm</a:t>
                      </a:r>
                      <a:r>
                        <a:rPr sz="512" b="0" i="0" dirty="0">
                          <a:solidFill>
                            <a:srgbClr val="2B2B2E"/>
                          </a:solidFill>
                          <a:latin typeface="Arial"/>
                        </a:rPr>
                        <a:t> 9.2 km </a:t>
                      </a:r>
                      <a:r>
                        <a:rPr sz="512" b="0" i="0" dirty="0" err="1">
                          <a:solidFill>
                            <a:srgbClr val="2B2B2E"/>
                          </a:solidFill>
                          <a:latin typeface="Arial"/>
                        </a:rPr>
                        <a:t>ngầm</a:t>
                      </a:r>
                      <a:r>
                        <a:rPr sz="512" b="0" i="0" dirty="0">
                          <a:solidFill>
                            <a:srgbClr val="2B2B2E"/>
                          </a:solidFill>
                          <a:latin typeface="Arial"/>
                        </a:rPr>
                        <a:t>); Metro 3 </a:t>
                      </a:r>
                      <a:r>
                        <a:rPr sz="512" b="0" i="0" dirty="0" err="1">
                          <a:solidFill>
                            <a:srgbClr val="2B2B2E"/>
                          </a:solidFill>
                          <a:latin typeface="Arial"/>
                        </a:rPr>
                        <a:t>Hà</a:t>
                      </a:r>
                      <a:r>
                        <a:rPr sz="512" b="0" i="0" dirty="0">
                          <a:solidFill>
                            <a:srgbClr val="2B2B2E"/>
                          </a:solidFill>
                          <a:latin typeface="Arial"/>
                        </a:rPr>
                        <a:t> </a:t>
                      </a:r>
                      <a:r>
                        <a:rPr sz="512" b="0" i="0" dirty="0" err="1">
                          <a:solidFill>
                            <a:srgbClr val="2B2B2E"/>
                          </a:solidFill>
                          <a:latin typeface="Arial"/>
                        </a:rPr>
                        <a:t>Nội</a:t>
                      </a:r>
                      <a:r>
                        <a:rPr sz="512" b="0" i="0" dirty="0">
                          <a:solidFill>
                            <a:srgbClr val="2B2B2E"/>
                          </a:solidFill>
                          <a:latin typeface="Arial"/>
                        </a:rPr>
                        <a:t> (</a:t>
                      </a:r>
                      <a:r>
                        <a:rPr sz="512" b="0" i="0" dirty="0" err="1">
                          <a:solidFill>
                            <a:srgbClr val="2B2B2E"/>
                          </a:solidFill>
                          <a:latin typeface="Arial"/>
                        </a:rPr>
                        <a:t>đoạn</a:t>
                      </a:r>
                      <a:r>
                        <a:rPr sz="512" b="0" i="0" dirty="0">
                          <a:solidFill>
                            <a:srgbClr val="2B2B2E"/>
                          </a:solidFill>
                          <a:latin typeface="Arial"/>
                        </a:rPr>
                        <a:t> </a:t>
                      </a:r>
                      <a:r>
                        <a:rPr sz="512" b="0" i="0" dirty="0" err="1">
                          <a:solidFill>
                            <a:srgbClr val="2B2B2E"/>
                          </a:solidFill>
                          <a:latin typeface="Arial"/>
                        </a:rPr>
                        <a:t>ngầm</a:t>
                      </a:r>
                      <a:r>
                        <a:rPr sz="512" b="0" i="0" dirty="0">
                          <a:solidFill>
                            <a:srgbClr val="2B2B2E"/>
                          </a:solidFill>
                          <a:latin typeface="Arial"/>
                        </a:rPr>
                        <a:t> Ga </a:t>
                      </a:r>
                      <a:r>
                        <a:rPr sz="512" b="0" i="0" dirty="0" err="1">
                          <a:solidFill>
                            <a:srgbClr val="2B2B2E"/>
                          </a:solidFill>
                          <a:latin typeface="Arial"/>
                        </a:rPr>
                        <a:t>Hà</a:t>
                      </a:r>
                      <a:r>
                        <a:rPr sz="512" b="0" i="0" dirty="0">
                          <a:solidFill>
                            <a:srgbClr val="2B2B2E"/>
                          </a:solidFill>
                          <a:latin typeface="Arial"/>
                        </a:rPr>
                        <a:t> </a:t>
                      </a:r>
                      <a:r>
                        <a:rPr sz="512" b="0" i="0" dirty="0" err="1">
                          <a:solidFill>
                            <a:srgbClr val="2B2B2E"/>
                          </a:solidFill>
                          <a:latin typeface="Arial"/>
                        </a:rPr>
                        <a:t>Nội</a:t>
                      </a:r>
                      <a:r>
                        <a:rPr sz="512" b="0" i="0" dirty="0">
                          <a:solidFill>
                            <a:srgbClr val="2B2B2E"/>
                          </a:solidFill>
                          <a:latin typeface="Arial"/>
                        </a:rPr>
                        <a:t> </a:t>
                      </a:r>
                      <a:r>
                        <a:rPr lang="en-US" sz="512" b="0" i="0" dirty="0">
                          <a:solidFill>
                            <a:srgbClr val="2B2B2E"/>
                          </a:solidFill>
                          <a:latin typeface="Arial"/>
                        </a:rPr>
                        <a:t>-</a:t>
                      </a:r>
                      <a:r>
                        <a:rPr sz="512" b="0" i="0" dirty="0">
                          <a:solidFill>
                            <a:srgbClr val="2B2B2E"/>
                          </a:solidFill>
                          <a:latin typeface="Arial"/>
                        </a:rPr>
                        <a:t> </a:t>
                      </a:r>
                      <a:r>
                        <a:rPr sz="512" b="0" i="0" dirty="0" err="1">
                          <a:solidFill>
                            <a:srgbClr val="2B2B2E"/>
                          </a:solidFill>
                          <a:latin typeface="Arial"/>
                        </a:rPr>
                        <a:t>Hoàng</a:t>
                      </a:r>
                      <a:r>
                        <a:rPr sz="512" b="0" i="0" dirty="0">
                          <a:solidFill>
                            <a:srgbClr val="2B2B2E"/>
                          </a:solidFill>
                          <a:latin typeface="Arial"/>
                        </a:rPr>
                        <a:t> Mai); Metro </a:t>
                      </a:r>
                      <a:r>
                        <a:rPr sz="512" b="0" i="0" dirty="0" err="1">
                          <a:solidFill>
                            <a:srgbClr val="2B2B2E"/>
                          </a:solidFill>
                          <a:latin typeface="Arial"/>
                        </a:rPr>
                        <a:t>Bến</a:t>
                      </a:r>
                      <a:r>
                        <a:rPr sz="512" b="0" i="0" dirty="0">
                          <a:solidFill>
                            <a:srgbClr val="2B2B2E"/>
                          </a:solidFill>
                          <a:latin typeface="Arial"/>
                        </a:rPr>
                        <a:t> </a:t>
                      </a:r>
                      <a:r>
                        <a:rPr sz="512" b="0" i="0" dirty="0" err="1">
                          <a:solidFill>
                            <a:srgbClr val="2B2B2E"/>
                          </a:solidFill>
                          <a:latin typeface="Arial"/>
                        </a:rPr>
                        <a:t>Thành</a:t>
                      </a:r>
                      <a:r>
                        <a:rPr sz="512" b="0" i="0" dirty="0">
                          <a:solidFill>
                            <a:srgbClr val="2B2B2E"/>
                          </a:solidFill>
                          <a:latin typeface="Arial"/>
                        </a:rPr>
                        <a:t> </a:t>
                      </a:r>
                      <a:r>
                        <a:rPr lang="en-US" sz="512" b="0" i="0" dirty="0">
                          <a:solidFill>
                            <a:srgbClr val="2B2B2E"/>
                          </a:solidFill>
                          <a:latin typeface="Arial"/>
                        </a:rPr>
                        <a:t>-</a:t>
                      </a:r>
                      <a:r>
                        <a:rPr sz="512" b="0" i="0" dirty="0">
                          <a:solidFill>
                            <a:srgbClr val="2B2B2E"/>
                          </a:solidFill>
                          <a:latin typeface="Arial"/>
                        </a:rPr>
                        <a:t> </a:t>
                      </a:r>
                      <a:r>
                        <a:rPr sz="512" b="0" i="0" dirty="0" err="1">
                          <a:solidFill>
                            <a:srgbClr val="2B2B2E"/>
                          </a:solidFill>
                          <a:latin typeface="Arial"/>
                        </a:rPr>
                        <a:t>Thủ</a:t>
                      </a:r>
                      <a:r>
                        <a:rPr sz="512" b="0" i="0" dirty="0">
                          <a:solidFill>
                            <a:srgbClr val="2B2B2E"/>
                          </a:solidFill>
                          <a:latin typeface="Arial"/>
                        </a:rPr>
                        <a:t> </a:t>
                      </a:r>
                      <a:r>
                        <a:rPr sz="512" b="0" i="0" dirty="0" err="1">
                          <a:solidFill>
                            <a:srgbClr val="2B2B2E"/>
                          </a:solidFill>
                          <a:latin typeface="Arial"/>
                        </a:rPr>
                        <a:t>Thiêm</a:t>
                      </a:r>
                      <a:endParaRPr lang="vi-VN" sz="600" dirty="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dirty="0" err="1">
                          <a:solidFill>
                            <a:srgbClr val="2B2B2E"/>
                          </a:solidFill>
                          <a:latin typeface="Arial"/>
                        </a:rPr>
                        <a:t>Khởi</a:t>
                      </a:r>
                      <a:r>
                        <a:rPr sz="512" b="0" i="0" dirty="0">
                          <a:solidFill>
                            <a:srgbClr val="2B2B2E"/>
                          </a:solidFill>
                          <a:latin typeface="Arial"/>
                        </a:rPr>
                        <a:t> </a:t>
                      </a:r>
                      <a:r>
                        <a:rPr sz="512" b="0" i="0" dirty="0" err="1">
                          <a:solidFill>
                            <a:srgbClr val="2B2B2E"/>
                          </a:solidFill>
                          <a:latin typeface="Arial"/>
                        </a:rPr>
                        <a:t>công</a:t>
                      </a:r>
                      <a:r>
                        <a:rPr sz="512" b="0" i="0" dirty="0">
                          <a:solidFill>
                            <a:srgbClr val="2B2B2E"/>
                          </a:solidFill>
                          <a:latin typeface="Arial"/>
                        </a:rPr>
                        <a:t> 1/2026, 5</a:t>
                      </a:r>
                      <a:r>
                        <a:rPr lang="en-US" sz="512" b="0" i="0" dirty="0">
                          <a:solidFill>
                            <a:srgbClr val="2B2B2E"/>
                          </a:solidFill>
                          <a:latin typeface="Arial"/>
                        </a:rPr>
                        <a:t>-</a:t>
                      </a:r>
                      <a:r>
                        <a:rPr sz="512" b="0" i="0" dirty="0">
                          <a:solidFill>
                            <a:srgbClr val="2B2B2E"/>
                          </a:solidFill>
                          <a:latin typeface="Arial"/>
                        </a:rPr>
                        <a:t>7 </a:t>
                      </a:r>
                      <a:r>
                        <a:rPr sz="512" b="0" i="0" dirty="0" err="1">
                          <a:solidFill>
                            <a:srgbClr val="2B2B2E"/>
                          </a:solidFill>
                          <a:latin typeface="Arial"/>
                        </a:rPr>
                        <a:t>năm</a:t>
                      </a:r>
                      <a:r>
                        <a:rPr sz="512" b="0" i="0" dirty="0">
                          <a:solidFill>
                            <a:srgbClr val="2B2B2E"/>
                          </a:solidFill>
                          <a:latin typeface="Arial"/>
                        </a:rPr>
                        <a:t>; Metro 3 </a:t>
                      </a:r>
                      <a:r>
                        <a:rPr sz="512" b="0" i="0" dirty="0" err="1">
                          <a:solidFill>
                            <a:srgbClr val="2B2B2E"/>
                          </a:solidFill>
                          <a:latin typeface="Arial"/>
                        </a:rPr>
                        <a:t>đang</a:t>
                      </a:r>
                      <a:r>
                        <a:rPr sz="512" b="0" i="0" dirty="0">
                          <a:solidFill>
                            <a:srgbClr val="2B2B2E"/>
                          </a:solidFill>
                          <a:latin typeface="Arial"/>
                        </a:rPr>
                        <a:t> </a:t>
                      </a:r>
                      <a:r>
                        <a:rPr sz="512" b="0" i="0" dirty="0" err="1">
                          <a:solidFill>
                            <a:srgbClr val="2B2B2E"/>
                          </a:solidFill>
                          <a:latin typeface="Arial"/>
                        </a:rPr>
                        <a:t>đào</a:t>
                      </a:r>
                      <a:r>
                        <a:rPr sz="512" b="0" i="0" dirty="0">
                          <a:solidFill>
                            <a:srgbClr val="2B2B2E"/>
                          </a:solidFill>
                          <a:latin typeface="Arial"/>
                        </a:rPr>
                        <a:t> TBM (1/2026)</a:t>
                      </a:r>
                      <a:endParaRPr lang="vi-VN" sz="600" dirty="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Tường vây sâu (diaphragm wall), cọc barrette tải lớn, nhà ga ngầm, xử lý địa chất sâu, chống lún đô thị</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extLst>
                  <a:ext uri="{0D108BD9-81ED-4DB2-BD59-A6C34878D82A}">
                    <a16:rowId xmlns:a16="http://schemas.microsoft.com/office/drawing/2014/main" val="10001"/>
                  </a:ext>
                </a:extLst>
              </a:tr>
              <a:tr h="207642">
                <a:tc>
                  <a:txBody>
                    <a:bodyPr/>
                    <a:lstStyle/>
                    <a:p>
                      <a:pPr algn="l">
                        <a:lnSpc>
                          <a:spcPts val="623"/>
                        </a:lnSpc>
                        <a:spcBef>
                          <a:spcPts val="0"/>
                        </a:spcBef>
                        <a:spcAft>
                          <a:spcPts val="0"/>
                        </a:spcAft>
                      </a:pPr>
                      <a:r>
                        <a:rPr sz="512" b="1" i="0">
                          <a:solidFill>
                            <a:srgbClr val="2B2B2E"/>
                          </a:solidFill>
                          <a:latin typeface="Arial"/>
                        </a:rPr>
                        <a:t>2. Hàng không và ga trung chuyển</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Long Thành (~16 tỷ USD) và các gói hoàn thiện; Gia Bình (196,378 tỷ, GĐ1 141,000 tỷ); mở rộng Nội Bài T2, Tân Sơn Nhất T3</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Long Thành khai thác kỹ thuật cuối 2026; Gia Bình vận hành đầu 2027</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Nhà để xe nhiều tầng (&gt;200,000 m² sàn), nhà ga hàng hoá, nhà ga hành khách kết cấu thép khẩu độ lớn, MEP phức tạp</a:t>
                      </a:r>
                      <a:endParaRPr lang="vi-VN" sz="600"/>
                    </a:p>
                  </a:txBody>
                  <a:tcPr marL="35438" marR="35438" marT="11812" marB="11812">
                    <a:lnT w="9525" cap="flat" cmpd="sng" algn="ctr">
                      <a:solidFill>
                        <a:srgbClr val="E3E0E0"/>
                      </a:solidFill>
                      <a:prstDash val="solid"/>
                      <a:round/>
                      <a:headEnd type="none" w="med" len="med"/>
                      <a:tailEnd type="none" w="med" len="med"/>
                    </a:lnT>
                    <a:noFill/>
                  </a:tcPr>
                </a:tc>
                <a:extLst>
                  <a:ext uri="{0D108BD9-81ED-4DB2-BD59-A6C34878D82A}">
                    <a16:rowId xmlns:a16="http://schemas.microsoft.com/office/drawing/2014/main" val="10002"/>
                  </a:ext>
                </a:extLst>
              </a:tr>
              <a:tr h="207642">
                <a:tc>
                  <a:txBody>
                    <a:bodyPr/>
                    <a:lstStyle/>
                    <a:p>
                      <a:pPr algn="l">
                        <a:lnSpc>
                          <a:spcPts val="623"/>
                        </a:lnSpc>
                        <a:spcBef>
                          <a:spcPts val="0"/>
                        </a:spcBef>
                        <a:spcAft>
                          <a:spcPts val="0"/>
                        </a:spcAft>
                      </a:pPr>
                      <a:r>
                        <a:rPr sz="512" b="1" i="0">
                          <a:solidFill>
                            <a:srgbClr val="2B2B2E"/>
                          </a:solidFill>
                          <a:latin typeface="Arial"/>
                        </a:rPr>
                        <a:t>3. Siêu công trình và hạ tầng đặc thù</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dirty="0" err="1">
                          <a:solidFill>
                            <a:srgbClr val="2B2B2E"/>
                          </a:solidFill>
                          <a:latin typeface="Arial"/>
                        </a:rPr>
                        <a:t>Hạ</a:t>
                      </a:r>
                      <a:r>
                        <a:rPr sz="512" b="0" i="0" dirty="0">
                          <a:solidFill>
                            <a:srgbClr val="2B2B2E"/>
                          </a:solidFill>
                          <a:latin typeface="Arial"/>
                        </a:rPr>
                        <a:t> </a:t>
                      </a:r>
                      <a:r>
                        <a:rPr sz="512" b="0" i="0" dirty="0" err="1">
                          <a:solidFill>
                            <a:srgbClr val="2B2B2E"/>
                          </a:solidFill>
                          <a:latin typeface="Arial"/>
                        </a:rPr>
                        <a:t>tầng</a:t>
                      </a:r>
                      <a:r>
                        <a:rPr sz="512" b="0" i="0" dirty="0">
                          <a:solidFill>
                            <a:srgbClr val="2B2B2E"/>
                          </a:solidFill>
                          <a:latin typeface="Arial"/>
                        </a:rPr>
                        <a:t> APEC 2027; </a:t>
                      </a:r>
                      <a:r>
                        <a:rPr sz="512" b="0" i="0" dirty="0" err="1">
                          <a:solidFill>
                            <a:srgbClr val="2B2B2E"/>
                          </a:solidFill>
                          <a:latin typeface="Arial"/>
                        </a:rPr>
                        <a:t>cảng</a:t>
                      </a:r>
                      <a:r>
                        <a:rPr sz="512" b="0" i="0" dirty="0">
                          <a:solidFill>
                            <a:srgbClr val="2B2B2E"/>
                          </a:solidFill>
                          <a:latin typeface="Arial"/>
                        </a:rPr>
                        <a:t> </a:t>
                      </a:r>
                      <a:r>
                        <a:rPr sz="512" b="0" i="0" dirty="0" err="1">
                          <a:solidFill>
                            <a:srgbClr val="2B2B2E"/>
                          </a:solidFill>
                          <a:latin typeface="Arial"/>
                        </a:rPr>
                        <a:t>trung</a:t>
                      </a:r>
                      <a:r>
                        <a:rPr sz="512" b="0" i="0" dirty="0">
                          <a:solidFill>
                            <a:srgbClr val="2B2B2E"/>
                          </a:solidFill>
                          <a:latin typeface="Arial"/>
                        </a:rPr>
                        <a:t> </a:t>
                      </a:r>
                      <a:r>
                        <a:rPr sz="512" b="0" i="0" dirty="0" err="1">
                          <a:solidFill>
                            <a:srgbClr val="2B2B2E"/>
                          </a:solidFill>
                          <a:latin typeface="Arial"/>
                        </a:rPr>
                        <a:t>chuyển</a:t>
                      </a:r>
                      <a:r>
                        <a:rPr sz="512" b="0" i="0" dirty="0">
                          <a:solidFill>
                            <a:srgbClr val="2B2B2E"/>
                          </a:solidFill>
                          <a:latin typeface="Arial"/>
                        </a:rPr>
                        <a:t> </a:t>
                      </a:r>
                      <a:r>
                        <a:rPr sz="512" b="0" i="0" dirty="0" err="1">
                          <a:solidFill>
                            <a:srgbClr val="2B2B2E"/>
                          </a:solidFill>
                          <a:latin typeface="Arial"/>
                        </a:rPr>
                        <a:t>Cần</a:t>
                      </a:r>
                      <a:r>
                        <a:rPr sz="512" b="0" i="0" dirty="0">
                          <a:solidFill>
                            <a:srgbClr val="2B2B2E"/>
                          </a:solidFill>
                          <a:latin typeface="Arial"/>
                        </a:rPr>
                        <a:t> </a:t>
                      </a:r>
                      <a:r>
                        <a:rPr sz="512" b="0" i="0" dirty="0" err="1">
                          <a:solidFill>
                            <a:srgbClr val="2B2B2E"/>
                          </a:solidFill>
                          <a:latin typeface="Arial"/>
                        </a:rPr>
                        <a:t>Giờ</a:t>
                      </a:r>
                      <a:r>
                        <a:rPr sz="512" b="0" i="0" dirty="0">
                          <a:solidFill>
                            <a:srgbClr val="2B2B2E"/>
                          </a:solidFill>
                          <a:latin typeface="Arial"/>
                        </a:rPr>
                        <a:t> (4.96 </a:t>
                      </a:r>
                      <a:r>
                        <a:rPr sz="512" b="0" i="0" dirty="0" err="1">
                          <a:solidFill>
                            <a:srgbClr val="2B2B2E"/>
                          </a:solidFill>
                          <a:latin typeface="Arial"/>
                        </a:rPr>
                        <a:t>tỷ</a:t>
                      </a:r>
                      <a:r>
                        <a:rPr sz="512" b="0" i="0" dirty="0">
                          <a:solidFill>
                            <a:srgbClr val="2B2B2E"/>
                          </a:solidFill>
                          <a:latin typeface="Arial"/>
                        </a:rPr>
                        <a:t> USD); </a:t>
                      </a:r>
                      <a:r>
                        <a:rPr sz="512" b="0" i="0" dirty="0" err="1">
                          <a:solidFill>
                            <a:srgbClr val="2B2B2E"/>
                          </a:solidFill>
                          <a:latin typeface="Arial"/>
                        </a:rPr>
                        <a:t>đường</a:t>
                      </a:r>
                      <a:r>
                        <a:rPr sz="512" b="0" i="0" dirty="0">
                          <a:solidFill>
                            <a:srgbClr val="2B2B2E"/>
                          </a:solidFill>
                          <a:latin typeface="Arial"/>
                        </a:rPr>
                        <a:t> </a:t>
                      </a:r>
                      <a:r>
                        <a:rPr sz="512" b="0" i="0" dirty="0" err="1">
                          <a:solidFill>
                            <a:srgbClr val="2B2B2E"/>
                          </a:solidFill>
                          <a:latin typeface="Arial"/>
                        </a:rPr>
                        <a:t>sắt</a:t>
                      </a:r>
                      <a:r>
                        <a:rPr sz="512" b="0" i="0" dirty="0">
                          <a:solidFill>
                            <a:srgbClr val="2B2B2E"/>
                          </a:solidFill>
                          <a:latin typeface="Arial"/>
                        </a:rPr>
                        <a:t> </a:t>
                      </a:r>
                      <a:r>
                        <a:rPr sz="512" b="0" i="0" dirty="0" err="1">
                          <a:solidFill>
                            <a:srgbClr val="2B2B2E"/>
                          </a:solidFill>
                          <a:latin typeface="Arial"/>
                        </a:rPr>
                        <a:t>tốc</a:t>
                      </a:r>
                      <a:r>
                        <a:rPr sz="512" b="0" i="0" dirty="0">
                          <a:solidFill>
                            <a:srgbClr val="2B2B2E"/>
                          </a:solidFill>
                          <a:latin typeface="Arial"/>
                        </a:rPr>
                        <a:t> </a:t>
                      </a:r>
                      <a:r>
                        <a:rPr sz="512" b="0" i="0" dirty="0" err="1">
                          <a:solidFill>
                            <a:srgbClr val="2B2B2E"/>
                          </a:solidFill>
                          <a:latin typeface="Arial"/>
                        </a:rPr>
                        <a:t>độ</a:t>
                      </a:r>
                      <a:r>
                        <a:rPr sz="512" b="0" i="0" dirty="0">
                          <a:solidFill>
                            <a:srgbClr val="2B2B2E"/>
                          </a:solidFill>
                          <a:latin typeface="Arial"/>
                        </a:rPr>
                        <a:t> </a:t>
                      </a:r>
                      <a:r>
                        <a:rPr sz="512" b="0" i="0" dirty="0" err="1">
                          <a:solidFill>
                            <a:srgbClr val="2B2B2E"/>
                          </a:solidFill>
                          <a:latin typeface="Arial"/>
                        </a:rPr>
                        <a:t>cao</a:t>
                      </a:r>
                      <a:r>
                        <a:rPr sz="512" b="0" i="0" dirty="0">
                          <a:solidFill>
                            <a:srgbClr val="2B2B2E"/>
                          </a:solidFill>
                          <a:latin typeface="Arial"/>
                        </a:rPr>
                        <a:t> </a:t>
                      </a:r>
                      <a:r>
                        <a:rPr sz="512" b="0" i="0" dirty="0" err="1">
                          <a:solidFill>
                            <a:srgbClr val="2B2B2E"/>
                          </a:solidFill>
                          <a:latin typeface="Arial"/>
                        </a:rPr>
                        <a:t>Bắc</a:t>
                      </a:r>
                      <a:r>
                        <a:rPr lang="en-US" sz="512" b="0" i="0" dirty="0">
                          <a:solidFill>
                            <a:srgbClr val="2B2B2E"/>
                          </a:solidFill>
                          <a:latin typeface="Arial"/>
                        </a:rPr>
                        <a:t>-</a:t>
                      </a:r>
                      <a:r>
                        <a:rPr sz="512" b="0" i="0" dirty="0">
                          <a:solidFill>
                            <a:srgbClr val="2B2B2E"/>
                          </a:solidFill>
                          <a:latin typeface="Arial"/>
                        </a:rPr>
                        <a:t>Nam (67.3 </a:t>
                      </a:r>
                      <a:r>
                        <a:rPr sz="512" b="0" i="0" dirty="0" err="1">
                          <a:solidFill>
                            <a:srgbClr val="2B2B2E"/>
                          </a:solidFill>
                          <a:latin typeface="Arial"/>
                        </a:rPr>
                        <a:t>tỷ</a:t>
                      </a:r>
                      <a:r>
                        <a:rPr sz="512" b="0" i="0" dirty="0">
                          <a:solidFill>
                            <a:srgbClr val="2B2B2E"/>
                          </a:solidFill>
                          <a:latin typeface="Arial"/>
                        </a:rPr>
                        <a:t> USD)</a:t>
                      </a:r>
                      <a:endParaRPr lang="vi-VN" sz="600" dirty="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dirty="0">
                          <a:solidFill>
                            <a:srgbClr val="2B2B2E"/>
                          </a:solidFill>
                          <a:latin typeface="Arial"/>
                        </a:rPr>
                        <a:t>APEC 2027 </a:t>
                      </a:r>
                      <a:r>
                        <a:rPr sz="512" b="0" i="0" dirty="0" err="1">
                          <a:solidFill>
                            <a:srgbClr val="2B2B2E"/>
                          </a:solidFill>
                          <a:latin typeface="Arial"/>
                        </a:rPr>
                        <a:t>giai</a:t>
                      </a:r>
                      <a:r>
                        <a:rPr sz="512" b="0" i="0" dirty="0">
                          <a:solidFill>
                            <a:srgbClr val="2B2B2E"/>
                          </a:solidFill>
                          <a:latin typeface="Arial"/>
                        </a:rPr>
                        <a:t> </a:t>
                      </a:r>
                      <a:r>
                        <a:rPr sz="512" b="0" i="0" dirty="0" err="1">
                          <a:solidFill>
                            <a:srgbClr val="2B2B2E"/>
                          </a:solidFill>
                          <a:latin typeface="Arial"/>
                        </a:rPr>
                        <a:t>đoạn</a:t>
                      </a:r>
                      <a:r>
                        <a:rPr sz="512" b="0" i="0" dirty="0">
                          <a:solidFill>
                            <a:srgbClr val="2B2B2E"/>
                          </a:solidFill>
                          <a:latin typeface="Arial"/>
                        </a:rPr>
                        <a:t> </a:t>
                      </a:r>
                      <a:r>
                        <a:rPr sz="512" b="0" i="0" dirty="0" err="1">
                          <a:solidFill>
                            <a:srgbClr val="2B2B2E"/>
                          </a:solidFill>
                          <a:latin typeface="Arial"/>
                        </a:rPr>
                        <a:t>nước</a:t>
                      </a:r>
                      <a:r>
                        <a:rPr sz="512" b="0" i="0" dirty="0">
                          <a:solidFill>
                            <a:srgbClr val="2B2B2E"/>
                          </a:solidFill>
                          <a:latin typeface="Arial"/>
                        </a:rPr>
                        <a:t> </a:t>
                      </a:r>
                      <a:r>
                        <a:rPr sz="512" b="0" i="0" dirty="0" err="1">
                          <a:solidFill>
                            <a:srgbClr val="2B2B2E"/>
                          </a:solidFill>
                          <a:latin typeface="Arial"/>
                        </a:rPr>
                        <a:t>rút</a:t>
                      </a:r>
                      <a:r>
                        <a:rPr sz="512" b="0" i="0" dirty="0">
                          <a:solidFill>
                            <a:srgbClr val="2B2B2E"/>
                          </a:solidFill>
                          <a:latin typeface="Arial"/>
                        </a:rPr>
                        <a:t> 2026</a:t>
                      </a:r>
                      <a:r>
                        <a:rPr lang="en-US" sz="512" b="0" i="0" dirty="0">
                          <a:solidFill>
                            <a:srgbClr val="2B2B2E"/>
                          </a:solidFill>
                          <a:latin typeface="Arial"/>
                        </a:rPr>
                        <a:t>-</a:t>
                      </a:r>
                      <a:r>
                        <a:rPr sz="512" b="0" i="0" dirty="0">
                          <a:solidFill>
                            <a:srgbClr val="2B2B2E"/>
                          </a:solidFill>
                          <a:latin typeface="Arial"/>
                        </a:rPr>
                        <a:t>27; </a:t>
                      </a:r>
                      <a:r>
                        <a:rPr sz="512" b="0" i="0" dirty="0" err="1">
                          <a:solidFill>
                            <a:srgbClr val="2B2B2E"/>
                          </a:solidFill>
                          <a:latin typeface="Arial"/>
                        </a:rPr>
                        <a:t>Cần</a:t>
                      </a:r>
                      <a:r>
                        <a:rPr sz="512" b="0" i="0" dirty="0">
                          <a:solidFill>
                            <a:srgbClr val="2B2B2E"/>
                          </a:solidFill>
                          <a:latin typeface="Arial"/>
                        </a:rPr>
                        <a:t> </a:t>
                      </a:r>
                      <a:r>
                        <a:rPr sz="512" b="0" i="0" dirty="0" err="1">
                          <a:solidFill>
                            <a:srgbClr val="2B2B2E"/>
                          </a:solidFill>
                          <a:latin typeface="Arial"/>
                        </a:rPr>
                        <a:t>Giờ</a:t>
                      </a:r>
                      <a:r>
                        <a:rPr sz="512" b="0" i="0" dirty="0">
                          <a:solidFill>
                            <a:srgbClr val="2B2B2E"/>
                          </a:solidFill>
                          <a:latin typeface="Arial"/>
                        </a:rPr>
                        <a:t> GĐ1 </a:t>
                      </a:r>
                      <a:r>
                        <a:rPr sz="512" b="0" i="0" dirty="0" err="1">
                          <a:solidFill>
                            <a:srgbClr val="2B2B2E"/>
                          </a:solidFill>
                          <a:latin typeface="Arial"/>
                        </a:rPr>
                        <a:t>trước</a:t>
                      </a:r>
                      <a:r>
                        <a:rPr sz="512" b="0" i="0" dirty="0">
                          <a:solidFill>
                            <a:srgbClr val="2B2B2E"/>
                          </a:solidFill>
                          <a:latin typeface="Arial"/>
                        </a:rPr>
                        <a:t> 2030; ĐSTĐC </a:t>
                      </a:r>
                      <a:r>
                        <a:rPr sz="512" b="0" i="0" dirty="0" err="1">
                          <a:solidFill>
                            <a:srgbClr val="2B2B2E"/>
                          </a:solidFill>
                          <a:latin typeface="Arial"/>
                        </a:rPr>
                        <a:t>từ</a:t>
                      </a:r>
                      <a:r>
                        <a:rPr sz="512" b="0" i="0" dirty="0">
                          <a:solidFill>
                            <a:srgbClr val="2B2B2E"/>
                          </a:solidFill>
                          <a:latin typeface="Arial"/>
                        </a:rPr>
                        <a:t> 12/2027</a:t>
                      </a:r>
                      <a:endParaRPr lang="vi-VN" sz="600" dirty="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Trung tâm hội nghị quốc tế, nền đất yếu ven biển, cọc khoan nhồi cảng nước sâu, ga trung tâm và depot kỹ thuật</a:t>
                      </a:r>
                      <a:endParaRPr lang="vi-VN" sz="600"/>
                    </a:p>
                  </a:txBody>
                  <a:tcPr marL="35438" marR="35438" marT="11812" marB="11812">
                    <a:lnL w="0">
                      <a:noFill/>
                    </a:lnL>
                    <a:lnR w="0">
                      <a:noFill/>
                    </a:lnR>
                    <a:lnB w="9525">
                      <a:solidFill>
                        <a:srgbClr val="E3E0E0"/>
                      </a:solidFill>
                    </a:lnB>
                    <a:solidFill>
                      <a:srgbClr val="F6F3F3"/>
                    </a:solidFill>
                  </a:tcPr>
                </a:tc>
                <a:extLst>
                  <a:ext uri="{0D108BD9-81ED-4DB2-BD59-A6C34878D82A}">
                    <a16:rowId xmlns:a16="http://schemas.microsoft.com/office/drawing/2014/main" val="10003"/>
                  </a:ext>
                </a:extLst>
              </a:tr>
            </a:tbl>
          </a:graphicData>
        </a:graphic>
      </p:graphicFrame>
      <p:sp>
        <p:nvSpPr>
          <p:cNvPr id="56" name="TextBox 55"/>
          <p:cNvSpPr txBox="1"/>
          <p:nvPr/>
        </p:nvSpPr>
        <p:spPr>
          <a:xfrm>
            <a:off x="230344" y="10554469"/>
            <a:ext cx="2608679" cy="70875"/>
          </a:xfrm>
          <a:prstGeom prst="rect">
            <a:avLst/>
          </a:prstGeom>
          <a:noFill/>
        </p:spPr>
        <p:txBody>
          <a:bodyPr wrap="square" lIns="0" tIns="0" rIns="0" bIns="0" anchor="t"/>
          <a:lstStyle/>
          <a:p>
            <a:pPr algn="l">
              <a:lnSpc>
                <a:spcPts val="494"/>
              </a:lnSpc>
              <a:spcBef>
                <a:spcPts val="0"/>
              </a:spcBef>
              <a:spcAft>
                <a:spcPts val="0"/>
              </a:spcAft>
            </a:pPr>
            <a:r>
              <a:rPr sz="419" b="0" i="0">
                <a:solidFill>
                  <a:srgbClr val="8C8C91"/>
                </a:solidFill>
                <a:latin typeface="Arial"/>
              </a:rPr>
              <a:t>Số liệu tính đến 1/10/2026. (F) = dự phóng của nhóm, không phải số công bố. Nguồn ghi dưới từng hình.</a:t>
            </a:r>
          </a:p>
        </p:txBody>
      </p:sp>
      <p:sp>
        <p:nvSpPr>
          <p:cNvPr id="57" name="TextBox 56"/>
          <p:cNvSpPr txBox="1"/>
          <p:nvPr/>
        </p:nvSpPr>
        <p:spPr>
          <a:xfrm>
            <a:off x="6253704" y="10554469"/>
            <a:ext cx="1146828" cy="70875"/>
          </a:xfrm>
          <a:prstGeom prst="rect">
            <a:avLst/>
          </a:prstGeom>
          <a:noFill/>
        </p:spPr>
        <p:txBody>
          <a:bodyPr wrap="square" lIns="0" tIns="0" rIns="0" bIns="0" anchor="t"/>
          <a:lstStyle/>
          <a:p>
            <a:pPr algn="l">
              <a:lnSpc>
                <a:spcPts val="494"/>
              </a:lnSpc>
              <a:spcBef>
                <a:spcPts val="0"/>
              </a:spcBef>
              <a:spcAft>
                <a:spcPts val="0"/>
              </a:spcAft>
            </a:pPr>
            <a:r>
              <a:rPr sz="419" b="0" i="0">
                <a:solidFill>
                  <a:srgbClr val="8C8C91"/>
                </a:solidFill>
                <a:latin typeface="Arial"/>
              </a:rPr>
              <a:t>Không phải khuyến nghị đầu tư cá nhân · 1/2</a:t>
            </a:r>
          </a:p>
        </p:txBody>
      </p:sp>
      <p:sp>
        <p:nvSpPr>
          <p:cNvPr id="58" name="Rectangle 57"/>
          <p:cNvSpPr/>
          <p:nvPr/>
        </p:nvSpPr>
        <p:spPr>
          <a:xfrm>
            <a:off x="236250" y="10530844"/>
            <a:ext cx="7087500" cy="5906"/>
          </a:xfrm>
          <a:prstGeom prst="rect">
            <a:avLst/>
          </a:prstGeom>
          <a:solidFill>
            <a:srgbClr val="E3E0E0"/>
          </a:solidFill>
          <a:ln>
            <a:noFill/>
          </a:ln>
          <a:effectLst/>
        </p:spPr>
        <p:txBody>
          <a:bodyPr rtlCol="0" anchor="ctr"/>
          <a:lstStyle/>
          <a:p>
            <a:pPr algn="ctr"/>
            <a:endParaRPr/>
          </a:p>
        </p:txBody>
      </p:sp>
      <p:sp>
        <p:nvSpPr>
          <p:cNvPr id="59" name="Rectangle 58">
            <a:extLst>
              <a:ext uri="{FF2B5EF4-FFF2-40B4-BE49-F238E27FC236}">
                <a16:creationId xmlns:a16="http://schemas.microsoft.com/office/drawing/2014/main" id="{AB9CB82B-0C8F-45CE-A6DE-48BE65A4BC8D}"/>
              </a:ext>
            </a:extLst>
          </p:cNvPr>
          <p:cNvSpPr/>
          <p:nvPr/>
        </p:nvSpPr>
        <p:spPr>
          <a:xfrm>
            <a:off x="1615440" y="1507571"/>
            <a:ext cx="675640" cy="150609"/>
          </a:xfrm>
          <a:prstGeom prst="rect">
            <a:avLst/>
          </a:prstGeom>
          <a:solidFill>
            <a:srgbClr val="FCFBFB"/>
          </a:solidFill>
          <a:ln>
            <a:solidFill>
              <a:srgbClr val="FCFB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B"/>
        </a:solidFill>
        <a:effectLst/>
      </p:bgPr>
    </p:bg>
    <p:spTree>
      <p:nvGrpSpPr>
        <p:cNvPr id="1" name=""/>
        <p:cNvGrpSpPr/>
        <p:nvPr/>
      </p:nvGrpSpPr>
      <p:grpSpPr>
        <a:xfrm>
          <a:off x="0" y="0"/>
          <a:ext cx="0" cy="0"/>
          <a:chOff x="0" y="0"/>
          <a:chExt cx="0" cy="0"/>
        </a:xfrm>
      </p:grpSpPr>
      <p:pic>
        <p:nvPicPr>
          <p:cNvPr id="58" name="Picture 57" descr="p0_4.png">
            <a:extLst>
              <a:ext uri="{FF2B5EF4-FFF2-40B4-BE49-F238E27FC236}">
                <a16:creationId xmlns:a16="http://schemas.microsoft.com/office/drawing/2014/main" id="{DAABB0E4-411B-40F8-9A32-E901BCBFFE26}"/>
              </a:ext>
            </a:extLst>
          </p:cNvPr>
          <p:cNvPicPr>
            <a:picLocks noChangeAspect="1"/>
          </p:cNvPicPr>
          <p:nvPr/>
        </p:nvPicPr>
        <p:blipFill>
          <a:blip r:embed="rId2"/>
          <a:stretch>
            <a:fillRect/>
          </a:stretch>
        </p:blipFill>
        <p:spPr>
          <a:xfrm>
            <a:off x="2206916" y="3580273"/>
            <a:ext cx="5265764" cy="781087"/>
          </a:xfrm>
          <a:prstGeom prst="rect">
            <a:avLst/>
          </a:prstGeom>
        </p:spPr>
      </p:pic>
      <p:sp>
        <p:nvSpPr>
          <p:cNvPr id="2" name="TextBox 1"/>
          <p:cNvSpPr txBox="1"/>
          <p:nvPr/>
        </p:nvSpPr>
        <p:spPr>
          <a:xfrm>
            <a:off x="230344" y="246955"/>
            <a:ext cx="5299532" cy="82688"/>
          </a:xfrm>
          <a:prstGeom prst="rect">
            <a:avLst/>
          </a:prstGeom>
          <a:noFill/>
        </p:spPr>
        <p:txBody>
          <a:bodyPr wrap="square" lIns="0" tIns="0" rIns="0" bIns="0" anchor="t"/>
          <a:lstStyle/>
          <a:p>
            <a:pPr algn="l">
              <a:lnSpc>
                <a:spcPts val="604"/>
              </a:lnSpc>
              <a:spcBef>
                <a:spcPts val="0"/>
              </a:spcBef>
              <a:spcAft>
                <a:spcPts val="0"/>
              </a:spcAft>
            </a:pPr>
            <a:r>
              <a:rPr sz="512" b="1" i="0" spc="139">
                <a:solidFill>
                  <a:srgbClr val="8A1C2B"/>
                </a:solidFill>
                <a:latin typeface="Arial"/>
              </a:rPr>
              <a:t>GO FINANCE 2026 · PITCHBOOK · TRANG 2/2</a:t>
            </a:r>
          </a:p>
        </p:txBody>
      </p:sp>
      <p:sp>
        <p:nvSpPr>
          <p:cNvPr id="3" name="TextBox 2"/>
          <p:cNvSpPr txBox="1"/>
          <p:nvPr/>
        </p:nvSpPr>
        <p:spPr>
          <a:xfrm>
            <a:off x="230344" y="341455"/>
            <a:ext cx="5299532" cy="187154"/>
          </a:xfrm>
          <a:prstGeom prst="rect">
            <a:avLst/>
          </a:prstGeom>
          <a:noFill/>
        </p:spPr>
        <p:txBody>
          <a:bodyPr wrap="square" lIns="0" tIns="0" rIns="0" bIns="0" anchor="t"/>
          <a:lstStyle/>
          <a:p>
            <a:pPr algn="l">
              <a:lnSpc>
                <a:spcPts val="1482"/>
              </a:lnSpc>
              <a:spcBef>
                <a:spcPts val="0"/>
              </a:spcBef>
              <a:spcAft>
                <a:spcPts val="0"/>
              </a:spcAft>
            </a:pPr>
            <a:r>
              <a:rPr sz="1256" b="1" i="0" spc="-13">
                <a:solidFill>
                  <a:srgbClr val="3A3A3E"/>
                </a:solidFill>
                <a:latin typeface="Arial"/>
              </a:rPr>
              <a:t>CTD: nhà thầu FDI và dự án phức tạp, backlog 2.04x, định giá 83,500</a:t>
            </a:r>
          </a:p>
        </p:txBody>
      </p:sp>
      <p:sp>
        <p:nvSpPr>
          <p:cNvPr id="4" name="TextBox 3"/>
          <p:cNvSpPr txBox="1"/>
          <p:nvPr/>
        </p:nvSpPr>
        <p:spPr>
          <a:xfrm>
            <a:off x="230344" y="540422"/>
            <a:ext cx="5299532" cy="100406"/>
          </a:xfrm>
          <a:prstGeom prst="rect">
            <a:avLst/>
          </a:prstGeom>
          <a:noFill/>
        </p:spPr>
        <p:txBody>
          <a:bodyPr wrap="square" lIns="0" tIns="0" rIns="0" bIns="0" anchor="t"/>
          <a:lstStyle/>
          <a:p>
            <a:pPr algn="l">
              <a:lnSpc>
                <a:spcPts val="713"/>
              </a:lnSpc>
              <a:spcBef>
                <a:spcPts val="0"/>
              </a:spcBef>
              <a:spcAft>
                <a:spcPts val="0"/>
              </a:spcAft>
            </a:pPr>
            <a:r>
              <a:rPr sz="605" b="0" i="0">
                <a:solidFill>
                  <a:srgbClr val="5E5E63"/>
                </a:solidFill>
                <a:latin typeface="Arial"/>
              </a:rPr>
              <a:t>Luận điểm, dự phóng, định giá và rủi ro</a:t>
            </a:r>
          </a:p>
        </p:txBody>
      </p:sp>
      <p:sp>
        <p:nvSpPr>
          <p:cNvPr id="5" name="Rectangle 4"/>
          <p:cNvSpPr/>
          <p:nvPr/>
        </p:nvSpPr>
        <p:spPr>
          <a:xfrm>
            <a:off x="5551875" y="129938"/>
            <a:ext cx="1771875" cy="504984"/>
          </a:xfrm>
          <a:prstGeom prst="rect">
            <a:avLst/>
          </a:prstGeom>
          <a:solidFill>
            <a:srgbClr val="3A3A3E"/>
          </a:solidFill>
          <a:ln>
            <a:noFill/>
          </a:ln>
          <a:effectLst/>
        </p:spPr>
        <p:txBody>
          <a:bodyPr rtlCol="0" anchor="ctr"/>
          <a:lstStyle/>
          <a:p>
            <a:pPr algn="ctr"/>
            <a:endParaRPr/>
          </a:p>
        </p:txBody>
      </p:sp>
      <p:sp>
        <p:nvSpPr>
          <p:cNvPr id="6" name="TextBox 5"/>
          <p:cNvSpPr txBox="1"/>
          <p:nvPr/>
        </p:nvSpPr>
        <p:spPr>
          <a:xfrm>
            <a:off x="5640469" y="177188"/>
            <a:ext cx="1594688" cy="410484"/>
          </a:xfrm>
          <a:prstGeom prst="rect">
            <a:avLst/>
          </a:prstGeom>
          <a:noFill/>
        </p:spPr>
        <p:txBody>
          <a:bodyPr wrap="square" lIns="0" tIns="0" rIns="0" bIns="0" anchor="t"/>
          <a:lstStyle/>
          <a:p>
            <a:pPr algn="l">
              <a:lnSpc>
                <a:spcPts val="836"/>
              </a:lnSpc>
              <a:spcBef>
                <a:spcPts val="0"/>
              </a:spcBef>
              <a:spcAft>
                <a:spcPts val="0"/>
              </a:spcAft>
            </a:pPr>
            <a:r>
              <a:rPr sz="488" b="0" i="0">
                <a:solidFill>
                  <a:srgbClr val="D6D6DA"/>
                </a:solidFill>
                <a:latin typeface="Arial"/>
              </a:rPr>
              <a:t>KHUYẾN NGHỊ</a:t>
            </a:r>
          </a:p>
          <a:p>
            <a:pPr algn="l">
              <a:lnSpc>
                <a:spcPts val="1317"/>
              </a:lnSpc>
              <a:spcBef>
                <a:spcPts val="0"/>
              </a:spcBef>
              <a:spcAft>
                <a:spcPts val="0"/>
              </a:spcAft>
            </a:pPr>
            <a:r>
              <a:rPr sz="1116" b="1" i="0" spc="46">
                <a:solidFill>
                  <a:srgbClr val="F3C3C9"/>
                </a:solidFill>
                <a:latin typeface="Arial"/>
              </a:rPr>
              <a:t>MUA</a:t>
            </a:r>
          </a:p>
          <a:p>
            <a:pPr algn="l">
              <a:lnSpc>
                <a:spcPts val="836"/>
              </a:lnSpc>
              <a:spcBef>
                <a:spcPts val="0"/>
              </a:spcBef>
              <a:spcAft>
                <a:spcPts val="0"/>
              </a:spcAft>
            </a:pPr>
            <a:r>
              <a:rPr sz="488" b="0" i="0">
                <a:solidFill>
                  <a:srgbClr val="D6D6DA"/>
                </a:solidFill>
                <a:latin typeface="Arial"/>
              </a:rPr>
              <a:t>CTD · giá 59,300 · mục tiêu 83,500 (+41%)</a:t>
            </a:r>
          </a:p>
        </p:txBody>
      </p:sp>
      <p:sp>
        <p:nvSpPr>
          <p:cNvPr id="7" name="Rectangle 6"/>
          <p:cNvSpPr/>
          <p:nvPr/>
        </p:nvSpPr>
        <p:spPr>
          <a:xfrm>
            <a:off x="236250" y="693984"/>
            <a:ext cx="7087500" cy="17719"/>
          </a:xfrm>
          <a:prstGeom prst="rect">
            <a:avLst/>
          </a:prstGeom>
          <a:solidFill>
            <a:srgbClr val="C8102E"/>
          </a:solidFill>
          <a:ln>
            <a:noFill/>
          </a:ln>
          <a:effectLst/>
        </p:spPr>
        <p:txBody>
          <a:bodyPr rtlCol="0" anchor="ctr"/>
          <a:lstStyle/>
          <a:p>
            <a:pPr algn="ctr"/>
            <a:endParaRPr/>
          </a:p>
        </p:txBody>
      </p:sp>
      <p:sp>
        <p:nvSpPr>
          <p:cNvPr id="8" name="TextBox 7"/>
          <p:cNvSpPr txBox="1"/>
          <p:nvPr/>
        </p:nvSpPr>
        <p:spPr>
          <a:xfrm>
            <a:off x="230344" y="758953"/>
            <a:ext cx="7170188" cy="131414"/>
          </a:xfrm>
          <a:prstGeom prst="rect">
            <a:avLst/>
          </a:prstGeom>
          <a:noFill/>
        </p:spPr>
        <p:txBody>
          <a:bodyPr wrap="square" lIns="0" tIns="0" rIns="0" bIns="0" anchor="t"/>
          <a:lstStyle/>
          <a:p>
            <a:pPr algn="l">
              <a:lnSpc>
                <a:spcPts val="942"/>
              </a:lnSpc>
              <a:spcBef>
                <a:spcPts val="0"/>
              </a:spcBef>
              <a:spcAft>
                <a:spcPts val="0"/>
              </a:spcAft>
            </a:pPr>
            <a:r>
              <a:rPr sz="628" b="1" i="0" dirty="0" err="1">
                <a:solidFill>
                  <a:srgbClr val="3A3A3E"/>
                </a:solidFill>
                <a:latin typeface="Arial"/>
              </a:rPr>
              <a:t>Giá</a:t>
            </a:r>
            <a:r>
              <a:rPr sz="628" b="0" i="0" dirty="0">
                <a:solidFill>
                  <a:srgbClr val="2B2B2E"/>
                </a:solidFill>
                <a:latin typeface="Arial"/>
              </a:rPr>
              <a:t> 59,300 · </a:t>
            </a:r>
            <a:r>
              <a:rPr sz="628" b="1" i="0" dirty="0" err="1">
                <a:solidFill>
                  <a:srgbClr val="3A3A3E"/>
                </a:solidFill>
                <a:latin typeface="Arial"/>
              </a:rPr>
              <a:t>Giá</a:t>
            </a:r>
            <a:r>
              <a:rPr sz="628" b="1" i="0" dirty="0">
                <a:solidFill>
                  <a:srgbClr val="3A3A3E"/>
                </a:solidFill>
                <a:latin typeface="Arial"/>
              </a:rPr>
              <a:t> </a:t>
            </a:r>
            <a:r>
              <a:rPr sz="628" b="1" i="0" dirty="0" err="1">
                <a:solidFill>
                  <a:srgbClr val="3A3A3E"/>
                </a:solidFill>
                <a:latin typeface="Arial"/>
              </a:rPr>
              <a:t>mục</a:t>
            </a:r>
            <a:r>
              <a:rPr sz="628" b="1" i="0" dirty="0">
                <a:solidFill>
                  <a:srgbClr val="3A3A3E"/>
                </a:solidFill>
                <a:latin typeface="Arial"/>
              </a:rPr>
              <a:t> </a:t>
            </a:r>
            <a:r>
              <a:rPr sz="628" b="1" i="0" dirty="0" err="1">
                <a:solidFill>
                  <a:srgbClr val="3A3A3E"/>
                </a:solidFill>
                <a:latin typeface="Arial"/>
              </a:rPr>
              <a:t>tiêu</a:t>
            </a:r>
            <a:r>
              <a:rPr sz="628" b="0" i="0" dirty="0">
                <a:solidFill>
                  <a:srgbClr val="2B2B2E"/>
                </a:solidFill>
                <a:latin typeface="Arial"/>
              </a:rPr>
              <a:t> </a:t>
            </a:r>
            <a:r>
              <a:rPr sz="628" b="1" i="0" dirty="0">
                <a:solidFill>
                  <a:srgbClr val="C8102E"/>
                </a:solidFill>
                <a:latin typeface="Arial"/>
              </a:rPr>
              <a:t>83,500 (+41%)</a:t>
            </a:r>
            <a:r>
              <a:rPr sz="628" b="0" i="0" dirty="0">
                <a:solidFill>
                  <a:srgbClr val="2B2B2E"/>
                </a:solidFill>
                <a:latin typeface="Arial"/>
              </a:rPr>
              <a:t> · </a:t>
            </a:r>
            <a:r>
              <a:rPr sz="628" b="1" i="0" dirty="0">
                <a:solidFill>
                  <a:srgbClr val="3A3A3E"/>
                </a:solidFill>
                <a:latin typeface="Arial"/>
              </a:rPr>
              <a:t>P/E FY27E</a:t>
            </a:r>
            <a:r>
              <a:rPr sz="628" b="0" i="0" dirty="0">
                <a:solidFill>
                  <a:srgbClr val="2B2B2E"/>
                </a:solidFill>
                <a:latin typeface="Arial"/>
              </a:rPr>
              <a:t> 7.4x · </a:t>
            </a:r>
            <a:r>
              <a:rPr sz="628" b="1" i="0" dirty="0">
                <a:solidFill>
                  <a:srgbClr val="3A3A3E"/>
                </a:solidFill>
                <a:latin typeface="Arial"/>
              </a:rPr>
              <a:t>P/B 6/2027E</a:t>
            </a:r>
            <a:r>
              <a:rPr sz="628" b="0" i="0" dirty="0">
                <a:solidFill>
                  <a:srgbClr val="2B2B2E"/>
                </a:solidFill>
                <a:latin typeface="Arial"/>
              </a:rPr>
              <a:t> 0.63x · </a:t>
            </a:r>
            <a:r>
              <a:rPr sz="628" b="1" i="0" dirty="0">
                <a:solidFill>
                  <a:srgbClr val="3A3A3E"/>
                </a:solidFill>
                <a:latin typeface="Arial"/>
              </a:rPr>
              <a:t>EV/EBIT FY26</a:t>
            </a:r>
            <a:r>
              <a:rPr sz="628" b="0" i="0" dirty="0">
                <a:solidFill>
                  <a:srgbClr val="2B2B2E"/>
                </a:solidFill>
                <a:latin typeface="Arial"/>
              </a:rPr>
              <a:t> 5.8x (11.2x </a:t>
            </a:r>
            <a:r>
              <a:rPr sz="628" b="0" i="0" dirty="0" err="1">
                <a:solidFill>
                  <a:srgbClr val="2B2B2E"/>
                </a:solidFill>
                <a:latin typeface="Arial"/>
              </a:rPr>
              <a:t>nếu</a:t>
            </a:r>
            <a:r>
              <a:rPr sz="628" b="0" i="0" dirty="0">
                <a:solidFill>
                  <a:srgbClr val="2B2B2E"/>
                </a:solidFill>
                <a:latin typeface="Arial"/>
              </a:rPr>
              <a:t> 50% </a:t>
            </a:r>
            <a:r>
              <a:rPr sz="628" b="0" i="0" dirty="0" err="1">
                <a:solidFill>
                  <a:srgbClr val="2B2B2E"/>
                </a:solidFill>
                <a:latin typeface="Arial"/>
              </a:rPr>
              <a:t>ứng</a:t>
            </a:r>
            <a:r>
              <a:rPr sz="628" b="0" i="0" dirty="0">
                <a:solidFill>
                  <a:srgbClr val="2B2B2E"/>
                </a:solidFill>
                <a:latin typeface="Arial"/>
              </a:rPr>
              <a:t> </a:t>
            </a:r>
            <a:r>
              <a:rPr sz="628" b="0" i="0" dirty="0" err="1">
                <a:solidFill>
                  <a:srgbClr val="2B2B2E"/>
                </a:solidFill>
                <a:latin typeface="Arial"/>
              </a:rPr>
              <a:t>trước</a:t>
            </a:r>
            <a:r>
              <a:rPr sz="628" b="0" i="0" dirty="0">
                <a:solidFill>
                  <a:srgbClr val="2B2B2E"/>
                </a:solidFill>
                <a:latin typeface="Arial"/>
              </a:rPr>
              <a:t> </a:t>
            </a:r>
            <a:r>
              <a:rPr sz="628" b="0" i="0" dirty="0" err="1">
                <a:solidFill>
                  <a:srgbClr val="2B2B2E"/>
                </a:solidFill>
                <a:latin typeface="Arial"/>
              </a:rPr>
              <a:t>là</a:t>
            </a:r>
            <a:r>
              <a:rPr sz="628" b="0" i="0" dirty="0">
                <a:solidFill>
                  <a:srgbClr val="2B2B2E"/>
                </a:solidFill>
                <a:latin typeface="Arial"/>
              </a:rPr>
              <a:t> </a:t>
            </a:r>
            <a:r>
              <a:rPr sz="628" b="0" i="0" dirty="0" err="1">
                <a:solidFill>
                  <a:srgbClr val="2B2B2E"/>
                </a:solidFill>
                <a:latin typeface="Arial"/>
              </a:rPr>
              <a:t>nợ</a:t>
            </a:r>
            <a:r>
              <a:rPr sz="628" b="0" i="0" dirty="0">
                <a:solidFill>
                  <a:srgbClr val="2B2B2E"/>
                </a:solidFill>
                <a:latin typeface="Arial"/>
              </a:rPr>
              <a:t>) · </a:t>
            </a:r>
            <a:r>
              <a:rPr sz="628" b="1" i="0" dirty="0">
                <a:solidFill>
                  <a:srgbClr val="3A3A3E"/>
                </a:solidFill>
                <a:latin typeface="Arial"/>
              </a:rPr>
              <a:t>Backlog</a:t>
            </a:r>
            <a:r>
              <a:rPr sz="628" b="0" i="0" dirty="0">
                <a:solidFill>
                  <a:srgbClr val="2B2B2E"/>
                </a:solidFill>
                <a:latin typeface="Arial"/>
              </a:rPr>
              <a:t> </a:t>
            </a:r>
            <a:r>
              <a:rPr lang="en-US" sz="628" b="0" i="0" dirty="0">
                <a:solidFill>
                  <a:srgbClr val="2B2B2E"/>
                </a:solidFill>
                <a:latin typeface="Arial"/>
              </a:rPr>
              <a:t>~</a:t>
            </a:r>
            <a:r>
              <a:rPr sz="628" b="0" i="0" dirty="0">
                <a:solidFill>
                  <a:srgbClr val="2B2B2E"/>
                </a:solidFill>
                <a:latin typeface="Arial"/>
              </a:rPr>
              <a:t>70,000 </a:t>
            </a:r>
            <a:r>
              <a:rPr sz="628" b="0" i="0" dirty="0" err="1">
                <a:solidFill>
                  <a:srgbClr val="2B2B2E"/>
                </a:solidFill>
                <a:latin typeface="Arial"/>
              </a:rPr>
              <a:t>tỷ</a:t>
            </a:r>
            <a:r>
              <a:rPr sz="628" b="0" i="0" dirty="0">
                <a:solidFill>
                  <a:srgbClr val="2B2B2E"/>
                </a:solidFill>
                <a:latin typeface="Arial"/>
              </a:rPr>
              <a:t> (2.04x </a:t>
            </a:r>
            <a:r>
              <a:rPr sz="628" b="0" i="0" dirty="0" err="1">
                <a:solidFill>
                  <a:srgbClr val="2B2B2E"/>
                </a:solidFill>
                <a:latin typeface="Arial"/>
              </a:rPr>
              <a:t>doanh</a:t>
            </a:r>
            <a:r>
              <a:rPr sz="628" b="0" i="0" dirty="0">
                <a:solidFill>
                  <a:srgbClr val="2B2B2E"/>
                </a:solidFill>
                <a:latin typeface="Arial"/>
              </a:rPr>
              <a:t> </a:t>
            </a:r>
            <a:r>
              <a:rPr sz="628" b="0" i="0" dirty="0" err="1">
                <a:solidFill>
                  <a:srgbClr val="2B2B2E"/>
                </a:solidFill>
                <a:latin typeface="Arial"/>
              </a:rPr>
              <a:t>thu</a:t>
            </a:r>
            <a:r>
              <a:rPr sz="628" b="0" i="0" dirty="0">
                <a:solidFill>
                  <a:srgbClr val="2B2B2E"/>
                </a:solidFill>
                <a:latin typeface="Arial"/>
              </a:rPr>
              <a:t>)</a:t>
            </a:r>
          </a:p>
        </p:txBody>
      </p:sp>
      <p:sp>
        <p:nvSpPr>
          <p:cNvPr id="9" name="Rectangle 8"/>
          <p:cNvSpPr/>
          <p:nvPr/>
        </p:nvSpPr>
        <p:spPr>
          <a:xfrm>
            <a:off x="236250" y="925805"/>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0" name="TextBox 9"/>
          <p:cNvSpPr txBox="1"/>
          <p:nvPr/>
        </p:nvSpPr>
        <p:spPr>
          <a:xfrm>
            <a:off x="301219" y="949430"/>
            <a:ext cx="3129021" cy="94500"/>
          </a:xfrm>
          <a:prstGeom prst="rect">
            <a:avLst/>
          </a:prstGeom>
          <a:noFill/>
        </p:spPr>
        <p:txBody>
          <a:bodyPr wrap="none" lIns="0" tIns="0" rIns="0" bIns="0" anchor="t"/>
          <a:lstStyle/>
          <a:p>
            <a:pPr algn="l">
              <a:lnSpc>
                <a:spcPts val="686"/>
              </a:lnSpc>
              <a:spcBef>
                <a:spcPts val="0"/>
              </a:spcBef>
              <a:spcAft>
                <a:spcPts val="0"/>
              </a:spcAft>
            </a:pPr>
            <a:r>
              <a:rPr sz="581" b="1" i="0" spc="55" dirty="0">
                <a:solidFill>
                  <a:srgbClr val="FFFFFF"/>
                </a:solidFill>
                <a:latin typeface="Arial"/>
              </a:rPr>
              <a:t>E · FDI LÀ ĐỘNG CƠ: LỢI THẾ DẪN ĐẦU</a:t>
            </a:r>
            <a:r>
              <a:rPr lang="en-US" sz="581" b="1" i="0" spc="55" dirty="0">
                <a:solidFill>
                  <a:srgbClr val="FFFFFF"/>
                </a:solidFill>
                <a:latin typeface="Arial"/>
              </a:rPr>
              <a:t>, TỆP KHÁCH HÀNG TRUNG THÀNH </a:t>
            </a:r>
            <a:r>
              <a:rPr sz="581" b="1" i="0" spc="55" dirty="0">
                <a:solidFill>
                  <a:srgbClr val="FFFFFF"/>
                </a:solidFill>
                <a:latin typeface="Arial"/>
              </a:rPr>
              <a:t>VÀ ESG CHUẨN QUỐC TẾ</a:t>
            </a:r>
          </a:p>
        </p:txBody>
      </p:sp>
      <p:sp>
        <p:nvSpPr>
          <p:cNvPr id="11" name="TextBox 10"/>
          <p:cNvSpPr txBox="1"/>
          <p:nvPr/>
        </p:nvSpPr>
        <p:spPr>
          <a:xfrm>
            <a:off x="5168061" y="955336"/>
            <a:ext cx="2433283" cy="82688"/>
          </a:xfrm>
          <a:prstGeom prst="rect">
            <a:avLst/>
          </a:prstGeom>
          <a:noFill/>
        </p:spPr>
        <p:txBody>
          <a:bodyPr wrap="none" lIns="0" tIns="0" rIns="0" bIns="0" anchor="t"/>
          <a:lstStyle/>
          <a:p>
            <a:pPr algn="l">
              <a:lnSpc>
                <a:spcPts val="604"/>
              </a:lnSpc>
              <a:spcBef>
                <a:spcPts val="0"/>
              </a:spcBef>
              <a:spcAft>
                <a:spcPts val="0"/>
              </a:spcAft>
            </a:pPr>
            <a:endParaRPr sz="512" b="0" i="1" dirty="0">
              <a:solidFill>
                <a:srgbClr val="FFFFFF"/>
              </a:solidFill>
              <a:latin typeface="Arial"/>
            </a:endParaRPr>
          </a:p>
        </p:txBody>
      </p:sp>
      <p:sp>
        <p:nvSpPr>
          <p:cNvPr id="12" name="Rectangle 11"/>
          <p:cNvSpPr/>
          <p:nvPr/>
        </p:nvSpPr>
        <p:spPr>
          <a:xfrm>
            <a:off x="179747" y="2577261"/>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3" name="TextBox 12"/>
          <p:cNvSpPr txBox="1"/>
          <p:nvPr/>
        </p:nvSpPr>
        <p:spPr>
          <a:xfrm>
            <a:off x="292428" y="2608173"/>
            <a:ext cx="2608994" cy="94500"/>
          </a:xfrm>
          <a:prstGeom prst="rect">
            <a:avLst/>
          </a:prstGeom>
          <a:noFill/>
        </p:spPr>
        <p:txBody>
          <a:bodyPr wrap="none" lIns="0" tIns="0" rIns="0" bIns="0" anchor="t"/>
          <a:lstStyle/>
          <a:p>
            <a:pPr algn="l">
              <a:lnSpc>
                <a:spcPts val="686"/>
              </a:lnSpc>
              <a:spcBef>
                <a:spcPts val="0"/>
              </a:spcBef>
              <a:spcAft>
                <a:spcPts val="0"/>
              </a:spcAft>
            </a:pPr>
            <a:r>
              <a:rPr sz="581" b="1" i="0" spc="55" dirty="0">
                <a:solidFill>
                  <a:srgbClr val="FFFFFF"/>
                </a:solidFill>
                <a:latin typeface="Arial"/>
              </a:rPr>
              <a:t>F · DỰ ÁN PHỨC TẠP, QUY MÔ LỚN</a:t>
            </a:r>
          </a:p>
        </p:txBody>
      </p:sp>
      <p:sp>
        <p:nvSpPr>
          <p:cNvPr id="15" name="Rectangle 14"/>
          <p:cNvSpPr/>
          <p:nvPr/>
        </p:nvSpPr>
        <p:spPr>
          <a:xfrm>
            <a:off x="236250" y="4492718"/>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6" name="TextBox 15"/>
          <p:cNvSpPr txBox="1"/>
          <p:nvPr/>
        </p:nvSpPr>
        <p:spPr>
          <a:xfrm>
            <a:off x="301219" y="4516343"/>
            <a:ext cx="4375516" cy="94500"/>
          </a:xfrm>
          <a:prstGeom prst="rect">
            <a:avLst/>
          </a:prstGeom>
          <a:noFill/>
        </p:spPr>
        <p:txBody>
          <a:bodyPr wrap="none" lIns="0" tIns="0" rIns="0" bIns="0" anchor="t"/>
          <a:lstStyle/>
          <a:p>
            <a:pPr algn="l">
              <a:lnSpc>
                <a:spcPts val="686"/>
              </a:lnSpc>
              <a:spcBef>
                <a:spcPts val="0"/>
              </a:spcBef>
              <a:spcAft>
                <a:spcPts val="0"/>
              </a:spcAft>
            </a:pPr>
            <a:r>
              <a:rPr sz="581" b="1" i="0" spc="55">
                <a:solidFill>
                  <a:srgbClr val="FFFFFF"/>
                </a:solidFill>
                <a:latin typeface="Arial"/>
              </a:rPr>
              <a:t>G · DỰ PHÓNG: BACKLOG BẢO ĐẢM DOANH THU, NHƯNG DÒNG TIỀN PHỤ THUỘC ỨNG TRƯỚC</a:t>
            </a:r>
          </a:p>
        </p:txBody>
      </p:sp>
      <p:sp>
        <p:nvSpPr>
          <p:cNvPr id="17" name="TextBox 16"/>
          <p:cNvSpPr txBox="1"/>
          <p:nvPr/>
        </p:nvSpPr>
        <p:spPr>
          <a:xfrm>
            <a:off x="5179320" y="4522250"/>
            <a:ext cx="2422024" cy="82688"/>
          </a:xfrm>
          <a:prstGeom prst="rect">
            <a:avLst/>
          </a:prstGeom>
          <a:noFill/>
        </p:spPr>
        <p:txBody>
          <a:bodyPr wrap="none" lIns="0" tIns="0" rIns="0" bIns="0" anchor="t"/>
          <a:lstStyle/>
          <a:p>
            <a:pPr algn="l">
              <a:lnSpc>
                <a:spcPts val="604"/>
              </a:lnSpc>
              <a:spcBef>
                <a:spcPts val="0"/>
              </a:spcBef>
              <a:spcAft>
                <a:spcPts val="0"/>
              </a:spcAft>
            </a:pPr>
            <a:endParaRPr sz="512" b="0" i="1" dirty="0">
              <a:solidFill>
                <a:srgbClr val="FFFFFF"/>
              </a:solidFill>
              <a:latin typeface="Arial"/>
            </a:endParaRPr>
          </a:p>
        </p:txBody>
      </p:sp>
      <p:sp>
        <p:nvSpPr>
          <p:cNvPr id="18" name="Rectangle 17"/>
          <p:cNvSpPr/>
          <p:nvPr/>
        </p:nvSpPr>
        <p:spPr>
          <a:xfrm>
            <a:off x="236250" y="6691135"/>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19" name="TextBox 18"/>
          <p:cNvSpPr txBox="1"/>
          <p:nvPr/>
        </p:nvSpPr>
        <p:spPr>
          <a:xfrm>
            <a:off x="301219" y="6714760"/>
            <a:ext cx="3200172" cy="94500"/>
          </a:xfrm>
          <a:prstGeom prst="rect">
            <a:avLst/>
          </a:prstGeom>
          <a:noFill/>
        </p:spPr>
        <p:txBody>
          <a:bodyPr wrap="none" lIns="0" tIns="0" rIns="0" bIns="0" anchor="t"/>
          <a:lstStyle/>
          <a:p>
            <a:pPr algn="l">
              <a:lnSpc>
                <a:spcPts val="686"/>
              </a:lnSpc>
              <a:spcBef>
                <a:spcPts val="0"/>
              </a:spcBef>
              <a:spcAft>
                <a:spcPts val="0"/>
              </a:spcAft>
            </a:pPr>
            <a:r>
              <a:rPr sz="581" b="1" i="0" spc="55" dirty="0">
                <a:solidFill>
                  <a:srgbClr val="FFFFFF"/>
                </a:solidFill>
                <a:latin typeface="Arial"/>
              </a:rPr>
              <a:t>H · ĐỊNH GIÁ</a:t>
            </a:r>
            <a:r>
              <a:rPr lang="en-US" sz="581" b="1" i="0" spc="55" dirty="0">
                <a:solidFill>
                  <a:srgbClr val="FFFFFF"/>
                </a:solidFill>
                <a:latin typeface="Arial"/>
              </a:rPr>
              <a:t> ĐẪ CHIẾT KHẤU THẤP</a:t>
            </a:r>
            <a:r>
              <a:rPr sz="581" b="1" i="0" spc="55" dirty="0">
                <a:solidFill>
                  <a:srgbClr val="FFFFFF"/>
                </a:solidFill>
                <a:latin typeface="Arial"/>
              </a:rPr>
              <a:t>: 30% P/E + 30% P/B + 40% DCF → 83,500 ĐỒNG (+41%)</a:t>
            </a:r>
          </a:p>
        </p:txBody>
      </p:sp>
      <p:sp>
        <p:nvSpPr>
          <p:cNvPr id="20" name="TextBox 19"/>
          <p:cNvSpPr txBox="1"/>
          <p:nvPr/>
        </p:nvSpPr>
        <p:spPr>
          <a:xfrm>
            <a:off x="5083528" y="6720667"/>
            <a:ext cx="2517816" cy="82688"/>
          </a:xfrm>
          <a:prstGeom prst="rect">
            <a:avLst/>
          </a:prstGeom>
          <a:noFill/>
        </p:spPr>
        <p:txBody>
          <a:bodyPr wrap="none" lIns="0" tIns="0" rIns="0" bIns="0" anchor="t"/>
          <a:lstStyle/>
          <a:p>
            <a:pPr algn="l">
              <a:lnSpc>
                <a:spcPts val="604"/>
              </a:lnSpc>
              <a:spcBef>
                <a:spcPts val="0"/>
              </a:spcBef>
              <a:spcAft>
                <a:spcPts val="0"/>
              </a:spcAft>
            </a:pPr>
            <a:r>
              <a:rPr sz="512" b="0" i="1" dirty="0" err="1">
                <a:solidFill>
                  <a:srgbClr val="FFFFFF"/>
                </a:solidFill>
                <a:latin typeface="Arial"/>
              </a:rPr>
              <a:t>Giá</a:t>
            </a:r>
            <a:r>
              <a:rPr sz="512" b="0" i="1" dirty="0">
                <a:solidFill>
                  <a:srgbClr val="FFFFFF"/>
                </a:solidFill>
                <a:latin typeface="Arial"/>
              </a:rPr>
              <a:t> </a:t>
            </a:r>
            <a:r>
              <a:rPr sz="512" b="0" i="1" dirty="0" err="1">
                <a:solidFill>
                  <a:srgbClr val="FFFFFF"/>
                </a:solidFill>
                <a:latin typeface="Arial"/>
              </a:rPr>
              <a:t>trị</a:t>
            </a:r>
            <a:r>
              <a:rPr sz="512" b="0" i="1" dirty="0">
                <a:solidFill>
                  <a:srgbClr val="FFFFFF"/>
                </a:solidFill>
                <a:latin typeface="Arial"/>
              </a:rPr>
              <a:t> </a:t>
            </a:r>
            <a:r>
              <a:rPr sz="512" b="0" i="1" dirty="0" err="1">
                <a:solidFill>
                  <a:srgbClr val="FFFFFF"/>
                </a:solidFill>
                <a:latin typeface="Arial"/>
              </a:rPr>
              <a:t>phụ</a:t>
            </a:r>
            <a:r>
              <a:rPr sz="512" b="0" i="1" dirty="0">
                <a:solidFill>
                  <a:srgbClr val="FFFFFF"/>
                </a:solidFill>
                <a:latin typeface="Arial"/>
              </a:rPr>
              <a:t> </a:t>
            </a:r>
            <a:r>
              <a:rPr sz="512" b="0" i="1" dirty="0" err="1">
                <a:solidFill>
                  <a:srgbClr val="FFFFFF"/>
                </a:solidFill>
                <a:latin typeface="Arial"/>
              </a:rPr>
              <a:t>thuộc</a:t>
            </a:r>
            <a:r>
              <a:rPr sz="512" b="0" i="1" dirty="0">
                <a:solidFill>
                  <a:srgbClr val="FFFFFF"/>
                </a:solidFill>
                <a:latin typeface="Arial"/>
              </a:rPr>
              <a:t> </a:t>
            </a:r>
            <a:r>
              <a:rPr sz="512" b="0" i="1" dirty="0" err="1">
                <a:solidFill>
                  <a:srgbClr val="FFFFFF"/>
                </a:solidFill>
                <a:latin typeface="Arial"/>
              </a:rPr>
              <a:t>vào</a:t>
            </a:r>
            <a:r>
              <a:rPr sz="512" b="0" i="1" dirty="0">
                <a:solidFill>
                  <a:srgbClr val="FFFFFF"/>
                </a:solidFill>
                <a:latin typeface="Arial"/>
              </a:rPr>
              <a:t> </a:t>
            </a:r>
            <a:r>
              <a:rPr sz="512" b="0" i="1" dirty="0" err="1">
                <a:solidFill>
                  <a:srgbClr val="FFFFFF"/>
                </a:solidFill>
                <a:latin typeface="Arial"/>
              </a:rPr>
              <a:t>cách</a:t>
            </a:r>
            <a:r>
              <a:rPr sz="512" b="0" i="1" dirty="0">
                <a:solidFill>
                  <a:srgbClr val="FFFFFF"/>
                </a:solidFill>
                <a:latin typeface="Arial"/>
              </a:rPr>
              <a:t> </a:t>
            </a:r>
            <a:r>
              <a:rPr sz="512" b="0" i="1" dirty="0" err="1">
                <a:solidFill>
                  <a:srgbClr val="FFFFFF"/>
                </a:solidFill>
                <a:latin typeface="Arial"/>
              </a:rPr>
              <a:t>coi</a:t>
            </a:r>
            <a:r>
              <a:rPr sz="512" b="0" i="1" dirty="0">
                <a:solidFill>
                  <a:srgbClr val="FFFFFF"/>
                </a:solidFill>
                <a:latin typeface="Arial"/>
              </a:rPr>
              <a:t> </a:t>
            </a:r>
            <a:r>
              <a:rPr sz="512" b="0" i="1" dirty="0" err="1">
                <a:solidFill>
                  <a:srgbClr val="FFFFFF"/>
                </a:solidFill>
                <a:latin typeface="Arial"/>
              </a:rPr>
              <a:t>tiền</a:t>
            </a:r>
            <a:r>
              <a:rPr sz="512" b="0" i="1" dirty="0">
                <a:solidFill>
                  <a:srgbClr val="FFFFFF"/>
                </a:solidFill>
                <a:latin typeface="Arial"/>
              </a:rPr>
              <a:t> </a:t>
            </a:r>
            <a:r>
              <a:rPr sz="512" b="0" i="1" dirty="0" err="1">
                <a:solidFill>
                  <a:srgbClr val="FFFFFF"/>
                </a:solidFill>
                <a:latin typeface="Arial"/>
              </a:rPr>
              <a:t>ứng</a:t>
            </a:r>
            <a:r>
              <a:rPr sz="512" b="0" i="1" dirty="0">
                <a:solidFill>
                  <a:srgbClr val="FFFFFF"/>
                </a:solidFill>
                <a:latin typeface="Arial"/>
              </a:rPr>
              <a:t> </a:t>
            </a:r>
            <a:r>
              <a:rPr sz="512" b="0" i="1" dirty="0" err="1">
                <a:solidFill>
                  <a:srgbClr val="FFFFFF"/>
                </a:solidFill>
                <a:latin typeface="Arial"/>
              </a:rPr>
              <a:t>trước</a:t>
            </a:r>
            <a:r>
              <a:rPr sz="512" b="0" i="1" dirty="0">
                <a:solidFill>
                  <a:srgbClr val="FFFFFF"/>
                </a:solidFill>
                <a:latin typeface="Arial"/>
              </a:rPr>
              <a:t>: stress 25% </a:t>
            </a:r>
            <a:r>
              <a:rPr sz="512" b="0" i="1" dirty="0" err="1">
                <a:solidFill>
                  <a:srgbClr val="FFFFFF"/>
                </a:solidFill>
                <a:latin typeface="Arial"/>
              </a:rPr>
              <a:t>nợ</a:t>
            </a:r>
            <a:r>
              <a:rPr sz="512" b="0" i="1" dirty="0">
                <a:solidFill>
                  <a:srgbClr val="FFFFFF"/>
                </a:solidFill>
                <a:latin typeface="Arial"/>
              </a:rPr>
              <a:t> </a:t>
            </a:r>
            <a:r>
              <a:rPr sz="512" b="0" i="1" dirty="0" err="1">
                <a:solidFill>
                  <a:srgbClr val="FFFFFF"/>
                </a:solidFill>
                <a:latin typeface="Arial"/>
              </a:rPr>
              <a:t>vẫn</a:t>
            </a:r>
            <a:r>
              <a:rPr sz="512" b="0" i="1" dirty="0">
                <a:solidFill>
                  <a:srgbClr val="FFFFFF"/>
                </a:solidFill>
                <a:latin typeface="Arial"/>
              </a:rPr>
              <a:t> </a:t>
            </a:r>
            <a:r>
              <a:rPr sz="512" b="0" i="1" dirty="0" err="1">
                <a:solidFill>
                  <a:srgbClr val="FFFFFF"/>
                </a:solidFill>
                <a:latin typeface="Arial"/>
              </a:rPr>
              <a:t>cho</a:t>
            </a:r>
            <a:r>
              <a:rPr sz="512" b="0" i="1" dirty="0">
                <a:solidFill>
                  <a:srgbClr val="FFFFFF"/>
                </a:solidFill>
                <a:latin typeface="Arial"/>
              </a:rPr>
              <a:t> +27%</a:t>
            </a:r>
          </a:p>
        </p:txBody>
      </p:sp>
      <p:sp>
        <p:nvSpPr>
          <p:cNvPr id="21" name="Rectangle 20"/>
          <p:cNvSpPr/>
          <p:nvPr/>
        </p:nvSpPr>
        <p:spPr>
          <a:xfrm>
            <a:off x="236250" y="9384108"/>
            <a:ext cx="7087500" cy="141750"/>
          </a:xfrm>
          <a:prstGeom prst="rect">
            <a:avLst/>
          </a:prstGeom>
          <a:gradFill rotWithShape="1">
            <a:gsLst>
              <a:gs pos="0">
                <a:srgbClr val="8A1C2B"/>
              </a:gs>
              <a:gs pos="55000">
                <a:srgbClr val="C8102E"/>
              </a:gs>
              <a:gs pos="100000">
                <a:srgbClr val="E04A5F"/>
              </a:gs>
            </a:gsLst>
            <a:lin ang="0" scaled="0"/>
          </a:gradFill>
          <a:ln>
            <a:noFill/>
          </a:ln>
          <a:effectLst/>
        </p:spPr>
        <p:txBody>
          <a:bodyPr rtlCol="0" anchor="ctr"/>
          <a:lstStyle/>
          <a:p>
            <a:pPr algn="ctr"/>
            <a:endParaRPr/>
          </a:p>
        </p:txBody>
      </p:sp>
      <p:sp>
        <p:nvSpPr>
          <p:cNvPr id="22" name="TextBox 21"/>
          <p:cNvSpPr txBox="1"/>
          <p:nvPr/>
        </p:nvSpPr>
        <p:spPr>
          <a:xfrm>
            <a:off x="301219" y="9407733"/>
            <a:ext cx="2570326" cy="94500"/>
          </a:xfrm>
          <a:prstGeom prst="rect">
            <a:avLst/>
          </a:prstGeom>
          <a:noFill/>
        </p:spPr>
        <p:txBody>
          <a:bodyPr wrap="none" lIns="0" tIns="0" rIns="0" bIns="0" anchor="t"/>
          <a:lstStyle/>
          <a:p>
            <a:pPr algn="l">
              <a:lnSpc>
                <a:spcPts val="686"/>
              </a:lnSpc>
              <a:spcBef>
                <a:spcPts val="0"/>
              </a:spcBef>
              <a:spcAft>
                <a:spcPts val="0"/>
              </a:spcAft>
            </a:pPr>
            <a:r>
              <a:rPr sz="581" b="1" i="0" spc="55">
                <a:solidFill>
                  <a:srgbClr val="FFFFFF"/>
                </a:solidFill>
                <a:latin typeface="Arial"/>
              </a:rPr>
              <a:t>I · RỦI RO VÀ ĐIỀU KIỆN XEM XÉT LẠI KHUYẾN NGHỊ</a:t>
            </a:r>
          </a:p>
        </p:txBody>
      </p:sp>
      <p:sp>
        <p:nvSpPr>
          <p:cNvPr id="23" name="TextBox 22"/>
          <p:cNvSpPr txBox="1"/>
          <p:nvPr/>
        </p:nvSpPr>
        <p:spPr>
          <a:xfrm>
            <a:off x="5684581" y="9413640"/>
            <a:ext cx="1916763" cy="82688"/>
          </a:xfrm>
          <a:prstGeom prst="rect">
            <a:avLst/>
          </a:prstGeom>
          <a:noFill/>
        </p:spPr>
        <p:txBody>
          <a:bodyPr wrap="none" lIns="0" tIns="0" rIns="0" bIns="0" anchor="t"/>
          <a:lstStyle/>
          <a:p>
            <a:pPr algn="l">
              <a:lnSpc>
                <a:spcPts val="604"/>
              </a:lnSpc>
              <a:spcBef>
                <a:spcPts val="0"/>
              </a:spcBef>
              <a:spcAft>
                <a:spcPts val="0"/>
              </a:spcAft>
            </a:pPr>
            <a:r>
              <a:rPr sz="512" b="0" i="1">
                <a:solidFill>
                  <a:srgbClr val="FFFFFF"/>
                </a:solidFill>
                <a:latin typeface="Arial"/>
              </a:rPr>
              <a:t>Ngưỡng do nhóm đặt, không phải ngưỡng của công ty</a:t>
            </a:r>
          </a:p>
        </p:txBody>
      </p:sp>
      <p:sp>
        <p:nvSpPr>
          <p:cNvPr id="24" name="TextBox 23"/>
          <p:cNvSpPr txBox="1"/>
          <p:nvPr/>
        </p:nvSpPr>
        <p:spPr>
          <a:xfrm>
            <a:off x="230344" y="1097086"/>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Doanh thu quy đổi: FDI ~20,000 tỷ năm FY27E </a:t>
            </a:r>
            <a:r>
              <a:rPr sz="465" b="0" i="0">
                <a:solidFill>
                  <a:srgbClr val="8C8C91"/>
                </a:solidFill>
                <a:latin typeface="Arial"/>
              </a:rPr>
              <a:t>(tỷ đồng)</a:t>
            </a:r>
          </a:p>
        </p:txBody>
      </p:sp>
      <p:sp>
        <p:nvSpPr>
          <p:cNvPr id="25" name="TextBox 24"/>
          <p:cNvSpPr txBox="1"/>
          <p:nvPr/>
        </p:nvSpPr>
        <p:spPr>
          <a:xfrm>
            <a:off x="230344" y="2180883"/>
            <a:ext cx="2211241" cy="152086"/>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Coteccons</a:t>
            </a:r>
            <a:r>
              <a:rPr sz="442" b="0" i="1" dirty="0">
                <a:solidFill>
                  <a:srgbClr val="8C8C91"/>
                </a:solidFill>
                <a:latin typeface="Arial"/>
              </a:rPr>
              <a:t> (</a:t>
            </a:r>
            <a:r>
              <a:rPr sz="442" b="0" i="1" dirty="0" err="1">
                <a:solidFill>
                  <a:srgbClr val="8C8C91"/>
                </a:solidFill>
                <a:latin typeface="Arial"/>
              </a:rPr>
              <a:t>cơ</a:t>
            </a:r>
            <a:r>
              <a:rPr sz="442" b="0" i="1" dirty="0">
                <a:solidFill>
                  <a:srgbClr val="8C8C91"/>
                </a:solidFill>
                <a:latin typeface="Arial"/>
              </a:rPr>
              <a:t> </a:t>
            </a:r>
            <a:r>
              <a:rPr sz="442" b="0" i="1" dirty="0" err="1">
                <a:solidFill>
                  <a:srgbClr val="8C8C91"/>
                </a:solidFill>
                <a:latin typeface="Arial"/>
              </a:rPr>
              <a:t>cấu</a:t>
            </a:r>
            <a:r>
              <a:rPr sz="442" b="0" i="1" dirty="0">
                <a:solidFill>
                  <a:srgbClr val="8C8C91"/>
                </a:solidFill>
                <a:latin typeface="Arial"/>
              </a:rPr>
              <a:t> </a:t>
            </a:r>
            <a:r>
              <a:rPr sz="442" b="0" i="1" dirty="0" err="1">
                <a:solidFill>
                  <a:srgbClr val="8C8C91"/>
                </a:solidFill>
                <a:latin typeface="Arial"/>
              </a:rPr>
              <a:t>hiện</a:t>
            </a:r>
            <a:r>
              <a:rPr sz="442" b="0" i="1" dirty="0">
                <a:solidFill>
                  <a:srgbClr val="8C8C91"/>
                </a:solidFill>
                <a:latin typeface="Arial"/>
              </a:rPr>
              <a:t> </a:t>
            </a:r>
            <a:r>
              <a:rPr sz="442" b="0" i="1" dirty="0" err="1">
                <a:solidFill>
                  <a:srgbClr val="8C8C91"/>
                </a:solidFill>
                <a:latin typeface="Arial"/>
              </a:rPr>
              <a:t>tại</a:t>
            </a:r>
            <a:r>
              <a:rPr sz="442" b="0" i="1" dirty="0">
                <a:solidFill>
                  <a:srgbClr val="8C8C91"/>
                </a:solidFill>
                <a:latin typeface="Arial"/>
              </a:rPr>
              <a:t>: ĐHCĐ, </a:t>
            </a:r>
            <a:r>
              <a:rPr sz="442" b="0" i="1" dirty="0" err="1">
                <a:solidFill>
                  <a:srgbClr val="8C8C91"/>
                </a:solidFill>
                <a:latin typeface="Arial"/>
              </a:rPr>
              <a:t>báo</a:t>
            </a:r>
            <a:r>
              <a:rPr sz="442" b="0" i="1" dirty="0">
                <a:solidFill>
                  <a:srgbClr val="8C8C91"/>
                </a:solidFill>
                <a:latin typeface="Arial"/>
              </a:rPr>
              <a:t> </a:t>
            </a:r>
            <a:r>
              <a:rPr sz="442" b="0" i="1" dirty="0" err="1">
                <a:solidFill>
                  <a:srgbClr val="8C8C91"/>
                </a:solidFill>
                <a:latin typeface="Arial"/>
              </a:rPr>
              <a:t>cáo</a:t>
            </a:r>
            <a:r>
              <a:rPr sz="442" b="0" i="1" dirty="0">
                <a:solidFill>
                  <a:srgbClr val="8C8C91"/>
                </a:solidFill>
                <a:latin typeface="Arial"/>
              </a:rPr>
              <a:t> </a:t>
            </a:r>
            <a:r>
              <a:rPr sz="442" b="0" i="1" dirty="0" err="1">
                <a:solidFill>
                  <a:srgbClr val="8C8C91"/>
                </a:solidFill>
                <a:latin typeface="Arial"/>
              </a:rPr>
              <a:t>thường</a:t>
            </a:r>
            <a:r>
              <a:rPr sz="442" b="0" i="1" dirty="0">
                <a:solidFill>
                  <a:srgbClr val="8C8C91"/>
                </a:solidFill>
                <a:latin typeface="Arial"/>
              </a:rPr>
              <a:t> </a:t>
            </a:r>
            <a:r>
              <a:rPr sz="442" b="0" i="1" dirty="0" err="1">
                <a:solidFill>
                  <a:srgbClr val="8C8C91"/>
                </a:solidFill>
                <a:latin typeface="Arial"/>
              </a:rPr>
              <a:t>niên</a:t>
            </a:r>
            <a:r>
              <a:rPr sz="442" b="0" i="1" dirty="0">
                <a:solidFill>
                  <a:srgbClr val="8C8C91"/>
                </a:solidFill>
                <a:latin typeface="Arial"/>
              </a:rPr>
              <a:t>), </a:t>
            </a:r>
            <a:r>
              <a:rPr sz="442" b="0" i="1" dirty="0" err="1">
                <a:solidFill>
                  <a:srgbClr val="8C8C91"/>
                </a:solidFill>
                <a:latin typeface="Arial"/>
              </a:rPr>
              <a:t>mô</a:t>
            </a:r>
            <a:r>
              <a:rPr sz="442" b="0" i="1" dirty="0">
                <a:solidFill>
                  <a:srgbClr val="8C8C91"/>
                </a:solidFill>
                <a:latin typeface="Arial"/>
              </a:rPr>
              <a:t> </a:t>
            </a:r>
            <a:r>
              <a:rPr sz="442" b="0" i="1" dirty="0" err="1">
                <a:solidFill>
                  <a:srgbClr val="8C8C91"/>
                </a:solidFill>
                <a:latin typeface="Arial"/>
              </a:rPr>
              <a:t>hình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a:t>
            </a:r>
            <a:r>
              <a:rPr sz="442" b="0" i="1" dirty="0" err="1">
                <a:solidFill>
                  <a:srgbClr val="8C8C91"/>
                </a:solidFill>
                <a:latin typeface="Arial"/>
              </a:rPr>
              <a:t>giữ</a:t>
            </a:r>
            <a:r>
              <a:rPr sz="442" b="0" i="1" dirty="0">
                <a:solidFill>
                  <a:srgbClr val="8C8C91"/>
                </a:solidFill>
                <a:latin typeface="Arial"/>
              </a:rPr>
              <a:t> </a:t>
            </a:r>
            <a:r>
              <a:rPr sz="442" b="0" i="1" dirty="0" err="1">
                <a:solidFill>
                  <a:srgbClr val="8C8C91"/>
                </a:solidFill>
                <a:latin typeface="Arial"/>
              </a:rPr>
              <a:t>cơ</a:t>
            </a:r>
            <a:r>
              <a:rPr sz="442" b="0" i="1" dirty="0">
                <a:solidFill>
                  <a:srgbClr val="8C8C91"/>
                </a:solidFill>
                <a:latin typeface="Arial"/>
              </a:rPr>
              <a:t> </a:t>
            </a:r>
            <a:r>
              <a:rPr sz="442" b="0" i="1" dirty="0" err="1">
                <a:solidFill>
                  <a:srgbClr val="8C8C91"/>
                </a:solidFill>
                <a:latin typeface="Arial"/>
              </a:rPr>
              <a:t>cấu</a:t>
            </a:r>
            <a:r>
              <a:rPr sz="442" b="0" i="1" dirty="0">
                <a:solidFill>
                  <a:srgbClr val="8C8C91"/>
                </a:solidFill>
                <a:latin typeface="Arial"/>
              </a:rPr>
              <a:t> </a:t>
            </a:r>
            <a:r>
              <a:rPr sz="442" b="0" i="1" dirty="0" err="1">
                <a:solidFill>
                  <a:srgbClr val="8C8C91"/>
                </a:solidFill>
                <a:latin typeface="Arial"/>
              </a:rPr>
              <a:t>cho</a:t>
            </a:r>
            <a:r>
              <a:rPr sz="442" b="0" i="1" dirty="0">
                <a:solidFill>
                  <a:srgbClr val="8C8C91"/>
                </a:solidFill>
                <a:latin typeface="Arial"/>
              </a:rPr>
              <a:t> FY26A</a:t>
            </a:r>
            <a:r>
              <a:rPr lang="en-US" sz="442" b="0" i="1" dirty="0">
                <a:solidFill>
                  <a:srgbClr val="8C8C91"/>
                </a:solidFill>
                <a:latin typeface="Arial"/>
              </a:rPr>
              <a:t>-</a:t>
            </a:r>
            <a:r>
              <a:rPr sz="442" b="0" i="1" dirty="0">
                <a:solidFill>
                  <a:srgbClr val="8C8C91"/>
                </a:solidFill>
                <a:latin typeface="Arial"/>
              </a:rPr>
              <a:t>FY29E (</a:t>
            </a:r>
            <a:r>
              <a:rPr sz="442" b="0" i="1" dirty="0" err="1">
                <a:solidFill>
                  <a:srgbClr val="8C8C91"/>
                </a:solidFill>
                <a:latin typeface="Arial"/>
              </a:rPr>
              <a:t>dự</a:t>
            </a:r>
            <a:r>
              <a:rPr sz="442" b="0" i="1" dirty="0">
                <a:solidFill>
                  <a:srgbClr val="8C8C91"/>
                </a:solidFill>
                <a:latin typeface="Arial"/>
              </a:rPr>
              <a:t> </a:t>
            </a:r>
            <a:r>
              <a:rPr sz="442" b="0" i="1" dirty="0" err="1">
                <a:solidFill>
                  <a:srgbClr val="8C8C91"/>
                </a:solidFill>
                <a:latin typeface="Arial"/>
              </a:rPr>
              <a:t>phóng</a:t>
            </a:r>
            <a:r>
              <a:rPr sz="442" b="0" i="1" dirty="0">
                <a:solidFill>
                  <a:srgbClr val="8C8C91"/>
                </a:solidFill>
                <a:latin typeface="Arial"/>
              </a:rPr>
              <a:t> </a:t>
            </a:r>
            <a:r>
              <a:rPr sz="442" b="0" i="1" dirty="0" err="1">
                <a:solidFill>
                  <a:srgbClr val="8C8C91"/>
                </a:solidFill>
                <a:latin typeface="Arial"/>
              </a:rPr>
              <a:t>viền</a:t>
            </a:r>
            <a:r>
              <a:rPr sz="442" b="0" i="1" dirty="0">
                <a:solidFill>
                  <a:srgbClr val="8C8C91"/>
                </a:solidFill>
                <a:latin typeface="Arial"/>
              </a:rPr>
              <a:t> </a:t>
            </a:r>
            <a:r>
              <a:rPr sz="442" b="0" i="1" dirty="0" err="1">
                <a:solidFill>
                  <a:srgbClr val="8C8C91"/>
                </a:solidFill>
                <a:latin typeface="Arial"/>
              </a:rPr>
              <a:t>đứt</a:t>
            </a:r>
            <a:r>
              <a:rPr sz="442" b="0" i="1" dirty="0">
                <a:solidFill>
                  <a:srgbClr val="8C8C91"/>
                </a:solidFill>
                <a:latin typeface="Arial"/>
              </a:rPr>
              <a:t>).</a:t>
            </a:r>
          </a:p>
        </p:txBody>
      </p:sp>
      <p:sp>
        <p:nvSpPr>
          <p:cNvPr id="26" name="TextBox 25"/>
          <p:cNvSpPr txBox="1"/>
          <p:nvPr/>
        </p:nvSpPr>
        <p:spPr>
          <a:xfrm>
            <a:off x="230344" y="2880404"/>
            <a:ext cx="2211241" cy="132891"/>
          </a:xfrm>
          <a:prstGeom prst="rect">
            <a:avLst/>
          </a:prstGeom>
          <a:noFill/>
        </p:spPr>
        <p:txBody>
          <a:bodyPr wrap="square" lIns="0" tIns="0" rIns="0" bIns="0" anchor="t"/>
          <a:lstStyle/>
          <a:p>
            <a:pPr algn="l">
              <a:lnSpc>
                <a:spcPts val="756"/>
              </a:lnSpc>
              <a:spcBef>
                <a:spcPts val="0"/>
              </a:spcBef>
              <a:spcAft>
                <a:spcPts val="0"/>
              </a:spcAft>
            </a:pPr>
            <a:r>
              <a:rPr lang="en-US" sz="465" b="0" i="0" dirty="0" err="1">
                <a:solidFill>
                  <a:srgbClr val="8C8C91"/>
                </a:solidFill>
                <a:latin typeface="Arial"/>
              </a:rPr>
              <a:t>Trọng</a:t>
            </a:r>
            <a:r>
              <a:rPr lang="en-US" sz="465" b="0" i="0" dirty="0">
                <a:solidFill>
                  <a:srgbClr val="8C8C91"/>
                </a:solidFill>
                <a:latin typeface="Arial"/>
              </a:rPr>
              <a:t> </a:t>
            </a:r>
            <a:r>
              <a:rPr lang="en-US" sz="465" b="0" i="0" dirty="0" err="1">
                <a:solidFill>
                  <a:srgbClr val="8C8C91"/>
                </a:solidFill>
                <a:latin typeface="Arial"/>
              </a:rPr>
              <a:t>tâm</a:t>
            </a:r>
            <a:r>
              <a:rPr lang="en-US" sz="465" b="0" i="0" dirty="0">
                <a:solidFill>
                  <a:srgbClr val="8C8C91"/>
                </a:solidFill>
                <a:latin typeface="Arial"/>
              </a:rPr>
              <a:t> </a:t>
            </a:r>
            <a:r>
              <a:rPr lang="en-US" sz="465" b="0" i="0" dirty="0" err="1">
                <a:solidFill>
                  <a:srgbClr val="8C8C91"/>
                </a:solidFill>
                <a:latin typeface="Arial"/>
              </a:rPr>
              <a:t>dồn</a:t>
            </a:r>
            <a:r>
              <a:rPr lang="en-US" sz="465" b="0" i="0" dirty="0">
                <a:solidFill>
                  <a:srgbClr val="8C8C91"/>
                </a:solidFill>
                <a:latin typeface="Arial"/>
              </a:rPr>
              <a:t> </a:t>
            </a:r>
            <a:r>
              <a:rPr lang="en-US" sz="465" b="0" i="0" dirty="0" err="1">
                <a:solidFill>
                  <a:srgbClr val="8C8C91"/>
                </a:solidFill>
                <a:latin typeface="Arial"/>
              </a:rPr>
              <a:t>về</a:t>
            </a:r>
            <a:r>
              <a:rPr lang="en-US" sz="465" b="0" i="0" dirty="0">
                <a:solidFill>
                  <a:srgbClr val="8C8C91"/>
                </a:solidFill>
                <a:latin typeface="Arial"/>
              </a:rPr>
              <a:t> </a:t>
            </a:r>
            <a:r>
              <a:rPr lang="en-US" sz="465" b="0" i="0" dirty="0" err="1">
                <a:solidFill>
                  <a:srgbClr val="8C8C91"/>
                </a:solidFill>
                <a:latin typeface="Arial"/>
              </a:rPr>
              <a:t>các</a:t>
            </a:r>
            <a:r>
              <a:rPr lang="en-US" sz="465" b="0" i="0" dirty="0">
                <a:solidFill>
                  <a:srgbClr val="8C8C91"/>
                </a:solidFill>
                <a:latin typeface="Arial"/>
              </a:rPr>
              <a:t> </a:t>
            </a:r>
            <a:r>
              <a:rPr lang="en-US" sz="465" b="0" i="0" dirty="0" err="1">
                <a:solidFill>
                  <a:srgbClr val="8C8C91"/>
                </a:solidFill>
                <a:latin typeface="Arial"/>
              </a:rPr>
              <a:t>dự</a:t>
            </a:r>
            <a:r>
              <a:rPr lang="en-US" sz="465" b="0" i="0" dirty="0">
                <a:solidFill>
                  <a:srgbClr val="8C8C91"/>
                </a:solidFill>
                <a:latin typeface="Arial"/>
              </a:rPr>
              <a:t> </a:t>
            </a:r>
            <a:r>
              <a:rPr lang="en-US" sz="465" b="0" i="0" dirty="0" err="1">
                <a:solidFill>
                  <a:srgbClr val="8C8C91"/>
                </a:solidFill>
                <a:latin typeface="Arial"/>
              </a:rPr>
              <a:t>án</a:t>
            </a:r>
            <a:r>
              <a:rPr lang="en-US" sz="465" b="0" i="0" dirty="0">
                <a:solidFill>
                  <a:srgbClr val="8C8C91"/>
                </a:solidFill>
                <a:latin typeface="Arial"/>
              </a:rPr>
              <a:t> </a:t>
            </a:r>
            <a:r>
              <a:rPr lang="en-US" sz="465" b="0" i="0" dirty="0" err="1">
                <a:solidFill>
                  <a:srgbClr val="8C8C91"/>
                </a:solidFill>
                <a:latin typeface="Arial"/>
              </a:rPr>
              <a:t>biên</a:t>
            </a:r>
            <a:r>
              <a:rPr lang="en-US" sz="465" b="0" i="0" dirty="0">
                <a:solidFill>
                  <a:srgbClr val="8C8C91"/>
                </a:solidFill>
                <a:latin typeface="Arial"/>
              </a:rPr>
              <a:t> </a:t>
            </a:r>
            <a:r>
              <a:rPr lang="en-US" sz="465" b="0" i="0" dirty="0" err="1">
                <a:solidFill>
                  <a:srgbClr val="8C8C91"/>
                </a:solidFill>
                <a:latin typeface="Arial"/>
              </a:rPr>
              <a:t>lợi</a:t>
            </a:r>
            <a:r>
              <a:rPr lang="en-US" sz="465" b="0" i="0" dirty="0">
                <a:solidFill>
                  <a:srgbClr val="8C8C91"/>
                </a:solidFill>
                <a:latin typeface="Arial"/>
              </a:rPr>
              <a:t> </a:t>
            </a:r>
            <a:r>
              <a:rPr lang="en-US" sz="465" b="0" i="0" dirty="0" err="1">
                <a:solidFill>
                  <a:srgbClr val="8C8C91"/>
                </a:solidFill>
                <a:latin typeface="Arial"/>
              </a:rPr>
              <a:t>nhuận</a:t>
            </a:r>
            <a:r>
              <a:rPr lang="en-US" sz="465" b="0" i="0" dirty="0">
                <a:solidFill>
                  <a:srgbClr val="8C8C91"/>
                </a:solidFill>
                <a:latin typeface="Arial"/>
              </a:rPr>
              <a:t> </a:t>
            </a:r>
            <a:r>
              <a:rPr lang="en-US" sz="465" b="0" i="0" dirty="0" err="1">
                <a:solidFill>
                  <a:srgbClr val="8C8C91"/>
                </a:solidFill>
                <a:latin typeface="Arial"/>
              </a:rPr>
              <a:t>cao</a:t>
            </a:r>
            <a:r>
              <a:rPr lang="en-US" sz="465" b="0" i="0" dirty="0">
                <a:solidFill>
                  <a:srgbClr val="8C8C91"/>
                </a:solidFill>
                <a:latin typeface="Arial"/>
              </a:rPr>
              <a:t> </a:t>
            </a:r>
            <a:r>
              <a:rPr lang="en-US" sz="465" b="0" i="0" dirty="0" err="1">
                <a:solidFill>
                  <a:srgbClr val="8C8C91"/>
                </a:solidFill>
                <a:latin typeface="Arial"/>
              </a:rPr>
              <a:t>và</a:t>
            </a:r>
            <a:r>
              <a:rPr lang="en-US" sz="465" b="0" i="0" dirty="0">
                <a:solidFill>
                  <a:srgbClr val="8C8C91"/>
                </a:solidFill>
                <a:latin typeface="Arial"/>
              </a:rPr>
              <a:t> </a:t>
            </a:r>
            <a:r>
              <a:rPr lang="en-US" sz="465" b="0" i="0" dirty="0" err="1">
                <a:solidFill>
                  <a:srgbClr val="8C8C91"/>
                </a:solidFill>
                <a:latin typeface="Arial"/>
              </a:rPr>
              <a:t>tối</a:t>
            </a:r>
            <a:r>
              <a:rPr lang="en-US" sz="465" b="0" i="0" dirty="0">
                <a:solidFill>
                  <a:srgbClr val="8C8C91"/>
                </a:solidFill>
                <a:latin typeface="Arial"/>
              </a:rPr>
              <a:t> </a:t>
            </a:r>
            <a:r>
              <a:rPr lang="en-US" sz="465" b="0" i="0" dirty="0" err="1">
                <a:solidFill>
                  <a:srgbClr val="8C8C91"/>
                </a:solidFill>
                <a:latin typeface="Arial"/>
              </a:rPr>
              <a:t>ưu</a:t>
            </a:r>
            <a:r>
              <a:rPr lang="en-US" sz="465" b="0" i="0" dirty="0">
                <a:solidFill>
                  <a:srgbClr val="8C8C91"/>
                </a:solidFill>
                <a:latin typeface="Arial"/>
              </a:rPr>
              <a:t> </a:t>
            </a:r>
            <a:r>
              <a:rPr lang="en-US" sz="465" b="0" i="0" dirty="0" err="1">
                <a:solidFill>
                  <a:srgbClr val="8C8C91"/>
                </a:solidFill>
                <a:latin typeface="Arial"/>
              </a:rPr>
              <a:t>biên</a:t>
            </a:r>
            <a:r>
              <a:rPr lang="en-US" sz="465" b="0" i="0" dirty="0">
                <a:solidFill>
                  <a:srgbClr val="8C8C91"/>
                </a:solidFill>
                <a:latin typeface="Arial"/>
              </a:rPr>
              <a:t> </a:t>
            </a:r>
            <a:r>
              <a:rPr lang="en-US" sz="465" b="0" i="0" dirty="0" err="1">
                <a:solidFill>
                  <a:srgbClr val="8C8C91"/>
                </a:solidFill>
                <a:latin typeface="Arial"/>
              </a:rPr>
              <a:t>lợi</a:t>
            </a:r>
            <a:r>
              <a:rPr lang="en-US" sz="465" b="0" i="0" dirty="0">
                <a:solidFill>
                  <a:srgbClr val="8C8C91"/>
                </a:solidFill>
                <a:latin typeface="Arial"/>
              </a:rPr>
              <a:t> </a:t>
            </a:r>
            <a:r>
              <a:rPr lang="en-US" sz="465" b="0" i="0" dirty="0" err="1">
                <a:solidFill>
                  <a:srgbClr val="8C8C91"/>
                </a:solidFill>
                <a:latin typeface="Arial"/>
              </a:rPr>
              <a:t>nhuận</a:t>
            </a:r>
            <a:endParaRPr sz="465" b="0" i="0" dirty="0">
              <a:solidFill>
                <a:srgbClr val="8C8C91"/>
              </a:solidFill>
              <a:latin typeface="Arial"/>
            </a:endParaRPr>
          </a:p>
        </p:txBody>
      </p:sp>
      <p:sp>
        <p:nvSpPr>
          <p:cNvPr id="27" name="TextBox 26"/>
          <p:cNvSpPr txBox="1"/>
          <p:nvPr/>
        </p:nvSpPr>
        <p:spPr>
          <a:xfrm>
            <a:off x="230344" y="4056802"/>
            <a:ext cx="2211241" cy="152086"/>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Kirin (</a:t>
            </a:r>
            <a:r>
              <a:rPr sz="442" b="0" i="1" dirty="0" err="1">
                <a:solidFill>
                  <a:srgbClr val="8C8C91"/>
                </a:solidFill>
                <a:latin typeface="Arial"/>
              </a:rPr>
              <a:t>trong</a:t>
            </a:r>
            <a:r>
              <a:rPr sz="442" b="0" i="1" dirty="0">
                <a:solidFill>
                  <a:srgbClr val="8C8C91"/>
                </a:solidFill>
                <a:latin typeface="Arial"/>
              </a:rPr>
              <a:t> pitchbook): </a:t>
            </a:r>
            <a:r>
              <a:rPr sz="442" b="0" i="1" dirty="0" err="1">
                <a:solidFill>
                  <a:srgbClr val="8C8C91"/>
                </a:solidFill>
                <a:latin typeface="Arial"/>
              </a:rPr>
              <a:t>nhà</a:t>
            </a:r>
            <a:r>
              <a:rPr sz="442" b="0" i="1" dirty="0">
                <a:solidFill>
                  <a:srgbClr val="8C8C91"/>
                </a:solidFill>
                <a:latin typeface="Arial"/>
              </a:rPr>
              <a:t> ở 3</a:t>
            </a:r>
            <a:r>
              <a:rPr lang="en-US" sz="442" b="0" i="1" dirty="0">
                <a:solidFill>
                  <a:srgbClr val="8C8C91"/>
                </a:solidFill>
                <a:latin typeface="Arial"/>
              </a:rPr>
              <a:t>-</a:t>
            </a:r>
            <a:r>
              <a:rPr sz="442" b="0" i="1" dirty="0">
                <a:solidFill>
                  <a:srgbClr val="8C8C91"/>
                </a:solidFill>
                <a:latin typeface="Arial"/>
              </a:rPr>
              <a:t>4%, </a:t>
            </a:r>
            <a:r>
              <a:rPr sz="442" b="0" i="1" dirty="0" err="1">
                <a:solidFill>
                  <a:srgbClr val="8C8C91"/>
                </a:solidFill>
                <a:latin typeface="Arial"/>
              </a:rPr>
              <a:t>công</a:t>
            </a:r>
            <a:r>
              <a:rPr sz="442" b="0" i="1" dirty="0">
                <a:solidFill>
                  <a:srgbClr val="8C8C91"/>
                </a:solidFill>
                <a:latin typeface="Arial"/>
              </a:rPr>
              <a:t> </a:t>
            </a:r>
            <a:r>
              <a:rPr sz="442" b="0" i="1" dirty="0" err="1">
                <a:solidFill>
                  <a:srgbClr val="8C8C91"/>
                </a:solidFill>
                <a:latin typeface="Arial"/>
              </a:rPr>
              <a:t>nghiệp</a:t>
            </a:r>
            <a:r>
              <a:rPr sz="442" b="0" i="1" dirty="0">
                <a:solidFill>
                  <a:srgbClr val="8C8C91"/>
                </a:solidFill>
                <a:latin typeface="Arial"/>
              </a:rPr>
              <a:t> </a:t>
            </a:r>
            <a:r>
              <a:rPr sz="442" b="0" i="1" dirty="0" err="1">
                <a:solidFill>
                  <a:srgbClr val="8C8C91"/>
                </a:solidFill>
                <a:latin typeface="Arial"/>
              </a:rPr>
              <a:t>và</a:t>
            </a:r>
            <a:r>
              <a:rPr sz="442" b="0" i="1" dirty="0">
                <a:solidFill>
                  <a:srgbClr val="8C8C91"/>
                </a:solidFill>
                <a:latin typeface="Arial"/>
              </a:rPr>
              <a:t> </a:t>
            </a:r>
            <a:r>
              <a:rPr sz="442" b="0" i="1" dirty="0" err="1">
                <a:solidFill>
                  <a:srgbClr val="8C8C91"/>
                </a:solidFill>
                <a:latin typeface="Arial"/>
              </a:rPr>
              <a:t>hạ</a:t>
            </a:r>
            <a:r>
              <a:rPr sz="442" b="0" i="1" dirty="0">
                <a:solidFill>
                  <a:srgbClr val="8C8C91"/>
                </a:solidFill>
                <a:latin typeface="Arial"/>
              </a:rPr>
              <a:t> </a:t>
            </a:r>
            <a:r>
              <a:rPr sz="442" b="0" i="1" dirty="0" err="1">
                <a:solidFill>
                  <a:srgbClr val="8C8C91"/>
                </a:solidFill>
                <a:latin typeface="Arial"/>
              </a:rPr>
              <a:t>tầng</a:t>
            </a:r>
            <a:r>
              <a:rPr sz="442" b="0" i="1" dirty="0">
                <a:solidFill>
                  <a:srgbClr val="8C8C91"/>
                </a:solidFill>
                <a:latin typeface="Arial"/>
              </a:rPr>
              <a:t> 5</a:t>
            </a:r>
            <a:r>
              <a:rPr lang="en-US" sz="442" b="0" i="1" dirty="0">
                <a:solidFill>
                  <a:srgbClr val="8C8C91"/>
                </a:solidFill>
                <a:latin typeface="Arial"/>
              </a:rPr>
              <a:t>-</a:t>
            </a:r>
            <a:r>
              <a:rPr sz="442" b="0" i="1" dirty="0">
                <a:solidFill>
                  <a:srgbClr val="8C8C91"/>
                </a:solidFill>
                <a:latin typeface="Arial"/>
              </a:rPr>
              <a:t>6.5%;</a:t>
            </a:r>
            <a:endParaRPr lang="en-US" sz="442" b="0" i="1" dirty="0">
              <a:solidFill>
                <a:srgbClr val="8C8C91"/>
              </a:solidFill>
              <a:latin typeface="Arial"/>
            </a:endParaRPr>
          </a:p>
          <a:p>
            <a:pPr algn="l">
              <a:lnSpc>
                <a:spcPts val="552"/>
              </a:lnSpc>
              <a:spcBef>
                <a:spcPts val="0"/>
              </a:spcBef>
              <a:spcAft>
                <a:spcPts val="0"/>
              </a:spcAft>
            </a:pPr>
            <a:r>
              <a:rPr sz="442" b="0" i="1" dirty="0" err="1">
                <a:solidFill>
                  <a:srgbClr val="8C8C91"/>
                </a:solidFill>
                <a:latin typeface="Arial"/>
              </a:rPr>
              <a:t>tính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a:t>
            </a:r>
            <a:r>
              <a:rPr sz="442" b="0" i="1" dirty="0" err="1">
                <a:solidFill>
                  <a:srgbClr val="8C8C91"/>
                </a:solidFill>
                <a:latin typeface="Arial"/>
              </a:rPr>
              <a:t>đường</a:t>
            </a:r>
            <a:r>
              <a:rPr sz="442" b="0" i="1" dirty="0">
                <a:solidFill>
                  <a:srgbClr val="8C8C91"/>
                </a:solidFill>
                <a:latin typeface="Arial"/>
              </a:rPr>
              <a:t> </a:t>
            </a:r>
            <a:r>
              <a:rPr sz="442" b="0" i="1" dirty="0" err="1">
                <a:solidFill>
                  <a:srgbClr val="8C8C91"/>
                </a:solidFill>
                <a:latin typeface="Arial"/>
              </a:rPr>
              <a:t>giữa</a:t>
            </a:r>
            <a:r>
              <a:rPr sz="442" b="0" i="1" dirty="0">
                <a:solidFill>
                  <a:srgbClr val="8C8C91"/>
                </a:solidFill>
                <a:latin typeface="Arial"/>
              </a:rPr>
              <a:t> = 3.5% + 2.25 × </a:t>
            </a:r>
            <a:r>
              <a:rPr sz="442" b="0" i="1" dirty="0" err="1">
                <a:solidFill>
                  <a:srgbClr val="8C8C91"/>
                </a:solidFill>
                <a:latin typeface="Arial"/>
              </a:rPr>
              <a:t>tỷ</a:t>
            </a:r>
            <a:r>
              <a:rPr sz="442" b="0" i="1" dirty="0">
                <a:solidFill>
                  <a:srgbClr val="8C8C91"/>
                </a:solidFill>
                <a:latin typeface="Arial"/>
              </a:rPr>
              <a:t> </a:t>
            </a:r>
            <a:r>
              <a:rPr sz="442" b="0" i="1" dirty="0" err="1">
                <a:solidFill>
                  <a:srgbClr val="8C8C91"/>
                </a:solidFill>
                <a:latin typeface="Arial"/>
              </a:rPr>
              <a:t>trọng</a:t>
            </a:r>
            <a:r>
              <a:rPr sz="442" b="0" i="1" dirty="0">
                <a:solidFill>
                  <a:srgbClr val="8C8C91"/>
                </a:solidFill>
                <a:latin typeface="Arial"/>
              </a:rPr>
              <a:t>).</a:t>
            </a:r>
          </a:p>
        </p:txBody>
      </p:sp>
      <p:sp>
        <p:nvSpPr>
          <p:cNvPr id="28" name="TextBox 27"/>
          <p:cNvSpPr txBox="1"/>
          <p:nvPr/>
        </p:nvSpPr>
        <p:spPr>
          <a:xfrm>
            <a:off x="2456532" y="4374317"/>
            <a:ext cx="4949438"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Tạp</a:t>
            </a:r>
            <a:r>
              <a:rPr sz="442" b="0" i="1" dirty="0">
                <a:solidFill>
                  <a:srgbClr val="8C8C91"/>
                </a:solidFill>
                <a:latin typeface="Arial"/>
              </a:rPr>
              <a:t> </a:t>
            </a:r>
            <a:r>
              <a:rPr sz="442" b="0" i="1" dirty="0" err="1">
                <a:solidFill>
                  <a:srgbClr val="8C8C91"/>
                </a:solidFill>
                <a:latin typeface="Arial"/>
              </a:rPr>
              <a:t>chí</a:t>
            </a:r>
            <a:r>
              <a:rPr sz="442" b="0" i="1" dirty="0">
                <a:solidFill>
                  <a:srgbClr val="8C8C91"/>
                </a:solidFill>
                <a:latin typeface="Arial"/>
              </a:rPr>
              <a:t> </a:t>
            </a:r>
            <a:r>
              <a:rPr sz="442" b="0" i="1" dirty="0" err="1">
                <a:solidFill>
                  <a:srgbClr val="8C8C91"/>
                </a:solidFill>
                <a:latin typeface="Arial"/>
              </a:rPr>
              <a:t>Công</a:t>
            </a:r>
            <a:r>
              <a:rPr sz="442" b="0" i="1" dirty="0">
                <a:solidFill>
                  <a:srgbClr val="8C8C91"/>
                </a:solidFill>
                <a:latin typeface="Arial"/>
              </a:rPr>
              <a:t> </a:t>
            </a:r>
            <a:r>
              <a:rPr sz="442" b="0" i="1" dirty="0" err="1">
                <a:solidFill>
                  <a:srgbClr val="8C8C91"/>
                </a:solidFill>
                <a:latin typeface="Arial"/>
              </a:rPr>
              <a:t>Thương</a:t>
            </a:r>
            <a:r>
              <a:rPr sz="442" b="0" i="1" dirty="0">
                <a:solidFill>
                  <a:srgbClr val="8C8C91"/>
                </a:solidFill>
                <a:latin typeface="Arial"/>
              </a:rPr>
              <a:t>, </a:t>
            </a:r>
            <a:r>
              <a:rPr sz="442" b="0" i="1" dirty="0" err="1">
                <a:solidFill>
                  <a:srgbClr val="8C8C91"/>
                </a:solidFill>
                <a:latin typeface="Arial"/>
              </a:rPr>
              <a:t>TheLeader</a:t>
            </a:r>
            <a:r>
              <a:rPr sz="442" b="0" i="1" dirty="0">
                <a:solidFill>
                  <a:srgbClr val="8C8C91"/>
                </a:solidFill>
                <a:latin typeface="Arial"/>
              </a:rPr>
              <a:t>, </a:t>
            </a:r>
            <a:r>
              <a:rPr sz="442" b="0" i="1" dirty="0" err="1">
                <a:solidFill>
                  <a:srgbClr val="8C8C91"/>
                </a:solidFill>
                <a:latin typeface="Arial"/>
              </a:rPr>
              <a:t>Diễn</a:t>
            </a:r>
            <a:r>
              <a:rPr sz="442" b="0" i="1" dirty="0">
                <a:solidFill>
                  <a:srgbClr val="8C8C91"/>
                </a:solidFill>
                <a:latin typeface="Arial"/>
              </a:rPr>
              <a:t> </a:t>
            </a:r>
            <a:r>
              <a:rPr sz="442" b="0" i="1" dirty="0" err="1">
                <a:solidFill>
                  <a:srgbClr val="8C8C91"/>
                </a:solidFill>
                <a:latin typeface="Arial"/>
              </a:rPr>
              <a:t>đàn</a:t>
            </a:r>
            <a:r>
              <a:rPr sz="442" b="0" i="1" dirty="0">
                <a:solidFill>
                  <a:srgbClr val="8C8C91"/>
                </a:solidFill>
                <a:latin typeface="Arial"/>
              </a:rPr>
              <a:t> </a:t>
            </a:r>
            <a:r>
              <a:rPr sz="442" b="0" i="1" dirty="0" err="1">
                <a:solidFill>
                  <a:srgbClr val="8C8C91"/>
                </a:solidFill>
                <a:latin typeface="Arial"/>
              </a:rPr>
              <a:t>Doanh</a:t>
            </a:r>
            <a:r>
              <a:rPr sz="442" b="0" i="1" dirty="0">
                <a:solidFill>
                  <a:srgbClr val="8C8C91"/>
                </a:solidFill>
                <a:latin typeface="Arial"/>
              </a:rPr>
              <a:t> </a:t>
            </a:r>
            <a:r>
              <a:rPr sz="442" b="0" i="1" dirty="0" err="1">
                <a:solidFill>
                  <a:srgbClr val="8C8C91"/>
                </a:solidFill>
                <a:latin typeface="Arial"/>
              </a:rPr>
              <a:t>nghiệp</a:t>
            </a:r>
            <a:r>
              <a:rPr sz="442" b="0" i="1" dirty="0">
                <a:solidFill>
                  <a:srgbClr val="8C8C91"/>
                </a:solidFill>
                <a:latin typeface="Arial"/>
              </a:rPr>
              <a:t>.</a:t>
            </a:r>
          </a:p>
        </p:txBody>
      </p:sp>
      <p:sp>
        <p:nvSpPr>
          <p:cNvPr id="29" name="TextBox 28"/>
          <p:cNvSpPr txBox="1"/>
          <p:nvPr/>
        </p:nvSpPr>
        <p:spPr>
          <a:xfrm>
            <a:off x="230344" y="4664000"/>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Backlog 70,000 tỷ phủ 2.04x doanh thu </a:t>
            </a:r>
            <a:r>
              <a:rPr sz="465" b="0" i="0">
                <a:solidFill>
                  <a:srgbClr val="8C8C91"/>
                </a:solidFill>
                <a:latin typeface="Arial"/>
              </a:rPr>
              <a:t>(tỷ đồng; x)</a:t>
            </a:r>
          </a:p>
        </p:txBody>
      </p:sp>
      <p:sp>
        <p:nvSpPr>
          <p:cNvPr id="30" name="TextBox 29"/>
          <p:cNvSpPr txBox="1"/>
          <p:nvPr/>
        </p:nvSpPr>
        <p:spPr>
          <a:xfrm>
            <a:off x="230344" y="5440671"/>
            <a:ext cx="2211241" cy="152086"/>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CTD, </a:t>
            </a:r>
            <a:r>
              <a:rPr sz="442" b="0" i="1" dirty="0" err="1">
                <a:solidFill>
                  <a:srgbClr val="8C8C91"/>
                </a:solidFill>
                <a:latin typeface="Arial"/>
              </a:rPr>
              <a:t>mô</a:t>
            </a:r>
            <a:r>
              <a:rPr sz="442" b="0" i="1" dirty="0">
                <a:solidFill>
                  <a:srgbClr val="8C8C91"/>
                </a:solidFill>
                <a:latin typeface="Arial"/>
              </a:rPr>
              <a:t> </a:t>
            </a:r>
            <a:r>
              <a:rPr sz="442" b="0" i="1" dirty="0" err="1">
                <a:solidFill>
                  <a:srgbClr val="8C8C91"/>
                </a:solidFill>
                <a:latin typeface="Arial"/>
              </a:rPr>
              <a:t>hình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a:t>
            </a:r>
            <a:r>
              <a:rPr sz="442" b="0" i="1" dirty="0" err="1">
                <a:solidFill>
                  <a:srgbClr val="8C8C91"/>
                </a:solidFill>
                <a:latin typeface="Arial"/>
              </a:rPr>
              <a:t>hợp</a:t>
            </a:r>
            <a:r>
              <a:rPr sz="442" b="0" i="1" dirty="0">
                <a:solidFill>
                  <a:srgbClr val="8C8C91"/>
                </a:solidFill>
                <a:latin typeface="Arial"/>
              </a:rPr>
              <a:t> </a:t>
            </a:r>
            <a:r>
              <a:rPr sz="442" b="0" i="1" dirty="0" err="1">
                <a:solidFill>
                  <a:srgbClr val="8C8C91"/>
                </a:solidFill>
                <a:latin typeface="Arial"/>
              </a:rPr>
              <a:t>đồng</a:t>
            </a:r>
            <a:r>
              <a:rPr sz="442" b="0" i="1" dirty="0">
                <a:solidFill>
                  <a:srgbClr val="8C8C91"/>
                </a:solidFill>
                <a:latin typeface="Arial"/>
              </a:rPr>
              <a:t> </a:t>
            </a:r>
            <a:r>
              <a:rPr sz="442" b="0" i="1" dirty="0" err="1">
                <a:solidFill>
                  <a:srgbClr val="8C8C91"/>
                </a:solidFill>
                <a:latin typeface="Arial"/>
              </a:rPr>
              <a:t>mới</a:t>
            </a:r>
            <a:r>
              <a:rPr sz="442" b="0" i="1" dirty="0">
                <a:solidFill>
                  <a:srgbClr val="8C8C91"/>
                </a:solidFill>
                <a:latin typeface="Arial"/>
              </a:rPr>
              <a:t> 45</a:t>
            </a:r>
            <a:r>
              <a:rPr lang="en-US" sz="442" b="0" i="1" dirty="0">
                <a:solidFill>
                  <a:srgbClr val="8C8C91"/>
                </a:solidFill>
                <a:latin typeface="Arial"/>
              </a:rPr>
              <a:t>-</a:t>
            </a:r>
            <a:r>
              <a:rPr sz="442" b="0" i="1" dirty="0">
                <a:solidFill>
                  <a:srgbClr val="8C8C91"/>
                </a:solidFill>
                <a:latin typeface="Arial"/>
              </a:rPr>
              <a:t>50 </a:t>
            </a:r>
            <a:r>
              <a:rPr sz="442" b="0" i="1" dirty="0" err="1">
                <a:solidFill>
                  <a:srgbClr val="8C8C91"/>
                </a:solidFill>
                <a:latin typeface="Arial"/>
              </a:rPr>
              <a:t>nghìn</a:t>
            </a:r>
            <a:r>
              <a:rPr sz="442" b="0" i="1" dirty="0">
                <a:solidFill>
                  <a:srgbClr val="8C8C91"/>
                </a:solidFill>
                <a:latin typeface="Arial"/>
              </a:rPr>
              <a:t> </a:t>
            </a:r>
            <a:r>
              <a:rPr sz="442" b="0" i="1" dirty="0" err="1">
                <a:solidFill>
                  <a:srgbClr val="8C8C91"/>
                </a:solidFill>
                <a:latin typeface="Arial"/>
              </a:rPr>
              <a:t>tỷ</a:t>
            </a:r>
            <a:r>
              <a:rPr sz="442" b="0" i="1" dirty="0">
                <a:solidFill>
                  <a:srgbClr val="8C8C91"/>
                </a:solidFill>
                <a:latin typeface="Arial"/>
              </a:rPr>
              <a:t>/</a:t>
            </a:r>
            <a:r>
              <a:rPr sz="442" b="0" i="1" dirty="0" err="1">
                <a:solidFill>
                  <a:srgbClr val="8C8C91"/>
                </a:solidFill>
                <a:latin typeface="Arial"/>
              </a:rPr>
              <a:t>năm</a:t>
            </a:r>
            <a:r>
              <a:rPr sz="442" b="0" i="1" dirty="0">
                <a:solidFill>
                  <a:srgbClr val="8C8C91"/>
                </a:solidFill>
                <a:latin typeface="Arial"/>
              </a:rPr>
              <a:t>, </a:t>
            </a:r>
            <a:r>
              <a:rPr sz="442" b="0" i="1" dirty="0" err="1">
                <a:solidFill>
                  <a:srgbClr val="8C8C91"/>
                </a:solidFill>
                <a:latin typeface="Arial"/>
              </a:rPr>
              <a:t>thấp</a:t>
            </a:r>
            <a:r>
              <a:rPr sz="442" b="0" i="1" dirty="0">
                <a:solidFill>
                  <a:srgbClr val="8C8C91"/>
                </a:solidFill>
                <a:latin typeface="Arial"/>
              </a:rPr>
              <a:t> </a:t>
            </a:r>
            <a:r>
              <a:rPr sz="442" b="0" i="1" dirty="0" err="1">
                <a:solidFill>
                  <a:srgbClr val="8C8C91"/>
                </a:solidFill>
                <a:latin typeface="Arial"/>
              </a:rPr>
              <a:t>hơn</a:t>
            </a:r>
            <a:r>
              <a:rPr sz="442" b="0" i="1" dirty="0">
                <a:solidFill>
                  <a:srgbClr val="8C8C91"/>
                </a:solidFill>
                <a:latin typeface="Arial"/>
              </a:rPr>
              <a:t> ~69 </a:t>
            </a:r>
            <a:r>
              <a:rPr sz="442" b="0" i="1" dirty="0" err="1">
                <a:solidFill>
                  <a:srgbClr val="8C8C91"/>
                </a:solidFill>
                <a:latin typeface="Arial"/>
              </a:rPr>
              <a:t>nghìn</a:t>
            </a:r>
            <a:r>
              <a:rPr sz="442" b="0" i="1" dirty="0">
                <a:solidFill>
                  <a:srgbClr val="8C8C91"/>
                </a:solidFill>
                <a:latin typeface="Arial"/>
              </a:rPr>
              <a:t> </a:t>
            </a:r>
            <a:r>
              <a:rPr sz="442" b="0" i="1" dirty="0" err="1">
                <a:solidFill>
                  <a:srgbClr val="8C8C91"/>
                </a:solidFill>
                <a:latin typeface="Arial"/>
              </a:rPr>
              <a:t>tỷ</a:t>
            </a:r>
            <a:r>
              <a:rPr sz="442" b="0" i="1" dirty="0">
                <a:solidFill>
                  <a:srgbClr val="8C8C91"/>
                </a:solidFill>
                <a:latin typeface="Arial"/>
              </a:rPr>
              <a:t> </a:t>
            </a:r>
            <a:r>
              <a:rPr sz="442" b="0" i="1" dirty="0" err="1">
                <a:solidFill>
                  <a:srgbClr val="8C8C91"/>
                </a:solidFill>
                <a:latin typeface="Arial"/>
              </a:rPr>
              <a:t>của</a:t>
            </a:r>
            <a:r>
              <a:rPr sz="442" b="0" i="1" dirty="0">
                <a:solidFill>
                  <a:srgbClr val="8C8C91"/>
                </a:solidFill>
                <a:latin typeface="Arial"/>
              </a:rPr>
              <a:t> FY26).</a:t>
            </a:r>
          </a:p>
        </p:txBody>
      </p:sp>
      <p:sp>
        <p:nvSpPr>
          <p:cNvPr id="31" name="TextBox 30"/>
          <p:cNvSpPr txBox="1"/>
          <p:nvPr/>
        </p:nvSpPr>
        <p:spPr>
          <a:xfrm>
            <a:off x="230344" y="5622289"/>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LNST ba kịch bản </a:t>
            </a:r>
            <a:r>
              <a:rPr sz="465" b="0" i="0">
                <a:solidFill>
                  <a:srgbClr val="8C8C91"/>
                </a:solidFill>
                <a:latin typeface="Arial"/>
              </a:rPr>
              <a:t>(tỷ đồng)</a:t>
            </a:r>
          </a:p>
        </p:txBody>
      </p:sp>
      <p:sp>
        <p:nvSpPr>
          <p:cNvPr id="32" name="TextBox 31"/>
          <p:cNvSpPr txBox="1"/>
          <p:nvPr/>
        </p:nvSpPr>
        <p:spPr>
          <a:xfrm>
            <a:off x="230344" y="6422585"/>
            <a:ext cx="2211241" cy="81949"/>
          </a:xfrm>
          <a:prstGeom prst="rect">
            <a:avLst/>
          </a:prstGeom>
          <a:noFill/>
        </p:spPr>
        <p:txBody>
          <a:bodyPr wrap="square" lIns="0" tIns="0" rIns="0" bIns="0" anchor="t"/>
          <a:lstStyle/>
          <a:p>
            <a:pPr algn="l">
              <a:lnSpc>
                <a:spcPts val="552"/>
              </a:lnSpc>
              <a:spcBef>
                <a:spcPts val="0"/>
              </a:spcBef>
              <a:spcAft>
                <a:spcPts val="0"/>
              </a:spcAft>
            </a:pPr>
            <a:r>
              <a:rPr sz="442" b="0" i="1" dirty="0" err="1">
                <a:solidFill>
                  <a:srgbClr val="8C8C91"/>
                </a:solidFill>
                <a:latin typeface="Arial"/>
              </a:rPr>
              <a:t>Nguồn</a:t>
            </a:r>
            <a:r>
              <a:rPr sz="442" b="0" i="1" dirty="0">
                <a:solidFill>
                  <a:srgbClr val="8C8C91"/>
                </a:solidFill>
                <a:latin typeface="Arial"/>
              </a:rPr>
              <a:t>: </a:t>
            </a:r>
            <a:r>
              <a:rPr sz="442" b="0" i="1" dirty="0" err="1">
                <a:solidFill>
                  <a:srgbClr val="8C8C91"/>
                </a:solidFill>
                <a:latin typeface="Arial"/>
              </a:rPr>
              <a:t>mô</a:t>
            </a:r>
            <a:r>
              <a:rPr sz="442" b="0" i="1" dirty="0">
                <a:solidFill>
                  <a:srgbClr val="8C8C91"/>
                </a:solidFill>
                <a:latin typeface="Arial"/>
              </a:rPr>
              <a:t> </a:t>
            </a:r>
            <a:r>
              <a:rPr sz="442" b="0" i="1" dirty="0" err="1">
                <a:solidFill>
                  <a:srgbClr val="8C8C91"/>
                </a:solidFill>
                <a:latin typeface="Arial"/>
              </a:rPr>
              <a:t>hình</a:t>
            </a:r>
            <a:r>
              <a:rPr sz="442" b="0" i="1" dirty="0">
                <a:solidFill>
                  <a:srgbClr val="8C8C91"/>
                </a:solidFill>
                <a:latin typeface="Arial"/>
              </a:rPr>
              <a:t> </a:t>
            </a:r>
            <a:r>
              <a:rPr sz="442" b="0" i="1" dirty="0" err="1">
                <a:solidFill>
                  <a:srgbClr val="8C8C91"/>
                </a:solidFill>
                <a:latin typeface="Arial"/>
              </a:rPr>
              <a:t>nhóm</a:t>
            </a:r>
            <a:r>
              <a:rPr sz="442" b="0" i="1" dirty="0">
                <a:solidFill>
                  <a:srgbClr val="8C8C91"/>
                </a:solidFill>
                <a:latin typeface="Arial"/>
              </a:rPr>
              <a:t>. </a:t>
            </a:r>
            <a:r>
              <a:rPr sz="442" b="0" i="1" dirty="0" err="1">
                <a:solidFill>
                  <a:srgbClr val="8C8C91"/>
                </a:solidFill>
                <a:latin typeface="Arial"/>
              </a:rPr>
              <a:t>Biên</a:t>
            </a:r>
            <a:r>
              <a:rPr sz="442" b="0" i="1" dirty="0">
                <a:solidFill>
                  <a:srgbClr val="8C8C91"/>
                </a:solidFill>
                <a:latin typeface="Arial"/>
              </a:rPr>
              <a:t> </a:t>
            </a:r>
            <a:r>
              <a:rPr sz="442" b="0" i="1" dirty="0" err="1">
                <a:solidFill>
                  <a:srgbClr val="8C8C91"/>
                </a:solidFill>
                <a:latin typeface="Arial"/>
              </a:rPr>
              <a:t>gộp</a:t>
            </a:r>
            <a:r>
              <a:rPr sz="442" b="0" i="1" dirty="0">
                <a:solidFill>
                  <a:srgbClr val="8C8C91"/>
                </a:solidFill>
                <a:latin typeface="Arial"/>
              </a:rPr>
              <a:t> </a:t>
            </a:r>
            <a:r>
              <a:rPr sz="442" b="0" i="1" dirty="0" err="1">
                <a:solidFill>
                  <a:srgbClr val="8C8C91"/>
                </a:solidFill>
                <a:latin typeface="Arial"/>
              </a:rPr>
              <a:t>thấp</a:t>
            </a:r>
            <a:r>
              <a:rPr sz="442" b="0" i="1" dirty="0">
                <a:solidFill>
                  <a:srgbClr val="8C8C91"/>
                </a:solidFill>
                <a:latin typeface="Arial"/>
              </a:rPr>
              <a:t> 4.1</a:t>
            </a:r>
            <a:r>
              <a:rPr lang="en-US" sz="442" b="0" i="1" dirty="0">
                <a:solidFill>
                  <a:srgbClr val="8C8C91"/>
                </a:solidFill>
                <a:latin typeface="Arial"/>
              </a:rPr>
              <a:t>-</a:t>
            </a:r>
            <a:r>
              <a:rPr sz="442" b="0" i="1" dirty="0">
                <a:solidFill>
                  <a:srgbClr val="8C8C91"/>
                </a:solidFill>
                <a:latin typeface="Arial"/>
              </a:rPr>
              <a:t>4.2%, </a:t>
            </a:r>
            <a:r>
              <a:rPr sz="442" b="0" i="1" dirty="0" err="1">
                <a:solidFill>
                  <a:srgbClr val="8C8C91"/>
                </a:solidFill>
                <a:latin typeface="Arial"/>
              </a:rPr>
              <a:t>cơ</a:t>
            </a:r>
            <a:r>
              <a:rPr sz="442" b="0" i="1" dirty="0">
                <a:solidFill>
                  <a:srgbClr val="8C8C91"/>
                </a:solidFill>
                <a:latin typeface="Arial"/>
              </a:rPr>
              <a:t> </a:t>
            </a:r>
            <a:r>
              <a:rPr sz="442" b="0" i="1" dirty="0" err="1">
                <a:solidFill>
                  <a:srgbClr val="8C8C91"/>
                </a:solidFill>
                <a:latin typeface="Arial"/>
              </a:rPr>
              <a:t>sở</a:t>
            </a:r>
            <a:r>
              <a:rPr sz="442" b="0" i="1" dirty="0">
                <a:solidFill>
                  <a:srgbClr val="8C8C91"/>
                </a:solidFill>
                <a:latin typeface="Arial"/>
              </a:rPr>
              <a:t> 4.45%, </a:t>
            </a:r>
            <a:r>
              <a:rPr sz="442" b="0" i="1" dirty="0" err="1">
                <a:solidFill>
                  <a:srgbClr val="8C8C91"/>
                </a:solidFill>
                <a:latin typeface="Arial"/>
              </a:rPr>
              <a:t>cao</a:t>
            </a:r>
            <a:r>
              <a:rPr sz="442" b="0" i="1" dirty="0">
                <a:solidFill>
                  <a:srgbClr val="8C8C91"/>
                </a:solidFill>
                <a:latin typeface="Arial"/>
              </a:rPr>
              <a:t> 4.6</a:t>
            </a:r>
            <a:r>
              <a:rPr lang="en-US" sz="442" b="0" i="1" dirty="0">
                <a:solidFill>
                  <a:srgbClr val="8C8C91"/>
                </a:solidFill>
                <a:latin typeface="Arial"/>
              </a:rPr>
              <a:t>-</a:t>
            </a:r>
            <a:r>
              <a:rPr sz="442" b="0" i="1" dirty="0">
                <a:solidFill>
                  <a:srgbClr val="8C8C91"/>
                </a:solidFill>
                <a:latin typeface="Arial"/>
              </a:rPr>
              <a:t>5.0%.</a:t>
            </a:r>
          </a:p>
        </p:txBody>
      </p:sp>
      <p:sp>
        <p:nvSpPr>
          <p:cNvPr id="33" name="TextBox 32"/>
          <p:cNvSpPr txBox="1"/>
          <p:nvPr/>
        </p:nvSpPr>
        <p:spPr>
          <a:xfrm>
            <a:off x="2451094" y="6603280"/>
            <a:ext cx="4949438" cy="81949"/>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¹ Lịch sử gồm thu nhập tài chính ròng; dự phóng = lợi nhuận gộp − SG&amp;A + 60 tỷ thu nhập khác, trước thu nhập tài chính. ² Tiền + tiền gửi − vay. Nguồn: BCTC CTD (Vietcap), mô hình nhóm.</a:t>
            </a:r>
          </a:p>
        </p:txBody>
      </p:sp>
      <p:sp>
        <p:nvSpPr>
          <p:cNvPr id="34" name="TextBox 33"/>
          <p:cNvSpPr txBox="1"/>
          <p:nvPr/>
        </p:nvSpPr>
        <p:spPr>
          <a:xfrm>
            <a:off x="230344" y="6862417"/>
            <a:ext cx="7170188"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Football field: giá mục tiêu nằm giữa vùng P/E, P/B, nhóm so sánh và DCF </a:t>
            </a:r>
            <a:r>
              <a:rPr sz="465" b="0" i="0">
                <a:solidFill>
                  <a:srgbClr val="8C8C91"/>
                </a:solidFill>
                <a:latin typeface="Arial"/>
              </a:rPr>
              <a:t>(nghìn đồng/cổ phiếu)</a:t>
            </a:r>
          </a:p>
        </p:txBody>
      </p:sp>
      <p:sp>
        <p:nvSpPr>
          <p:cNvPr id="35" name="TextBox 34"/>
          <p:cNvSpPr txBox="1"/>
          <p:nvPr/>
        </p:nvSpPr>
        <p:spPr>
          <a:xfrm>
            <a:off x="230344" y="7993463"/>
            <a:ext cx="7170188" cy="81949"/>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mô hình nhóm; đồng thuận 9 báo cáo (tổng hợp thứ cấp, chưa kiểm chứng từng báo cáo). DCF cơ sở coi ứng trước là vốn lưu động hoạt động (0% nợ).</a:t>
            </a:r>
          </a:p>
        </p:txBody>
      </p:sp>
      <p:sp>
        <p:nvSpPr>
          <p:cNvPr id="36" name="TextBox 35"/>
          <p:cNvSpPr txBox="1"/>
          <p:nvPr/>
        </p:nvSpPr>
        <p:spPr>
          <a:xfrm>
            <a:off x="230344" y="8104944"/>
            <a:ext cx="2211241" cy="132891"/>
          </a:xfrm>
          <a:prstGeom prst="rect">
            <a:avLst/>
          </a:prstGeom>
          <a:noFill/>
        </p:spPr>
        <p:txBody>
          <a:bodyPr wrap="square" lIns="0" tIns="0" rIns="0" bIns="0" anchor="t"/>
          <a:lstStyle/>
          <a:p>
            <a:pPr algn="l">
              <a:lnSpc>
                <a:spcPts val="756"/>
              </a:lnSpc>
              <a:spcBef>
                <a:spcPts val="0"/>
              </a:spcBef>
              <a:spcAft>
                <a:spcPts val="0"/>
              </a:spcAft>
            </a:pPr>
            <a:r>
              <a:rPr sz="605" b="1" i="0">
                <a:solidFill>
                  <a:srgbClr val="3A3A3E"/>
                </a:solidFill>
                <a:latin typeface="Arial"/>
              </a:rPr>
              <a:t>Stress: % ứng trước coi là nợ → giá mục tiêu </a:t>
            </a:r>
            <a:r>
              <a:rPr sz="465" b="0" i="0">
                <a:solidFill>
                  <a:srgbClr val="8C8C91"/>
                </a:solidFill>
                <a:latin typeface="Arial"/>
              </a:rPr>
              <a:t>(nghìn đồng)</a:t>
            </a:r>
          </a:p>
        </p:txBody>
      </p:sp>
      <p:sp>
        <p:nvSpPr>
          <p:cNvPr id="37" name="TextBox 36"/>
          <p:cNvSpPr txBox="1"/>
          <p:nvPr/>
        </p:nvSpPr>
        <p:spPr>
          <a:xfrm>
            <a:off x="230344" y="8952491"/>
            <a:ext cx="2211241" cy="152086"/>
          </a:xfrm>
          <a:prstGeom prst="rect">
            <a:avLst/>
          </a:prstGeom>
          <a:noFill/>
        </p:spPr>
        <p:txBody>
          <a:bodyPr wrap="square" lIns="0" tIns="0" rIns="0" bIns="0" anchor="t"/>
          <a:lstStyle/>
          <a:p>
            <a:pPr algn="l">
              <a:lnSpc>
                <a:spcPts val="552"/>
              </a:lnSpc>
              <a:spcBef>
                <a:spcPts val="0"/>
              </a:spcBef>
              <a:spcAft>
                <a:spcPts val="0"/>
              </a:spcAft>
            </a:pPr>
            <a:r>
              <a:rPr sz="442" b="0" i="1">
                <a:solidFill>
                  <a:srgbClr val="8C8C91"/>
                </a:solidFill>
                <a:latin typeface="Arial"/>
              </a:rPr>
              <a:t>Nguồn: mô hình nhóm; giá mục tiêu = 30% P/E + 30% P/B + 40% DCF tương ứng. Tornado ở phụ lục.</a:t>
            </a:r>
          </a:p>
        </p:txBody>
      </p:sp>
      <p:sp>
        <p:nvSpPr>
          <p:cNvPr id="38" name="TextBox 37"/>
          <p:cNvSpPr txBox="1"/>
          <p:nvPr/>
        </p:nvSpPr>
        <p:spPr>
          <a:xfrm>
            <a:off x="2451094" y="1097086"/>
            <a:ext cx="4949438" cy="1113328"/>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sz="605" b="1" i="0" dirty="0">
                <a:solidFill>
                  <a:srgbClr val="3A3A3E"/>
                </a:solidFill>
                <a:latin typeface="Arial"/>
              </a:rPr>
              <a:t>FDI</a:t>
            </a:r>
            <a:r>
              <a:rPr lang="en-US" sz="605" b="1" i="0" dirty="0">
                <a:solidFill>
                  <a:srgbClr val="3A3A3E"/>
                </a:solidFill>
                <a:latin typeface="Arial"/>
              </a:rPr>
              <a:t> </a:t>
            </a:r>
            <a:r>
              <a:rPr lang="en-US" sz="605" b="1" i="0" dirty="0" err="1">
                <a:solidFill>
                  <a:srgbClr val="3A3A3E"/>
                </a:solidFill>
                <a:latin typeface="Arial"/>
              </a:rPr>
              <a:t>và</a:t>
            </a:r>
            <a:r>
              <a:rPr lang="en-US" sz="605" b="1" i="0" dirty="0">
                <a:solidFill>
                  <a:srgbClr val="3A3A3E"/>
                </a:solidFill>
                <a:latin typeface="Arial"/>
              </a:rPr>
              <a:t> </a:t>
            </a:r>
            <a:r>
              <a:rPr lang="en-US" sz="605" b="1" i="0" dirty="0" err="1">
                <a:solidFill>
                  <a:srgbClr val="3A3A3E"/>
                </a:solidFill>
                <a:latin typeface="Arial"/>
              </a:rPr>
              <a:t>xây</a:t>
            </a:r>
            <a:r>
              <a:rPr lang="en-US" sz="605" b="1" i="0" dirty="0">
                <a:solidFill>
                  <a:srgbClr val="3A3A3E"/>
                </a:solidFill>
                <a:latin typeface="Arial"/>
              </a:rPr>
              <a:t> </a:t>
            </a:r>
            <a:r>
              <a:rPr lang="en-US" sz="605" b="1" i="0" dirty="0" err="1">
                <a:solidFill>
                  <a:srgbClr val="3A3A3E"/>
                </a:solidFill>
                <a:latin typeface="Arial"/>
              </a:rPr>
              <a:t>dựng</a:t>
            </a:r>
            <a:r>
              <a:rPr lang="en-US" sz="605" b="1" i="0" dirty="0">
                <a:solidFill>
                  <a:srgbClr val="3A3A3E"/>
                </a:solidFill>
                <a:latin typeface="Arial"/>
              </a:rPr>
              <a:t> </a:t>
            </a:r>
            <a:r>
              <a:rPr lang="en-US" sz="605" b="1" i="0" dirty="0" err="1">
                <a:solidFill>
                  <a:srgbClr val="3A3A3E"/>
                </a:solidFill>
                <a:latin typeface="Arial"/>
              </a:rPr>
              <a:t>công</a:t>
            </a:r>
            <a:r>
              <a:rPr lang="en-US" sz="605" b="1" i="0" dirty="0">
                <a:solidFill>
                  <a:srgbClr val="3A3A3E"/>
                </a:solidFill>
                <a:latin typeface="Arial"/>
              </a:rPr>
              <a:t> </a:t>
            </a:r>
            <a:r>
              <a:rPr lang="en-US" sz="605" b="1" i="0" dirty="0" err="1">
                <a:solidFill>
                  <a:srgbClr val="3A3A3E"/>
                </a:solidFill>
                <a:latin typeface="Arial"/>
              </a:rPr>
              <a:t>nghiệp</a:t>
            </a:r>
            <a:r>
              <a:rPr sz="605" b="1" i="0" dirty="0">
                <a:solidFill>
                  <a:srgbClr val="3A3A3E"/>
                </a:solidFill>
                <a:latin typeface="Arial"/>
              </a:rPr>
              <a:t> </a:t>
            </a:r>
            <a:r>
              <a:rPr sz="605" b="1" i="0" dirty="0" err="1">
                <a:solidFill>
                  <a:srgbClr val="3A3A3E"/>
                </a:solidFill>
                <a:latin typeface="Arial"/>
              </a:rPr>
              <a:t>là</a:t>
            </a:r>
            <a:r>
              <a:rPr lang="en-US" sz="605" b="1" dirty="0">
                <a:solidFill>
                  <a:srgbClr val="3A3A3E"/>
                </a:solidFill>
                <a:latin typeface="Arial"/>
              </a:rPr>
              <a:t> </a:t>
            </a:r>
            <a:r>
              <a:rPr lang="en-US" sz="605" b="1" dirty="0" err="1">
                <a:solidFill>
                  <a:srgbClr val="3A3A3E"/>
                </a:solidFill>
                <a:latin typeface="Arial"/>
              </a:rPr>
              <a:t>động</a:t>
            </a:r>
            <a:r>
              <a:rPr lang="en-US" sz="605" b="1" dirty="0">
                <a:solidFill>
                  <a:srgbClr val="3A3A3E"/>
                </a:solidFill>
                <a:latin typeface="Arial"/>
              </a:rPr>
              <a:t> </a:t>
            </a:r>
            <a:r>
              <a:rPr lang="en-US" sz="605" b="1" dirty="0" err="1">
                <a:solidFill>
                  <a:srgbClr val="3A3A3E"/>
                </a:solidFill>
                <a:latin typeface="Arial"/>
              </a:rPr>
              <a:t>lực</a:t>
            </a:r>
            <a:r>
              <a:rPr lang="en-US" sz="605" b="1" dirty="0">
                <a:solidFill>
                  <a:srgbClr val="3A3A3E"/>
                </a:solidFill>
                <a:latin typeface="Arial"/>
              </a:rPr>
              <a:t> </a:t>
            </a:r>
            <a:r>
              <a:rPr lang="en-US" sz="605" b="1" dirty="0" err="1">
                <a:solidFill>
                  <a:srgbClr val="3A3A3E"/>
                </a:solidFill>
                <a:latin typeface="Arial"/>
              </a:rPr>
              <a:t>tăng</a:t>
            </a:r>
            <a:r>
              <a:rPr lang="en-US" sz="605" b="1" dirty="0">
                <a:solidFill>
                  <a:srgbClr val="3A3A3E"/>
                </a:solidFill>
                <a:latin typeface="Arial"/>
              </a:rPr>
              <a:t> </a:t>
            </a:r>
            <a:r>
              <a:rPr lang="en-US" sz="605" b="1" dirty="0" err="1">
                <a:solidFill>
                  <a:srgbClr val="3A3A3E"/>
                </a:solidFill>
                <a:latin typeface="Arial"/>
              </a:rPr>
              <a:t>trưởng</a:t>
            </a:r>
            <a:r>
              <a:rPr sz="605" b="1" i="0" dirty="0">
                <a:solidFill>
                  <a:srgbClr val="3A3A3E"/>
                </a:solidFill>
                <a:latin typeface="Arial"/>
              </a:rPr>
              <a:t>:</a:t>
            </a:r>
            <a:r>
              <a:rPr sz="605" b="0" i="0" dirty="0">
                <a:solidFill>
                  <a:srgbClr val="2B2B2E"/>
                </a:solidFill>
                <a:latin typeface="Arial"/>
              </a:rPr>
              <a:t> </a:t>
            </a:r>
            <a:r>
              <a:rPr lang="vi-VN" sz="605" b="0" i="0" dirty="0">
                <a:solidFill>
                  <a:srgbClr val="2B2B2E"/>
                </a:solidFill>
                <a:latin typeface="Arial"/>
              </a:rPr>
              <a:t>Doanh thu </a:t>
            </a:r>
            <a:r>
              <a:rPr lang="en-US" sz="605" b="0" i="0" dirty="0">
                <a:solidFill>
                  <a:srgbClr val="2B2B2E"/>
                </a:solidFill>
                <a:latin typeface="Arial"/>
              </a:rPr>
              <a:t>2025 </a:t>
            </a:r>
            <a:r>
              <a:rPr lang="vi-VN" sz="605" b="0" i="0" dirty="0">
                <a:solidFill>
                  <a:srgbClr val="2B2B2E"/>
                </a:solidFill>
                <a:latin typeface="Arial"/>
              </a:rPr>
              <a:t>của Coteccons được định hình vững chắc bởi mảng công nghiệp FDI chiếm khoảng </a:t>
            </a:r>
            <a:r>
              <a:rPr lang="vi-VN" sz="605" b="1" i="0" dirty="0">
                <a:solidFill>
                  <a:srgbClr val="C00000"/>
                </a:solidFill>
                <a:latin typeface="Arial"/>
              </a:rPr>
              <a:t>50% tổng doanh thu</a:t>
            </a:r>
            <a:r>
              <a:rPr lang="vi-VN" sz="605" b="0" i="0" dirty="0">
                <a:solidFill>
                  <a:srgbClr val="2B2B2E"/>
                </a:solidFill>
                <a:latin typeface="Arial"/>
              </a:rPr>
              <a:t>, tiếp đến là mảng xây dựng chiếm khoảng 45%, còn lại mảng khách sạn - nghỉ dưỡng đóng góp khoảng 5%. Triển vọng tăng trưởng trung hạn của CTD được củng cố khi mảng xây lắp công nghiệp tăng trưởng đồng pha với chu kỳ giải ngân vốn FDI toàn quốc — dự báo tăng từ 27,6 tỷ USD lên 33,4 tỷ USD trong giai đoạn 2025-2027F </a:t>
            </a:r>
            <a:r>
              <a:rPr lang="vi-VN" sz="605" b="1" i="0" dirty="0">
                <a:solidFill>
                  <a:srgbClr val="3A3A3E"/>
                </a:solidFill>
                <a:latin typeface="Arial"/>
              </a:rPr>
              <a:t>Lợi thế dẫn đầu và hồ sơ trúng thầu</a:t>
            </a:r>
            <a:r>
              <a:rPr lang="en-US" sz="605" b="1" dirty="0">
                <a:solidFill>
                  <a:srgbClr val="3A3A3E"/>
                </a:solidFill>
                <a:latin typeface="Arial"/>
              </a:rPr>
              <a:t> </a:t>
            </a:r>
            <a:r>
              <a:rPr lang="en-US" sz="605" b="1" dirty="0" err="1">
                <a:solidFill>
                  <a:srgbClr val="3A3A3E"/>
                </a:solidFill>
                <a:latin typeface="Arial"/>
              </a:rPr>
              <a:t>với</a:t>
            </a:r>
            <a:r>
              <a:rPr lang="vi-VN" sz="605" b="0" i="0" dirty="0">
                <a:solidFill>
                  <a:srgbClr val="2B2B2E"/>
                </a:solidFill>
                <a:latin typeface="Arial"/>
              </a:rPr>
              <a:t> kinh nghiệm trúng thầu quá khứ với các tập đoàn nước ngoài và vị thế đi đầu trong công trình FDI</a:t>
            </a:r>
            <a:endParaRPr lang="en-US" sz="605" b="0" i="0" dirty="0">
              <a:solidFill>
                <a:srgbClr val="2B2B2E"/>
              </a:solidFill>
              <a:latin typeface="Arial"/>
            </a:endParaRPr>
          </a:p>
          <a:p>
            <a:pPr marL="82687" indent="-82687" algn="l">
              <a:lnSpc>
                <a:spcPts val="858"/>
              </a:lnSpc>
              <a:spcBef>
                <a:spcPts val="0"/>
              </a:spcBef>
              <a:spcAft>
                <a:spcPts val="186"/>
              </a:spcAft>
              <a:buClr>
                <a:srgbClr val="E07A86"/>
              </a:buClr>
              <a:buSzPct val="70000"/>
              <a:buFont typeface="Arial"/>
              <a:buChar char="■"/>
            </a:pPr>
            <a:r>
              <a:rPr lang="en-US" sz="605" b="1" i="0" dirty="0" err="1">
                <a:solidFill>
                  <a:srgbClr val="3A3A3E"/>
                </a:solidFill>
                <a:latin typeface="Arial"/>
              </a:rPr>
              <a:t>Tệp</a:t>
            </a:r>
            <a:r>
              <a:rPr lang="en-US" sz="605" b="1" i="0" dirty="0">
                <a:solidFill>
                  <a:srgbClr val="3A3A3E"/>
                </a:solidFill>
                <a:latin typeface="Arial"/>
              </a:rPr>
              <a:t> </a:t>
            </a:r>
            <a:r>
              <a:rPr lang="vi-VN" sz="605" b="1" i="0" dirty="0">
                <a:solidFill>
                  <a:srgbClr val="3A3A3E"/>
                </a:solidFill>
                <a:latin typeface="Arial"/>
              </a:rPr>
              <a:t>khách hàng trung thành </a:t>
            </a:r>
            <a:r>
              <a:rPr lang="en-US" sz="605" b="1" i="0" dirty="0">
                <a:solidFill>
                  <a:srgbClr val="3A3A3E"/>
                </a:solidFill>
                <a:latin typeface="Arial"/>
              </a:rPr>
              <a:t>ở </a:t>
            </a:r>
            <a:r>
              <a:rPr lang="en-US" sz="605" b="1" i="0" dirty="0" err="1">
                <a:solidFill>
                  <a:srgbClr val="3A3A3E"/>
                </a:solidFill>
                <a:latin typeface="Arial"/>
              </a:rPr>
              <a:t>mảng</a:t>
            </a:r>
            <a:r>
              <a:rPr lang="en-US" sz="605" b="1" i="0" dirty="0">
                <a:solidFill>
                  <a:srgbClr val="3A3A3E"/>
                </a:solidFill>
                <a:latin typeface="Arial"/>
              </a:rPr>
              <a:t> </a:t>
            </a:r>
            <a:r>
              <a:rPr lang="en-US" sz="605" b="1" i="0" dirty="0" err="1">
                <a:solidFill>
                  <a:srgbClr val="3A3A3E"/>
                </a:solidFill>
                <a:latin typeface="Arial"/>
              </a:rPr>
              <a:t>thi</a:t>
            </a:r>
            <a:r>
              <a:rPr lang="en-US" sz="605" b="1" i="0" dirty="0">
                <a:solidFill>
                  <a:srgbClr val="3A3A3E"/>
                </a:solidFill>
                <a:latin typeface="Arial"/>
              </a:rPr>
              <a:t> </a:t>
            </a:r>
            <a:r>
              <a:rPr lang="en-US" sz="605" b="1" i="0" dirty="0" err="1">
                <a:solidFill>
                  <a:srgbClr val="3A3A3E"/>
                </a:solidFill>
                <a:latin typeface="Arial"/>
              </a:rPr>
              <a:t>công</a:t>
            </a:r>
            <a:r>
              <a:rPr lang="en-US" sz="605" b="1" i="0" dirty="0">
                <a:solidFill>
                  <a:srgbClr val="3A3A3E"/>
                </a:solidFill>
                <a:latin typeface="Arial"/>
              </a:rPr>
              <a:t> </a:t>
            </a:r>
            <a:r>
              <a:rPr lang="en-US" sz="605" b="1" i="0" dirty="0" err="1">
                <a:solidFill>
                  <a:srgbClr val="3A3A3E"/>
                </a:solidFill>
                <a:latin typeface="Arial"/>
              </a:rPr>
              <a:t>dân</a:t>
            </a:r>
            <a:r>
              <a:rPr lang="en-US" sz="605" b="1" i="0" dirty="0">
                <a:solidFill>
                  <a:srgbClr val="3A3A3E"/>
                </a:solidFill>
                <a:latin typeface="Arial"/>
              </a:rPr>
              <a:t> </a:t>
            </a:r>
            <a:r>
              <a:rPr lang="en-US" sz="605" b="1" i="0" dirty="0" err="1">
                <a:solidFill>
                  <a:srgbClr val="3A3A3E"/>
                </a:solidFill>
                <a:latin typeface="Arial"/>
              </a:rPr>
              <a:t>sự</a:t>
            </a:r>
            <a:r>
              <a:rPr lang="en-US" sz="605" b="1" i="0" dirty="0">
                <a:solidFill>
                  <a:srgbClr val="3A3A3E"/>
                </a:solidFill>
                <a:latin typeface="Arial"/>
              </a:rPr>
              <a:t> </a:t>
            </a:r>
            <a:r>
              <a:rPr lang="en-US" sz="605" b="0" i="0" dirty="0">
                <a:solidFill>
                  <a:srgbClr val="2B2B2E"/>
                </a:solidFill>
                <a:latin typeface="Arial"/>
              </a:rPr>
              <a:t>(</a:t>
            </a:r>
            <a:r>
              <a:rPr lang="en-US" sz="605" b="0" i="0" dirty="0" err="1">
                <a:solidFill>
                  <a:srgbClr val="2B2B2E"/>
                </a:solidFill>
                <a:latin typeface="Arial"/>
              </a:rPr>
              <a:t>Vingroup</a:t>
            </a:r>
            <a:r>
              <a:rPr lang="en-US" sz="605" b="0" i="0" dirty="0">
                <a:solidFill>
                  <a:srgbClr val="2B2B2E"/>
                </a:solidFill>
                <a:latin typeface="Arial"/>
              </a:rPr>
              <a:t>, </a:t>
            </a:r>
            <a:r>
              <a:rPr lang="en-US" sz="605" b="0" i="0" dirty="0" err="1">
                <a:solidFill>
                  <a:srgbClr val="2B2B2E"/>
                </a:solidFill>
                <a:latin typeface="Arial"/>
              </a:rPr>
              <a:t>Masterise</a:t>
            </a:r>
            <a:r>
              <a:rPr lang="en-US" sz="605" b="0" i="0" dirty="0">
                <a:solidFill>
                  <a:srgbClr val="2B2B2E"/>
                </a:solidFill>
                <a:latin typeface="Arial"/>
              </a:rPr>
              <a:t>, </a:t>
            </a:r>
            <a:r>
              <a:rPr lang="en-US" sz="605" b="0" i="0" dirty="0" err="1">
                <a:solidFill>
                  <a:srgbClr val="2B2B2E"/>
                </a:solidFill>
                <a:latin typeface="Arial"/>
              </a:rPr>
              <a:t>Sungroup</a:t>
            </a:r>
            <a:r>
              <a:rPr lang="en-US" sz="605" dirty="0">
                <a:solidFill>
                  <a:srgbClr val="2B2B2E"/>
                </a:solidFill>
                <a:latin typeface="Arial"/>
              </a:rPr>
              <a:t>,…) </a:t>
            </a:r>
            <a:r>
              <a:rPr lang="vi-VN" sz="605" b="0" i="0" dirty="0">
                <a:solidFill>
                  <a:srgbClr val="2B2B2E"/>
                </a:solidFill>
                <a:latin typeface="Arial"/>
              </a:rPr>
              <a:t>với tỷ lệ hợp đồng từ khách hàng cũ (Repeat Sales) </a:t>
            </a:r>
            <a:r>
              <a:rPr lang="vi-VN" sz="605" b="1" i="0" dirty="0">
                <a:solidFill>
                  <a:srgbClr val="C00000"/>
                </a:solidFill>
                <a:latin typeface="Arial"/>
              </a:rPr>
              <a:t>đạt trên 75% </a:t>
            </a:r>
            <a:r>
              <a:rPr lang="vi-VN" sz="605" b="0" i="0" dirty="0">
                <a:solidFill>
                  <a:srgbClr val="2B2B2E"/>
                </a:solidFill>
                <a:latin typeface="Arial"/>
              </a:rPr>
              <a:t>trong </a:t>
            </a:r>
            <a:r>
              <a:rPr lang="en-US" sz="605" b="0" i="0" dirty="0" err="1">
                <a:solidFill>
                  <a:srgbClr val="2B2B2E"/>
                </a:solidFill>
                <a:latin typeface="Arial"/>
              </a:rPr>
              <a:t>trong</a:t>
            </a:r>
            <a:r>
              <a:rPr lang="vi-VN" sz="605" b="0" i="0" dirty="0">
                <a:solidFill>
                  <a:srgbClr val="2B2B2E"/>
                </a:solidFill>
                <a:latin typeface="Arial"/>
              </a:rPr>
              <a:t> niên độ FY2</a:t>
            </a:r>
            <a:r>
              <a:rPr lang="en-US" sz="605" dirty="0">
                <a:solidFill>
                  <a:srgbClr val="2B2B2E"/>
                </a:solidFill>
                <a:latin typeface="Arial"/>
              </a:rPr>
              <a:t>5 </a:t>
            </a:r>
            <a:r>
              <a:rPr lang="en-US" sz="605" dirty="0" err="1">
                <a:solidFill>
                  <a:srgbClr val="2B2B2E"/>
                </a:solidFill>
                <a:latin typeface="Arial"/>
              </a:rPr>
              <a:t>là</a:t>
            </a:r>
            <a:r>
              <a:rPr lang="en-US" sz="605" dirty="0">
                <a:solidFill>
                  <a:srgbClr val="2B2B2E"/>
                </a:solidFill>
                <a:latin typeface="Arial"/>
              </a:rPr>
              <a:t> </a:t>
            </a:r>
            <a:r>
              <a:rPr lang="en-US" sz="605" dirty="0" err="1">
                <a:solidFill>
                  <a:srgbClr val="2B2B2E"/>
                </a:solidFill>
                <a:latin typeface="Arial"/>
              </a:rPr>
              <a:t>bộ</a:t>
            </a:r>
            <a:r>
              <a:rPr lang="en-US" sz="605" dirty="0">
                <a:solidFill>
                  <a:srgbClr val="2B2B2E"/>
                </a:solidFill>
                <a:latin typeface="Arial"/>
              </a:rPr>
              <a:t> </a:t>
            </a:r>
            <a:r>
              <a:rPr lang="en-US" sz="605" dirty="0" err="1">
                <a:solidFill>
                  <a:srgbClr val="2B2B2E"/>
                </a:solidFill>
                <a:latin typeface="Arial"/>
              </a:rPr>
              <a:t>đệm</a:t>
            </a:r>
            <a:r>
              <a:rPr lang="en-US" sz="605" dirty="0">
                <a:solidFill>
                  <a:srgbClr val="2B2B2E"/>
                </a:solidFill>
                <a:latin typeface="Arial"/>
              </a:rPr>
              <a:t> </a:t>
            </a:r>
            <a:r>
              <a:rPr lang="en-US" sz="605" dirty="0" err="1">
                <a:solidFill>
                  <a:srgbClr val="2B2B2E"/>
                </a:solidFill>
                <a:latin typeface="Arial"/>
              </a:rPr>
              <a:t>bảo</a:t>
            </a:r>
            <a:r>
              <a:rPr lang="en-US" sz="605" dirty="0">
                <a:solidFill>
                  <a:srgbClr val="2B2B2E"/>
                </a:solidFill>
                <a:latin typeface="Arial"/>
              </a:rPr>
              <a:t> </a:t>
            </a:r>
            <a:r>
              <a:rPr lang="en-US" sz="605" dirty="0" err="1">
                <a:solidFill>
                  <a:srgbClr val="2B2B2E"/>
                </a:solidFill>
                <a:latin typeface="Arial"/>
              </a:rPr>
              <a:t>toàn</a:t>
            </a:r>
            <a:r>
              <a:rPr lang="en-US" sz="605" dirty="0">
                <a:solidFill>
                  <a:srgbClr val="2B2B2E"/>
                </a:solidFill>
                <a:latin typeface="Arial"/>
              </a:rPr>
              <a:t> </a:t>
            </a:r>
            <a:r>
              <a:rPr lang="en-US" sz="605" dirty="0" err="1">
                <a:solidFill>
                  <a:srgbClr val="2B2B2E"/>
                </a:solidFill>
                <a:latin typeface="Arial"/>
              </a:rPr>
              <a:t>doanh</a:t>
            </a:r>
            <a:r>
              <a:rPr lang="en-US" sz="605" dirty="0">
                <a:solidFill>
                  <a:srgbClr val="2B2B2E"/>
                </a:solidFill>
                <a:latin typeface="Arial"/>
              </a:rPr>
              <a:t> </a:t>
            </a:r>
            <a:r>
              <a:rPr lang="en-US" sz="605" dirty="0" err="1">
                <a:solidFill>
                  <a:srgbClr val="2B2B2E"/>
                </a:solidFill>
                <a:latin typeface="Arial"/>
              </a:rPr>
              <a:t>thu</a:t>
            </a:r>
            <a:r>
              <a:rPr lang="en-US" sz="605" dirty="0">
                <a:solidFill>
                  <a:srgbClr val="2B2B2E"/>
                </a:solidFill>
                <a:latin typeface="Arial"/>
              </a:rPr>
              <a:t> </a:t>
            </a:r>
            <a:r>
              <a:rPr lang="en-US" sz="605" dirty="0" err="1">
                <a:solidFill>
                  <a:srgbClr val="2B2B2E"/>
                </a:solidFill>
                <a:latin typeface="Arial"/>
              </a:rPr>
              <a:t>cho</a:t>
            </a:r>
            <a:r>
              <a:rPr lang="en-US" sz="605" dirty="0">
                <a:solidFill>
                  <a:srgbClr val="2B2B2E"/>
                </a:solidFill>
                <a:latin typeface="Arial"/>
              </a:rPr>
              <a:t> </a:t>
            </a:r>
            <a:r>
              <a:rPr lang="en-US" sz="605" dirty="0" err="1">
                <a:solidFill>
                  <a:srgbClr val="2B2B2E"/>
                </a:solidFill>
                <a:latin typeface="Arial"/>
              </a:rPr>
              <a:t>các</a:t>
            </a:r>
            <a:r>
              <a:rPr lang="en-US" sz="605" dirty="0">
                <a:solidFill>
                  <a:srgbClr val="2B2B2E"/>
                </a:solidFill>
                <a:latin typeface="Arial"/>
              </a:rPr>
              <a:t> </a:t>
            </a:r>
            <a:r>
              <a:rPr lang="en-US" sz="605" dirty="0" err="1">
                <a:solidFill>
                  <a:srgbClr val="2B2B2E"/>
                </a:solidFill>
                <a:latin typeface="Arial"/>
              </a:rPr>
              <a:t>năm</a:t>
            </a:r>
            <a:r>
              <a:rPr lang="en-US" sz="605" dirty="0">
                <a:solidFill>
                  <a:srgbClr val="2B2B2E"/>
                </a:solidFill>
                <a:latin typeface="Arial"/>
              </a:rPr>
              <a:t> </a:t>
            </a:r>
            <a:r>
              <a:rPr lang="en-US" sz="605" dirty="0" err="1">
                <a:solidFill>
                  <a:srgbClr val="2B2B2E"/>
                </a:solidFill>
                <a:latin typeface="Arial"/>
              </a:rPr>
              <a:t>tài</a:t>
            </a:r>
            <a:r>
              <a:rPr lang="en-US" sz="605" dirty="0">
                <a:solidFill>
                  <a:srgbClr val="2B2B2E"/>
                </a:solidFill>
                <a:latin typeface="Arial"/>
              </a:rPr>
              <a:t> </a:t>
            </a:r>
            <a:r>
              <a:rPr lang="en-US" sz="605" dirty="0" err="1">
                <a:solidFill>
                  <a:srgbClr val="2B2B2E"/>
                </a:solidFill>
                <a:latin typeface="Arial"/>
              </a:rPr>
              <a:t>khóa</a:t>
            </a:r>
            <a:r>
              <a:rPr lang="en-US" sz="605" dirty="0">
                <a:solidFill>
                  <a:srgbClr val="2B2B2E"/>
                </a:solidFill>
                <a:latin typeface="Arial"/>
              </a:rPr>
              <a:t> </a:t>
            </a:r>
            <a:r>
              <a:rPr lang="en-US" sz="605" dirty="0" err="1">
                <a:solidFill>
                  <a:srgbClr val="2B2B2E"/>
                </a:solidFill>
                <a:latin typeface="Arial"/>
              </a:rPr>
              <a:t>tiếp</a:t>
            </a:r>
            <a:r>
              <a:rPr lang="en-US" sz="605" dirty="0">
                <a:solidFill>
                  <a:srgbClr val="2B2B2E"/>
                </a:solidFill>
                <a:latin typeface="Arial"/>
              </a:rPr>
              <a:t> </a:t>
            </a:r>
            <a:r>
              <a:rPr lang="en-US" sz="605" dirty="0" err="1">
                <a:solidFill>
                  <a:srgbClr val="2B2B2E"/>
                </a:solidFill>
                <a:latin typeface="Arial"/>
              </a:rPr>
              <a:t>theo.</a:t>
            </a:r>
            <a:endParaRPr sz="605" b="0" i="0" dirty="0">
              <a:solidFill>
                <a:srgbClr val="2B2B2E"/>
              </a:solidFill>
              <a:latin typeface="Arial"/>
            </a:endParaRPr>
          </a:p>
          <a:p>
            <a:pPr marL="82687" indent="-82687" algn="l">
              <a:lnSpc>
                <a:spcPts val="858"/>
              </a:lnSpc>
              <a:spcBef>
                <a:spcPts val="0"/>
              </a:spcBef>
              <a:spcAft>
                <a:spcPts val="186"/>
              </a:spcAft>
              <a:buClr>
                <a:srgbClr val="E07A86"/>
              </a:buClr>
              <a:buSzPct val="70000"/>
              <a:buFont typeface="Arial"/>
              <a:buChar char="■"/>
            </a:pPr>
            <a:r>
              <a:rPr lang="vi-VN" sz="605" b="1" i="0" dirty="0">
                <a:solidFill>
                  <a:srgbClr val="3A3A3E"/>
                </a:solidFill>
                <a:latin typeface="Arial"/>
              </a:rPr>
              <a:t>ESG chuẩn quốc tế là rào cản gia nhập:</a:t>
            </a:r>
            <a:r>
              <a:rPr lang="vi-VN" sz="605" b="0" i="0" dirty="0">
                <a:solidFill>
                  <a:srgbClr val="2B2B2E"/>
                </a:solidFill>
                <a:latin typeface="Arial"/>
              </a:rPr>
              <a:t> </a:t>
            </a:r>
            <a:r>
              <a:rPr lang="en-US" sz="605" b="0" i="0" dirty="0" err="1">
                <a:solidFill>
                  <a:srgbClr val="2B2B2E"/>
                </a:solidFill>
                <a:latin typeface="Arial"/>
              </a:rPr>
              <a:t>C</a:t>
            </a:r>
            <a:r>
              <a:rPr lang="en-US" sz="605" dirty="0" err="1">
                <a:solidFill>
                  <a:srgbClr val="2B2B2E"/>
                </a:solidFill>
                <a:latin typeface="Arial"/>
              </a:rPr>
              <a:t>ác</a:t>
            </a:r>
            <a:r>
              <a:rPr lang="en-US" sz="605" dirty="0">
                <a:solidFill>
                  <a:srgbClr val="2B2B2E"/>
                </a:solidFill>
                <a:latin typeface="Arial"/>
              </a:rPr>
              <a:t> </a:t>
            </a:r>
            <a:r>
              <a:rPr lang="vi-VN" sz="605" b="0" i="0" dirty="0">
                <a:solidFill>
                  <a:srgbClr val="2B2B2E"/>
                </a:solidFill>
                <a:latin typeface="Arial"/>
              </a:rPr>
              <a:t>yêu cầu bắt buộc về công trình xanh từ các chủ đầu tư FDI (LEED, Lotus, GreenMark, EDGE), Coteccons dẫn đầu thị trường với 38 dự án đạt chuẩn LEED và điểm ESG HOSE đạt 76% (vượt xa trung bình ngành và rổ VN100), tạo lợi thế cạnh tranh áp đảo để giành các gói thầu giá trị cao mà không chịu áp lực phá giá thầu..</a:t>
            </a:r>
          </a:p>
          <a:p>
            <a:pPr marL="82687" indent="-82687" algn="l">
              <a:lnSpc>
                <a:spcPts val="858"/>
              </a:lnSpc>
              <a:spcBef>
                <a:spcPts val="0"/>
              </a:spcBef>
              <a:spcAft>
                <a:spcPts val="186"/>
              </a:spcAft>
              <a:buClr>
                <a:srgbClr val="E07A86"/>
              </a:buClr>
              <a:buSzPct val="70000"/>
              <a:buFont typeface="Arial"/>
              <a:buChar char="■"/>
            </a:pPr>
            <a:r>
              <a:rPr lang="vi-VN" sz="605" b="1" i="0" dirty="0">
                <a:solidFill>
                  <a:srgbClr val="3A3A3E"/>
                </a:solidFill>
                <a:latin typeface="Arial"/>
                <a:sym typeface="Wingdings" panose="05000000000000000000" pitchFamily="2" charset="2"/>
              </a:rPr>
              <a:t></a:t>
            </a:r>
            <a:r>
              <a:rPr lang="vi-VN" sz="605" b="0" i="0" dirty="0">
                <a:solidFill>
                  <a:srgbClr val="2B2B2E"/>
                </a:solidFill>
                <a:latin typeface="Arial"/>
              </a:rPr>
              <a:t> Dòng FDI </a:t>
            </a:r>
            <a:r>
              <a:rPr lang="en-US" sz="605" b="0" i="0" dirty="0" err="1">
                <a:solidFill>
                  <a:srgbClr val="2B2B2E"/>
                </a:solidFill>
                <a:latin typeface="Arial"/>
              </a:rPr>
              <a:t>và</a:t>
            </a:r>
            <a:r>
              <a:rPr lang="en-US" sz="605" b="0" i="0" dirty="0">
                <a:solidFill>
                  <a:srgbClr val="2B2B2E"/>
                </a:solidFill>
                <a:latin typeface="Arial"/>
              </a:rPr>
              <a:t> </a:t>
            </a:r>
            <a:r>
              <a:rPr lang="en-US" sz="605" b="0" i="0" dirty="0" err="1">
                <a:solidFill>
                  <a:srgbClr val="2B2B2E"/>
                </a:solidFill>
                <a:latin typeface="Arial"/>
              </a:rPr>
              <a:t>xây</a:t>
            </a:r>
            <a:r>
              <a:rPr lang="en-US" sz="605" b="0" i="0" dirty="0">
                <a:solidFill>
                  <a:srgbClr val="2B2B2E"/>
                </a:solidFill>
                <a:latin typeface="Arial"/>
              </a:rPr>
              <a:t> </a:t>
            </a:r>
            <a:r>
              <a:rPr lang="en-US" sz="605" b="0" i="0" dirty="0" err="1">
                <a:solidFill>
                  <a:srgbClr val="2B2B2E"/>
                </a:solidFill>
                <a:latin typeface="Arial"/>
              </a:rPr>
              <a:t>dựng</a:t>
            </a:r>
            <a:r>
              <a:rPr lang="en-US" sz="605" b="0" i="0" dirty="0">
                <a:solidFill>
                  <a:srgbClr val="2B2B2E"/>
                </a:solidFill>
                <a:latin typeface="Arial"/>
              </a:rPr>
              <a:t> </a:t>
            </a:r>
            <a:r>
              <a:rPr lang="en-US" sz="605" b="0" i="0" dirty="0" err="1">
                <a:solidFill>
                  <a:srgbClr val="2B2B2E"/>
                </a:solidFill>
                <a:latin typeface="Arial"/>
              </a:rPr>
              <a:t>công</a:t>
            </a:r>
            <a:r>
              <a:rPr lang="en-US" sz="605" b="0" i="0" dirty="0">
                <a:solidFill>
                  <a:srgbClr val="2B2B2E"/>
                </a:solidFill>
                <a:latin typeface="Arial"/>
              </a:rPr>
              <a:t> </a:t>
            </a:r>
            <a:r>
              <a:rPr lang="en-US" sz="605" b="0" i="0" dirty="0" err="1">
                <a:solidFill>
                  <a:srgbClr val="2B2B2E"/>
                </a:solidFill>
                <a:latin typeface="Arial"/>
              </a:rPr>
              <a:t>nghiệp</a:t>
            </a:r>
            <a:r>
              <a:rPr lang="en-US" sz="605" b="0" i="0" dirty="0">
                <a:solidFill>
                  <a:srgbClr val="2B2B2E"/>
                </a:solidFill>
                <a:latin typeface="Arial"/>
              </a:rPr>
              <a:t> </a:t>
            </a:r>
            <a:r>
              <a:rPr lang="en-US" sz="605" b="0" i="0" dirty="0" err="1">
                <a:solidFill>
                  <a:srgbClr val="2B2B2E"/>
                </a:solidFill>
                <a:latin typeface="Arial"/>
              </a:rPr>
              <a:t>củng</a:t>
            </a:r>
            <a:r>
              <a:rPr lang="en-US" sz="605" b="0" i="0" dirty="0">
                <a:solidFill>
                  <a:srgbClr val="2B2B2E"/>
                </a:solidFill>
                <a:latin typeface="Arial"/>
              </a:rPr>
              <a:t> </a:t>
            </a:r>
            <a:r>
              <a:rPr lang="en-US" sz="605" b="0" i="0" dirty="0" err="1">
                <a:solidFill>
                  <a:srgbClr val="2B2B2E"/>
                </a:solidFill>
                <a:latin typeface="Arial"/>
              </a:rPr>
              <a:t>cố</a:t>
            </a:r>
            <a:r>
              <a:rPr lang="en-US" sz="605" b="0" i="0" dirty="0">
                <a:solidFill>
                  <a:srgbClr val="2B2B2E"/>
                </a:solidFill>
                <a:latin typeface="Arial"/>
              </a:rPr>
              <a:t> tang </a:t>
            </a:r>
            <a:r>
              <a:rPr lang="en-US" sz="605" b="0" i="0" dirty="0" err="1">
                <a:solidFill>
                  <a:srgbClr val="2B2B2E"/>
                </a:solidFill>
                <a:latin typeface="Arial"/>
              </a:rPr>
              <a:t>trưởng</a:t>
            </a:r>
            <a:r>
              <a:rPr lang="en-US" sz="605" b="0" i="0" dirty="0">
                <a:solidFill>
                  <a:srgbClr val="2B2B2E"/>
                </a:solidFill>
                <a:latin typeface="Arial"/>
              </a:rPr>
              <a:t> </a:t>
            </a:r>
            <a:r>
              <a:rPr lang="en-US" sz="605" b="0" i="0" dirty="0" err="1">
                <a:solidFill>
                  <a:srgbClr val="2B2B2E"/>
                </a:solidFill>
                <a:latin typeface="Arial"/>
              </a:rPr>
              <a:t>trong</a:t>
            </a:r>
            <a:r>
              <a:rPr lang="en-US" sz="605" b="0" i="0" dirty="0">
                <a:solidFill>
                  <a:srgbClr val="2B2B2E"/>
                </a:solidFill>
                <a:latin typeface="Arial"/>
              </a:rPr>
              <a:t> </a:t>
            </a:r>
            <a:r>
              <a:rPr lang="en-US" sz="605" b="0" i="0" dirty="0" err="1">
                <a:solidFill>
                  <a:srgbClr val="2B2B2E"/>
                </a:solidFill>
                <a:latin typeface="Arial"/>
              </a:rPr>
              <a:t>tương</a:t>
            </a:r>
            <a:r>
              <a:rPr lang="en-US" sz="605" b="0" i="0" dirty="0">
                <a:solidFill>
                  <a:srgbClr val="2B2B2E"/>
                </a:solidFill>
                <a:latin typeface="Arial"/>
              </a:rPr>
              <a:t> </a:t>
            </a:r>
            <a:r>
              <a:rPr lang="en-US" sz="605" b="0" i="0" dirty="0" err="1">
                <a:solidFill>
                  <a:srgbClr val="2B2B2E"/>
                </a:solidFill>
                <a:latin typeface="Arial"/>
              </a:rPr>
              <a:t>lai</a:t>
            </a:r>
            <a:r>
              <a:rPr lang="en-US" sz="605" b="0" i="0" dirty="0">
                <a:solidFill>
                  <a:srgbClr val="2B2B2E"/>
                </a:solidFill>
                <a:latin typeface="Arial"/>
              </a:rPr>
              <a:t> </a:t>
            </a:r>
            <a:r>
              <a:rPr lang="en-US" sz="605" b="0" i="0" dirty="0" err="1">
                <a:solidFill>
                  <a:srgbClr val="2B2B2E"/>
                </a:solidFill>
                <a:latin typeface="Arial"/>
              </a:rPr>
              <a:t>trong</a:t>
            </a:r>
            <a:r>
              <a:rPr lang="en-US" sz="605" b="0" i="0" dirty="0">
                <a:solidFill>
                  <a:srgbClr val="2B2B2E"/>
                </a:solidFill>
                <a:latin typeface="Arial"/>
              </a:rPr>
              <a:t> </a:t>
            </a:r>
            <a:r>
              <a:rPr lang="en-US" sz="605" b="0" i="0" dirty="0" err="1">
                <a:solidFill>
                  <a:srgbClr val="2B2B2E"/>
                </a:solidFill>
                <a:latin typeface="Arial"/>
              </a:rPr>
              <a:t>khi</a:t>
            </a:r>
            <a:r>
              <a:rPr lang="en-US" sz="605" b="0" i="0" dirty="0">
                <a:solidFill>
                  <a:srgbClr val="2B2B2E"/>
                </a:solidFill>
                <a:latin typeface="Arial"/>
              </a:rPr>
              <a:t> </a:t>
            </a:r>
            <a:r>
              <a:rPr lang="en-US" sz="605" b="0" i="0" dirty="0" err="1">
                <a:solidFill>
                  <a:srgbClr val="2B2B2E"/>
                </a:solidFill>
                <a:latin typeface="Arial"/>
              </a:rPr>
              <a:t>mảng</a:t>
            </a:r>
            <a:r>
              <a:rPr lang="en-US" sz="605" b="0" i="0" dirty="0">
                <a:solidFill>
                  <a:srgbClr val="2B2B2E"/>
                </a:solidFill>
                <a:latin typeface="Arial"/>
              </a:rPr>
              <a:t> </a:t>
            </a:r>
            <a:r>
              <a:rPr lang="en-US" sz="605" b="0" i="0" dirty="0" err="1">
                <a:solidFill>
                  <a:srgbClr val="2B2B2E"/>
                </a:solidFill>
                <a:latin typeface="Arial"/>
              </a:rPr>
              <a:t>dân</a:t>
            </a:r>
            <a:r>
              <a:rPr lang="en-US" sz="605" b="0" i="0" dirty="0">
                <a:solidFill>
                  <a:srgbClr val="2B2B2E"/>
                </a:solidFill>
                <a:latin typeface="Arial"/>
              </a:rPr>
              <a:t> </a:t>
            </a:r>
            <a:r>
              <a:rPr lang="en-US" sz="605" b="0" i="0" dirty="0" err="1">
                <a:solidFill>
                  <a:srgbClr val="2B2B2E"/>
                </a:solidFill>
                <a:latin typeface="Arial"/>
              </a:rPr>
              <a:t>sự</a:t>
            </a:r>
            <a:r>
              <a:rPr lang="en-US" sz="605" b="0" i="0" dirty="0">
                <a:solidFill>
                  <a:srgbClr val="2B2B2E"/>
                </a:solidFill>
                <a:latin typeface="Arial"/>
              </a:rPr>
              <a:t> </a:t>
            </a:r>
            <a:r>
              <a:rPr lang="en-US" sz="605" b="0" i="0" dirty="0" err="1">
                <a:solidFill>
                  <a:srgbClr val="2B2B2E"/>
                </a:solidFill>
                <a:latin typeface="Arial"/>
              </a:rPr>
              <a:t>là</a:t>
            </a:r>
            <a:r>
              <a:rPr lang="en-US" sz="605" b="0" i="0" dirty="0">
                <a:solidFill>
                  <a:srgbClr val="2B2B2E"/>
                </a:solidFill>
                <a:latin typeface="Arial"/>
              </a:rPr>
              <a:t> </a:t>
            </a:r>
            <a:r>
              <a:rPr lang="en-US" sz="605" b="0" i="0" dirty="0" err="1">
                <a:solidFill>
                  <a:srgbClr val="2B2B2E"/>
                </a:solidFill>
                <a:latin typeface="Arial"/>
              </a:rPr>
              <a:t>bộ</a:t>
            </a:r>
            <a:r>
              <a:rPr lang="en-US" sz="605" b="0" i="0" dirty="0">
                <a:solidFill>
                  <a:srgbClr val="2B2B2E"/>
                </a:solidFill>
                <a:latin typeface="Arial"/>
              </a:rPr>
              <a:t> </a:t>
            </a:r>
            <a:r>
              <a:rPr lang="en-US" sz="605" b="0" i="0" dirty="0" err="1">
                <a:solidFill>
                  <a:srgbClr val="2B2B2E"/>
                </a:solidFill>
                <a:latin typeface="Arial"/>
              </a:rPr>
              <a:t>đệm</a:t>
            </a:r>
            <a:r>
              <a:rPr lang="en-US" sz="605" b="0" i="0" dirty="0">
                <a:solidFill>
                  <a:srgbClr val="2B2B2E"/>
                </a:solidFill>
                <a:latin typeface="Arial"/>
              </a:rPr>
              <a:t> </a:t>
            </a:r>
            <a:r>
              <a:rPr lang="en-US" sz="605" b="0" i="0" dirty="0" err="1">
                <a:solidFill>
                  <a:srgbClr val="2B2B2E"/>
                </a:solidFill>
                <a:latin typeface="Arial"/>
              </a:rPr>
              <a:t>doanh</a:t>
            </a:r>
            <a:r>
              <a:rPr lang="en-US" sz="605" b="0" i="0" dirty="0">
                <a:solidFill>
                  <a:srgbClr val="2B2B2E"/>
                </a:solidFill>
                <a:latin typeface="Arial"/>
              </a:rPr>
              <a:t> </a:t>
            </a:r>
            <a:r>
              <a:rPr lang="en-US" sz="605" b="0" i="0" dirty="0" err="1">
                <a:solidFill>
                  <a:srgbClr val="2B2B2E"/>
                </a:solidFill>
                <a:latin typeface="Arial"/>
              </a:rPr>
              <a:t>thu</a:t>
            </a:r>
            <a:r>
              <a:rPr lang="en-US" sz="605" b="0" i="0" dirty="0">
                <a:solidFill>
                  <a:srgbClr val="2B2B2E"/>
                </a:solidFill>
                <a:latin typeface="Arial"/>
              </a:rPr>
              <a:t>.</a:t>
            </a:r>
            <a:endParaRPr lang="vi-VN" sz="605" b="0" i="0" dirty="0">
              <a:solidFill>
                <a:srgbClr val="2B2B2E"/>
              </a:solidFill>
              <a:latin typeface="Arial"/>
            </a:endParaRPr>
          </a:p>
        </p:txBody>
      </p:sp>
      <p:sp>
        <p:nvSpPr>
          <p:cNvPr id="39" name="TextBox 38"/>
          <p:cNvSpPr txBox="1"/>
          <p:nvPr/>
        </p:nvSpPr>
        <p:spPr>
          <a:xfrm>
            <a:off x="2441585" y="2798100"/>
            <a:ext cx="4949438" cy="736620"/>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lang="vi-VN" sz="605" b="1" i="0" dirty="0">
                <a:solidFill>
                  <a:srgbClr val="3A3A3E"/>
                </a:solidFill>
                <a:latin typeface="Arial"/>
              </a:rPr>
              <a:t>Ban lãnh đạo Coteccons đặt trọng tâm chiến lược vào các d</a:t>
            </a:r>
            <a:r>
              <a:rPr lang="en-US" sz="605" b="1" dirty="0">
                <a:solidFill>
                  <a:srgbClr val="3A3A3E"/>
                </a:solidFill>
                <a:latin typeface="Arial"/>
              </a:rPr>
              <a:t>ự </a:t>
            </a:r>
            <a:r>
              <a:rPr lang="en-US" sz="605" b="1" dirty="0" err="1">
                <a:solidFill>
                  <a:srgbClr val="3A3A3E"/>
                </a:solidFill>
                <a:latin typeface="Arial"/>
              </a:rPr>
              <a:t>án</a:t>
            </a:r>
            <a:r>
              <a:rPr lang="en-US" sz="605" b="1" dirty="0">
                <a:solidFill>
                  <a:srgbClr val="3A3A3E"/>
                </a:solidFill>
                <a:latin typeface="Arial"/>
              </a:rPr>
              <a:t> </a:t>
            </a:r>
            <a:r>
              <a:rPr lang="vi-VN" sz="605" b="1" i="0" dirty="0">
                <a:solidFill>
                  <a:srgbClr val="3A3A3E"/>
                </a:solidFill>
                <a:latin typeface="Arial"/>
              </a:rPr>
              <a:t>có độ phức tạp kỹ thuật cao </a:t>
            </a:r>
            <a:r>
              <a:rPr lang="vi-VN" sz="605" i="0" dirty="0">
                <a:solidFill>
                  <a:srgbClr val="3A3A3E"/>
                </a:solidFill>
                <a:latin typeface="Arial"/>
              </a:rPr>
              <a:t>nhằm tối ưu hóa hiệu quả sinh lời. Doanh nghiệp chủ động thu hẹp sự phụ thuộc vào mảng nhà ở dân dụng — phân khúc có tính cạnh tranh gay gắt và biên lợi nhuận gộp chỉ đạt 3% – 4% — để dồn nguồn lực mở rộng sang mảng xây dựng công nghiệp và hạ tầng với mục tiêu biên lợi nhuận đạt từ 5% – 6,5%. Lợi thế cạnh tranh cốt lõi để hiện thực hóa mục tiêu này nằm ở </a:t>
            </a:r>
            <a:r>
              <a:rPr lang="vi-VN" sz="605" b="1" i="0" dirty="0">
                <a:solidFill>
                  <a:srgbClr val="3A3A3E"/>
                </a:solidFill>
                <a:latin typeface="Arial"/>
              </a:rPr>
              <a:t>năng lực thực thi vượt trội </a:t>
            </a:r>
            <a:r>
              <a:rPr lang="vi-VN" sz="605" i="0" dirty="0">
                <a:solidFill>
                  <a:srgbClr val="3A3A3E"/>
                </a:solidFill>
                <a:latin typeface="Arial"/>
              </a:rPr>
              <a:t>tại các hạng mục khó: xử lý nền móng ngầm (tường vây sâu, cọc barrette), lắp dựng kết cấu thép khẩu độ lớn và tích hợp hệ thống cơ điện (MEP) phức tạp.</a:t>
            </a:r>
            <a:br>
              <a:rPr lang="en-US" sz="605" i="0" dirty="0">
                <a:solidFill>
                  <a:srgbClr val="3A3A3E"/>
                </a:solidFill>
                <a:latin typeface="Arial"/>
              </a:rPr>
            </a:br>
            <a:r>
              <a:rPr lang="en-US" sz="605" b="1" i="0" dirty="0" err="1">
                <a:solidFill>
                  <a:srgbClr val="3A3A3E"/>
                </a:solidFill>
                <a:latin typeface="Arial"/>
              </a:rPr>
              <a:t>Giải</a:t>
            </a:r>
            <a:r>
              <a:rPr lang="en-US" sz="605" b="1" i="0" dirty="0">
                <a:solidFill>
                  <a:srgbClr val="3A3A3E"/>
                </a:solidFill>
                <a:latin typeface="Arial"/>
              </a:rPr>
              <a:t> </a:t>
            </a:r>
            <a:r>
              <a:rPr lang="en-US" sz="605" b="1" i="0" dirty="0" err="1">
                <a:solidFill>
                  <a:srgbClr val="3A3A3E"/>
                </a:solidFill>
                <a:latin typeface="Arial"/>
              </a:rPr>
              <a:t>ngân</a:t>
            </a:r>
            <a:r>
              <a:rPr lang="en-US" sz="605" b="1" i="0" dirty="0">
                <a:solidFill>
                  <a:srgbClr val="3A3A3E"/>
                </a:solidFill>
                <a:latin typeface="Arial"/>
              </a:rPr>
              <a:t> </a:t>
            </a:r>
            <a:r>
              <a:rPr lang="en-US" sz="605" b="1" i="0" dirty="0" err="1">
                <a:solidFill>
                  <a:srgbClr val="3A3A3E"/>
                </a:solidFill>
                <a:latin typeface="Arial"/>
              </a:rPr>
              <a:t>cho</a:t>
            </a:r>
            <a:r>
              <a:rPr lang="en-US" sz="605" b="1" i="0" dirty="0">
                <a:solidFill>
                  <a:srgbClr val="3A3A3E"/>
                </a:solidFill>
                <a:latin typeface="Arial"/>
              </a:rPr>
              <a:t> </a:t>
            </a:r>
            <a:r>
              <a:rPr lang="en-US" sz="605" b="1" i="0" dirty="0" err="1">
                <a:solidFill>
                  <a:srgbClr val="3A3A3E"/>
                </a:solidFill>
                <a:latin typeface="Arial"/>
              </a:rPr>
              <a:t>các</a:t>
            </a:r>
            <a:r>
              <a:rPr lang="en-US" sz="605" b="1" i="0" dirty="0">
                <a:solidFill>
                  <a:srgbClr val="3A3A3E"/>
                </a:solidFill>
                <a:latin typeface="Arial"/>
              </a:rPr>
              <a:t> </a:t>
            </a:r>
            <a:r>
              <a:rPr lang="en-US" sz="605" b="1" i="0" dirty="0" err="1">
                <a:solidFill>
                  <a:srgbClr val="3A3A3E"/>
                </a:solidFill>
                <a:latin typeface="Arial"/>
              </a:rPr>
              <a:t>đại</a:t>
            </a:r>
            <a:r>
              <a:rPr lang="en-US" sz="605" b="1" i="0" dirty="0">
                <a:solidFill>
                  <a:srgbClr val="3A3A3E"/>
                </a:solidFill>
                <a:latin typeface="Arial"/>
              </a:rPr>
              <a:t> </a:t>
            </a:r>
            <a:r>
              <a:rPr lang="en-US" sz="605" b="1" i="0" dirty="0" err="1">
                <a:solidFill>
                  <a:srgbClr val="3A3A3E"/>
                </a:solidFill>
                <a:latin typeface="Arial"/>
              </a:rPr>
              <a:t>dự</a:t>
            </a:r>
            <a:r>
              <a:rPr lang="en-US" sz="605" b="1" i="0" dirty="0">
                <a:solidFill>
                  <a:srgbClr val="3A3A3E"/>
                </a:solidFill>
                <a:latin typeface="Arial"/>
              </a:rPr>
              <a:t> </a:t>
            </a:r>
            <a:r>
              <a:rPr lang="en-US" sz="605" b="1" i="0" dirty="0" err="1">
                <a:solidFill>
                  <a:srgbClr val="3A3A3E"/>
                </a:solidFill>
                <a:latin typeface="Arial"/>
              </a:rPr>
              <a:t>án</a:t>
            </a:r>
            <a:r>
              <a:rPr lang="en-US" sz="605" b="1" i="0" dirty="0">
                <a:solidFill>
                  <a:srgbClr val="3A3A3E"/>
                </a:solidFill>
                <a:latin typeface="Arial"/>
              </a:rPr>
              <a:t> </a:t>
            </a:r>
            <a:r>
              <a:rPr lang="en-US" sz="605" b="1" i="0" dirty="0" err="1">
                <a:solidFill>
                  <a:srgbClr val="3A3A3E"/>
                </a:solidFill>
                <a:latin typeface="Arial"/>
              </a:rPr>
              <a:t>hạ</a:t>
            </a:r>
            <a:r>
              <a:rPr lang="en-US" sz="605" b="1" i="0" dirty="0">
                <a:solidFill>
                  <a:srgbClr val="3A3A3E"/>
                </a:solidFill>
                <a:latin typeface="Arial"/>
              </a:rPr>
              <a:t> </a:t>
            </a:r>
            <a:r>
              <a:rPr lang="en-US" sz="605" b="1" i="0" dirty="0" err="1">
                <a:solidFill>
                  <a:srgbClr val="3A3A3E"/>
                </a:solidFill>
                <a:latin typeface="Arial"/>
              </a:rPr>
              <a:t>tầng</a:t>
            </a:r>
            <a:r>
              <a:rPr lang="en-US" sz="605" i="0" dirty="0">
                <a:solidFill>
                  <a:srgbClr val="3A3A3E"/>
                </a:solidFill>
                <a:latin typeface="Arial"/>
              </a:rPr>
              <a:t> </a:t>
            </a:r>
            <a:r>
              <a:rPr lang="en-US" sz="605" i="0" dirty="0" err="1">
                <a:solidFill>
                  <a:srgbClr val="3A3A3E"/>
                </a:solidFill>
                <a:latin typeface="Arial"/>
              </a:rPr>
              <a:t>với</a:t>
            </a:r>
            <a:r>
              <a:rPr lang="en-US" sz="605" i="0" dirty="0">
                <a:solidFill>
                  <a:srgbClr val="3A3A3E"/>
                </a:solidFill>
                <a:latin typeface="Arial"/>
              </a:rPr>
              <a:t> </a:t>
            </a:r>
            <a:r>
              <a:rPr lang="en-US" sz="605" i="0" dirty="0" err="1">
                <a:solidFill>
                  <a:srgbClr val="3A3A3E"/>
                </a:solidFill>
                <a:latin typeface="Arial"/>
              </a:rPr>
              <a:t>độ</a:t>
            </a:r>
            <a:r>
              <a:rPr lang="en-US" sz="605" i="0" dirty="0">
                <a:solidFill>
                  <a:srgbClr val="3A3A3E"/>
                </a:solidFill>
                <a:latin typeface="Arial"/>
              </a:rPr>
              <a:t> </a:t>
            </a:r>
            <a:r>
              <a:rPr lang="en-US" sz="605" i="0" dirty="0" err="1">
                <a:solidFill>
                  <a:srgbClr val="3A3A3E"/>
                </a:solidFill>
                <a:latin typeface="Arial"/>
              </a:rPr>
              <a:t>phức</a:t>
            </a:r>
            <a:r>
              <a:rPr lang="en-US" sz="605" i="0" dirty="0">
                <a:solidFill>
                  <a:srgbClr val="3A3A3E"/>
                </a:solidFill>
                <a:latin typeface="Arial"/>
              </a:rPr>
              <a:t> </a:t>
            </a:r>
            <a:r>
              <a:rPr lang="en-US" sz="605" i="0" dirty="0" err="1">
                <a:solidFill>
                  <a:srgbClr val="3A3A3E"/>
                </a:solidFill>
                <a:latin typeface="Arial"/>
              </a:rPr>
              <a:t>tạp</a:t>
            </a:r>
            <a:r>
              <a:rPr lang="en-US" sz="605" i="0" dirty="0">
                <a:solidFill>
                  <a:srgbClr val="3A3A3E"/>
                </a:solidFill>
                <a:latin typeface="Arial"/>
              </a:rPr>
              <a:t> </a:t>
            </a:r>
            <a:r>
              <a:rPr lang="en-US" sz="605" i="0" dirty="0" err="1">
                <a:solidFill>
                  <a:srgbClr val="3A3A3E"/>
                </a:solidFill>
                <a:latin typeface="Arial"/>
              </a:rPr>
              <a:t>và</a:t>
            </a:r>
            <a:r>
              <a:rPr lang="en-US" sz="605" i="0" dirty="0">
                <a:solidFill>
                  <a:srgbClr val="3A3A3E"/>
                </a:solidFill>
                <a:latin typeface="Arial"/>
              </a:rPr>
              <a:t> </a:t>
            </a:r>
            <a:r>
              <a:rPr lang="en-US" sz="605" i="0" dirty="0" err="1">
                <a:solidFill>
                  <a:srgbClr val="3A3A3E"/>
                </a:solidFill>
                <a:latin typeface="Arial"/>
              </a:rPr>
              <a:t>kỹ</a:t>
            </a:r>
            <a:r>
              <a:rPr lang="en-US" sz="605" i="0" dirty="0">
                <a:solidFill>
                  <a:srgbClr val="3A3A3E"/>
                </a:solidFill>
                <a:latin typeface="Arial"/>
              </a:rPr>
              <a:t> </a:t>
            </a:r>
            <a:r>
              <a:rPr lang="en-US" sz="605" i="0" dirty="0" err="1">
                <a:solidFill>
                  <a:srgbClr val="3A3A3E"/>
                </a:solidFill>
                <a:latin typeface="Arial"/>
              </a:rPr>
              <a:t>thuật</a:t>
            </a:r>
            <a:r>
              <a:rPr lang="en-US" sz="605" i="0" dirty="0">
                <a:solidFill>
                  <a:srgbClr val="3A3A3E"/>
                </a:solidFill>
                <a:latin typeface="Arial"/>
              </a:rPr>
              <a:t> </a:t>
            </a:r>
            <a:r>
              <a:rPr lang="en-US" sz="605" i="0" dirty="0" err="1">
                <a:solidFill>
                  <a:srgbClr val="3A3A3E"/>
                </a:solidFill>
                <a:latin typeface="Arial"/>
              </a:rPr>
              <a:t>cao</a:t>
            </a:r>
            <a:r>
              <a:rPr lang="en-US" sz="605" i="0" dirty="0">
                <a:solidFill>
                  <a:srgbClr val="3A3A3E"/>
                </a:solidFill>
                <a:latin typeface="Arial"/>
              </a:rPr>
              <a:t> </a:t>
            </a:r>
            <a:r>
              <a:rPr lang="en-US" sz="605" i="0" dirty="0" err="1">
                <a:solidFill>
                  <a:srgbClr val="3A3A3E"/>
                </a:solidFill>
                <a:latin typeface="Arial"/>
              </a:rPr>
              <a:t>kỳ</a:t>
            </a:r>
            <a:r>
              <a:rPr lang="en-US" sz="605" i="0" dirty="0">
                <a:solidFill>
                  <a:srgbClr val="3A3A3E"/>
                </a:solidFill>
                <a:latin typeface="Arial"/>
              </a:rPr>
              <a:t> </a:t>
            </a:r>
            <a:r>
              <a:rPr lang="en-US" sz="605" i="0" dirty="0" err="1">
                <a:solidFill>
                  <a:srgbClr val="3A3A3E"/>
                </a:solidFill>
                <a:latin typeface="Arial"/>
              </a:rPr>
              <a:t>vọng</a:t>
            </a:r>
            <a:r>
              <a:rPr lang="en-US" sz="605" i="0" dirty="0">
                <a:solidFill>
                  <a:srgbClr val="3A3A3E"/>
                </a:solidFill>
                <a:latin typeface="Arial"/>
              </a:rPr>
              <a:t> </a:t>
            </a:r>
            <a:r>
              <a:rPr lang="en-US" sz="605" i="0" dirty="0" err="1">
                <a:solidFill>
                  <a:srgbClr val="3A3A3E"/>
                </a:solidFill>
                <a:latin typeface="Arial"/>
              </a:rPr>
              <a:t>với</a:t>
            </a:r>
            <a:r>
              <a:rPr lang="en-US" sz="605" i="0" dirty="0">
                <a:solidFill>
                  <a:srgbClr val="3A3A3E"/>
                </a:solidFill>
                <a:latin typeface="Arial"/>
              </a:rPr>
              <a:t> </a:t>
            </a:r>
            <a:r>
              <a:rPr lang="en-US" sz="605" i="0" dirty="0" err="1">
                <a:solidFill>
                  <a:srgbClr val="3A3A3E"/>
                </a:solidFill>
                <a:latin typeface="Arial"/>
              </a:rPr>
              <a:t>điểm</a:t>
            </a:r>
            <a:r>
              <a:rPr lang="en-US" sz="605" i="0" dirty="0">
                <a:solidFill>
                  <a:srgbClr val="3A3A3E"/>
                </a:solidFill>
                <a:latin typeface="Arial"/>
              </a:rPr>
              <a:t> </a:t>
            </a:r>
            <a:r>
              <a:rPr lang="en-US" sz="605" i="0" dirty="0" err="1">
                <a:solidFill>
                  <a:srgbClr val="3A3A3E"/>
                </a:solidFill>
                <a:latin typeface="Arial"/>
              </a:rPr>
              <a:t>rơi</a:t>
            </a:r>
            <a:r>
              <a:rPr lang="en-US" sz="605" i="0" dirty="0">
                <a:solidFill>
                  <a:srgbClr val="3A3A3E"/>
                </a:solidFill>
                <a:latin typeface="Arial"/>
              </a:rPr>
              <a:t> backlog </a:t>
            </a:r>
            <a:r>
              <a:rPr lang="en-US" sz="605" i="0" dirty="0" err="1">
                <a:solidFill>
                  <a:srgbClr val="3A3A3E"/>
                </a:solidFill>
                <a:latin typeface="Arial"/>
              </a:rPr>
              <a:t>trong</a:t>
            </a:r>
            <a:r>
              <a:rPr lang="en-US" sz="605" i="0" dirty="0">
                <a:solidFill>
                  <a:srgbClr val="3A3A3E"/>
                </a:solidFill>
                <a:latin typeface="Arial"/>
              </a:rPr>
              <a:t> </a:t>
            </a:r>
            <a:r>
              <a:rPr lang="en-US" sz="605" i="0" dirty="0" err="1">
                <a:solidFill>
                  <a:srgbClr val="3A3A3E"/>
                </a:solidFill>
                <a:latin typeface="Arial"/>
              </a:rPr>
              <a:t>các</a:t>
            </a:r>
            <a:r>
              <a:rPr lang="en-US" sz="605" i="0" dirty="0">
                <a:solidFill>
                  <a:srgbClr val="3A3A3E"/>
                </a:solidFill>
                <a:latin typeface="Arial"/>
              </a:rPr>
              <a:t> </a:t>
            </a:r>
            <a:r>
              <a:rPr lang="en-US" sz="605" i="0" dirty="0" err="1">
                <a:solidFill>
                  <a:srgbClr val="3A3A3E"/>
                </a:solidFill>
                <a:latin typeface="Arial"/>
              </a:rPr>
              <a:t>năm</a:t>
            </a:r>
            <a:r>
              <a:rPr lang="en-US" sz="605" i="0" dirty="0">
                <a:solidFill>
                  <a:srgbClr val="3A3A3E"/>
                </a:solidFill>
                <a:latin typeface="Arial"/>
              </a:rPr>
              <a:t> </a:t>
            </a:r>
            <a:r>
              <a:rPr lang="en-US" sz="605" i="0" dirty="0" err="1">
                <a:solidFill>
                  <a:srgbClr val="3A3A3E"/>
                </a:solidFill>
                <a:latin typeface="Arial"/>
              </a:rPr>
              <a:t>tiếp</a:t>
            </a:r>
            <a:r>
              <a:rPr lang="en-US" sz="605" i="0" dirty="0">
                <a:solidFill>
                  <a:srgbClr val="3A3A3E"/>
                </a:solidFill>
                <a:latin typeface="Arial"/>
              </a:rPr>
              <a:t> </a:t>
            </a:r>
            <a:r>
              <a:rPr lang="en-US" sz="605" i="0" dirty="0" err="1">
                <a:solidFill>
                  <a:srgbClr val="3A3A3E"/>
                </a:solidFill>
                <a:latin typeface="Arial"/>
              </a:rPr>
              <a:t>theo</a:t>
            </a:r>
            <a:r>
              <a:rPr lang="en-US" sz="605" i="0" dirty="0">
                <a:solidFill>
                  <a:srgbClr val="3A3A3E"/>
                </a:solidFill>
                <a:latin typeface="Arial"/>
              </a:rPr>
              <a:t> </a:t>
            </a:r>
            <a:r>
              <a:rPr lang="en-US" sz="605" i="0" dirty="0" err="1">
                <a:solidFill>
                  <a:srgbClr val="3A3A3E"/>
                </a:solidFill>
                <a:latin typeface="Arial"/>
              </a:rPr>
              <a:t>tiếp</a:t>
            </a:r>
            <a:r>
              <a:rPr lang="en-US" sz="605" i="0" dirty="0">
                <a:solidFill>
                  <a:srgbClr val="3A3A3E"/>
                </a:solidFill>
                <a:latin typeface="Arial"/>
              </a:rPr>
              <a:t> </a:t>
            </a:r>
            <a:r>
              <a:rPr lang="en-US" sz="605" i="0" dirty="0" err="1">
                <a:solidFill>
                  <a:srgbClr val="3A3A3E"/>
                </a:solidFill>
                <a:latin typeface="Arial"/>
              </a:rPr>
              <a:t>nối</a:t>
            </a:r>
            <a:r>
              <a:rPr lang="en-US" sz="605" i="0" dirty="0">
                <a:solidFill>
                  <a:srgbClr val="3A3A3E"/>
                </a:solidFill>
                <a:latin typeface="Arial"/>
              </a:rPr>
              <a:t> </a:t>
            </a:r>
            <a:r>
              <a:rPr lang="en-US" sz="605" i="0" dirty="0" err="1">
                <a:solidFill>
                  <a:srgbClr val="3A3A3E"/>
                </a:solidFill>
                <a:latin typeface="Arial"/>
              </a:rPr>
              <a:t>đà</a:t>
            </a:r>
            <a:r>
              <a:rPr lang="en-US" sz="605" i="0" dirty="0">
                <a:solidFill>
                  <a:srgbClr val="3A3A3E"/>
                </a:solidFill>
                <a:latin typeface="Arial"/>
              </a:rPr>
              <a:t> </a:t>
            </a:r>
            <a:r>
              <a:rPr lang="en-US" sz="605" i="0" dirty="0" err="1">
                <a:solidFill>
                  <a:srgbClr val="3A3A3E"/>
                </a:solidFill>
                <a:latin typeface="Arial"/>
              </a:rPr>
              <a:t>tăng</a:t>
            </a:r>
            <a:r>
              <a:rPr lang="en-US" sz="605" i="0" dirty="0">
                <a:solidFill>
                  <a:srgbClr val="3A3A3E"/>
                </a:solidFill>
                <a:latin typeface="Arial"/>
              </a:rPr>
              <a:t> </a:t>
            </a:r>
            <a:r>
              <a:rPr lang="en-US" sz="605" i="0" dirty="0" err="1">
                <a:solidFill>
                  <a:srgbClr val="3A3A3E"/>
                </a:solidFill>
                <a:latin typeface="Arial"/>
              </a:rPr>
              <a:t>trưởng</a:t>
            </a:r>
            <a:r>
              <a:rPr lang="en-US" sz="605" i="0" dirty="0">
                <a:solidFill>
                  <a:srgbClr val="3A3A3E"/>
                </a:solidFill>
                <a:latin typeface="Arial"/>
              </a:rPr>
              <a:t> </a:t>
            </a:r>
            <a:r>
              <a:rPr lang="en-US" sz="605" i="0" dirty="0" err="1">
                <a:solidFill>
                  <a:srgbClr val="3A3A3E"/>
                </a:solidFill>
                <a:latin typeface="Arial"/>
              </a:rPr>
              <a:t>cho</a:t>
            </a:r>
            <a:r>
              <a:rPr lang="en-US" sz="605" i="0" dirty="0">
                <a:solidFill>
                  <a:srgbClr val="3A3A3E"/>
                </a:solidFill>
                <a:latin typeface="Arial"/>
              </a:rPr>
              <a:t> CTD </a:t>
            </a:r>
            <a:r>
              <a:rPr lang="en-US" sz="605" i="0" dirty="0" err="1">
                <a:solidFill>
                  <a:srgbClr val="3A3A3E"/>
                </a:solidFill>
                <a:latin typeface="Arial"/>
              </a:rPr>
              <a:t>trong</a:t>
            </a:r>
            <a:r>
              <a:rPr lang="en-US" sz="605" i="0" dirty="0">
                <a:solidFill>
                  <a:srgbClr val="3A3A3E"/>
                </a:solidFill>
                <a:latin typeface="Arial"/>
              </a:rPr>
              <a:t> </a:t>
            </a:r>
            <a:r>
              <a:rPr lang="en-US" sz="605" i="0" dirty="0" err="1">
                <a:solidFill>
                  <a:srgbClr val="3A3A3E"/>
                </a:solidFill>
                <a:latin typeface="Arial"/>
              </a:rPr>
              <a:t>các</a:t>
            </a:r>
            <a:r>
              <a:rPr lang="en-US" sz="605" i="0" dirty="0">
                <a:solidFill>
                  <a:srgbClr val="3A3A3E"/>
                </a:solidFill>
                <a:latin typeface="Arial"/>
              </a:rPr>
              <a:t> </a:t>
            </a:r>
            <a:r>
              <a:rPr lang="en-US" sz="605" i="0" dirty="0" err="1">
                <a:solidFill>
                  <a:srgbClr val="3A3A3E"/>
                </a:solidFill>
                <a:latin typeface="Arial"/>
              </a:rPr>
              <a:t>năm</a:t>
            </a:r>
            <a:r>
              <a:rPr lang="en-US" sz="605" i="0" dirty="0">
                <a:solidFill>
                  <a:srgbClr val="3A3A3E"/>
                </a:solidFill>
                <a:latin typeface="Arial"/>
              </a:rPr>
              <a:t> </a:t>
            </a:r>
            <a:r>
              <a:rPr lang="en-US" sz="605" i="0" dirty="0" err="1">
                <a:solidFill>
                  <a:srgbClr val="3A3A3E"/>
                </a:solidFill>
                <a:latin typeface="Arial"/>
              </a:rPr>
              <a:t>sắp</a:t>
            </a:r>
            <a:r>
              <a:rPr lang="en-US" sz="605" i="0" dirty="0">
                <a:solidFill>
                  <a:srgbClr val="3A3A3E"/>
                </a:solidFill>
                <a:latin typeface="Arial"/>
              </a:rPr>
              <a:t> </a:t>
            </a:r>
            <a:r>
              <a:rPr lang="en-US" sz="605" i="0" dirty="0" err="1">
                <a:solidFill>
                  <a:srgbClr val="3A3A3E"/>
                </a:solidFill>
                <a:latin typeface="Arial"/>
              </a:rPr>
              <a:t>tới</a:t>
            </a:r>
            <a:r>
              <a:rPr lang="en-US" sz="605" i="0" dirty="0">
                <a:solidFill>
                  <a:srgbClr val="3A3A3E"/>
                </a:solidFill>
                <a:latin typeface="Arial"/>
              </a:rPr>
              <a:t>. (</a:t>
            </a:r>
            <a:r>
              <a:rPr lang="en-US" sz="605" i="0" dirty="0" err="1">
                <a:solidFill>
                  <a:srgbClr val="3A3A3E"/>
                </a:solidFill>
                <a:latin typeface="Arial"/>
              </a:rPr>
              <a:t>Bảng</a:t>
            </a:r>
            <a:r>
              <a:rPr lang="en-US" sz="605" i="0" dirty="0">
                <a:solidFill>
                  <a:srgbClr val="3A3A3E"/>
                </a:solidFill>
                <a:latin typeface="Arial"/>
              </a:rPr>
              <a:t> </a:t>
            </a:r>
            <a:r>
              <a:rPr lang="en-US" sz="605" i="0" dirty="0" err="1">
                <a:solidFill>
                  <a:srgbClr val="3A3A3E"/>
                </a:solidFill>
                <a:latin typeface="Arial"/>
              </a:rPr>
              <a:t>bên</a:t>
            </a:r>
            <a:r>
              <a:rPr lang="en-US" sz="605" i="0" dirty="0">
                <a:solidFill>
                  <a:srgbClr val="3A3A3E"/>
                </a:solidFill>
                <a:latin typeface="Arial"/>
              </a:rPr>
              <a:t> </a:t>
            </a:r>
            <a:r>
              <a:rPr lang="en-US" sz="605" i="0" dirty="0" err="1">
                <a:solidFill>
                  <a:srgbClr val="3A3A3E"/>
                </a:solidFill>
                <a:latin typeface="Arial"/>
              </a:rPr>
              <a:t>dưới</a:t>
            </a:r>
            <a:r>
              <a:rPr lang="en-US" sz="605" i="0" dirty="0">
                <a:solidFill>
                  <a:srgbClr val="3A3A3E"/>
                </a:solidFill>
                <a:latin typeface="Arial"/>
              </a:rPr>
              <a:t>) </a:t>
            </a:r>
          </a:p>
          <a:p>
            <a:pPr algn="l">
              <a:lnSpc>
                <a:spcPts val="858"/>
              </a:lnSpc>
              <a:spcBef>
                <a:spcPts val="0"/>
              </a:spcBef>
              <a:spcAft>
                <a:spcPts val="186"/>
              </a:spcAft>
              <a:buClr>
                <a:srgbClr val="E07A86"/>
              </a:buClr>
              <a:buSzPct val="70000"/>
            </a:pPr>
            <a:endParaRPr sz="605" i="0" dirty="0">
              <a:solidFill>
                <a:srgbClr val="2B2B2E"/>
              </a:solidFill>
              <a:latin typeface="Arial"/>
            </a:endParaRPr>
          </a:p>
        </p:txBody>
      </p:sp>
      <p:sp>
        <p:nvSpPr>
          <p:cNvPr id="40" name="TextBox 39"/>
          <p:cNvSpPr txBox="1"/>
          <p:nvPr/>
        </p:nvSpPr>
        <p:spPr>
          <a:xfrm>
            <a:off x="2327062" y="4664000"/>
            <a:ext cx="5073470" cy="736620"/>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lang="vi-VN" sz="540" b="1" i="0" dirty="0">
                <a:solidFill>
                  <a:srgbClr val="3A3A3E"/>
                </a:solidFill>
                <a:latin typeface="Arial"/>
              </a:rPr>
              <a:t>Biên ròng 4,45% </a:t>
            </a:r>
            <a:r>
              <a:rPr lang="en-US" sz="540" b="1" i="0" dirty="0">
                <a:solidFill>
                  <a:srgbClr val="3A3A3E"/>
                </a:solidFill>
                <a:latin typeface="Arial"/>
              </a:rPr>
              <a:t>FY27</a:t>
            </a:r>
            <a:r>
              <a:rPr lang="en-US" sz="540" b="1" dirty="0">
                <a:solidFill>
                  <a:srgbClr val="3A3A3E"/>
                </a:solidFill>
                <a:latin typeface="Arial"/>
              </a:rPr>
              <a:t>-29 </a:t>
            </a:r>
            <a:r>
              <a:rPr lang="vi-VN" sz="540" b="1" i="0" dirty="0">
                <a:solidFill>
                  <a:srgbClr val="3A3A3E"/>
                </a:solidFill>
                <a:latin typeface="Arial"/>
              </a:rPr>
              <a:t>phản ánh cấu trúc danh mục cân bằng: </a:t>
            </a:r>
            <a:r>
              <a:rPr lang="vi-VN" sz="540" i="0" dirty="0">
                <a:solidFill>
                  <a:srgbClr val="3A3A3E"/>
                </a:solidFill>
                <a:latin typeface="Arial"/>
              </a:rPr>
              <a:t>Đà tăng biên ròng bị ghìm lại do </a:t>
            </a:r>
            <a:r>
              <a:rPr lang="vi-VN" sz="540" b="1" i="0" dirty="0">
                <a:solidFill>
                  <a:srgbClr val="3A3A3E"/>
                </a:solidFill>
                <a:latin typeface="Arial"/>
              </a:rPr>
              <a:t>cạnh tranh chi phí nhân công</a:t>
            </a:r>
            <a:r>
              <a:rPr lang="en-US" sz="540" b="1" i="0" dirty="0">
                <a:solidFill>
                  <a:srgbClr val="3A3A3E"/>
                </a:solidFill>
                <a:latin typeface="Arial"/>
              </a:rPr>
              <a:t> </a:t>
            </a:r>
            <a:r>
              <a:rPr lang="en-US" sz="540" i="0" dirty="0">
                <a:solidFill>
                  <a:srgbClr val="3A3A3E"/>
                </a:solidFill>
                <a:latin typeface="Arial"/>
              </a:rPr>
              <a:t>(</a:t>
            </a:r>
            <a:r>
              <a:rPr lang="en-US" sz="540" b="1" i="0" dirty="0" err="1">
                <a:solidFill>
                  <a:srgbClr val="3A3A3E"/>
                </a:solidFill>
                <a:latin typeface="Arial"/>
              </a:rPr>
              <a:t>Vincons</a:t>
            </a:r>
            <a:r>
              <a:rPr lang="en-US" sz="540" b="1" i="0" dirty="0">
                <a:solidFill>
                  <a:srgbClr val="3A3A3E"/>
                </a:solidFill>
                <a:latin typeface="Arial"/>
              </a:rPr>
              <a:t> </a:t>
            </a:r>
            <a:r>
              <a:rPr lang="en-US" sz="540" b="1" i="0" dirty="0" err="1">
                <a:solidFill>
                  <a:srgbClr val="3A3A3E"/>
                </a:solidFill>
                <a:latin typeface="Arial"/>
              </a:rPr>
              <a:t>và</a:t>
            </a:r>
            <a:r>
              <a:rPr lang="en-US" sz="540" b="1" i="0" dirty="0">
                <a:solidFill>
                  <a:srgbClr val="3A3A3E"/>
                </a:solidFill>
                <a:latin typeface="Arial"/>
              </a:rPr>
              <a:t> </a:t>
            </a:r>
            <a:r>
              <a:rPr lang="en-US" sz="540" b="1" i="0" dirty="0" err="1">
                <a:solidFill>
                  <a:srgbClr val="3A3A3E"/>
                </a:solidFill>
                <a:latin typeface="Arial"/>
              </a:rPr>
              <a:t>Newteccons</a:t>
            </a:r>
            <a:r>
              <a:rPr lang="en-US" sz="540" b="1" i="0" dirty="0">
                <a:solidFill>
                  <a:srgbClr val="3A3A3E"/>
                </a:solidFill>
                <a:latin typeface="Arial"/>
              </a:rPr>
              <a:t>,..</a:t>
            </a:r>
            <a:r>
              <a:rPr lang="en-US" sz="540" i="0" dirty="0">
                <a:solidFill>
                  <a:srgbClr val="3A3A3E"/>
                </a:solidFill>
                <a:latin typeface="Arial"/>
              </a:rPr>
              <a:t>)</a:t>
            </a:r>
            <a:r>
              <a:rPr lang="vi-VN" sz="540" i="0" dirty="0">
                <a:solidFill>
                  <a:srgbClr val="3A3A3E"/>
                </a:solidFill>
                <a:latin typeface="Arial"/>
              </a:rPr>
              <a:t> và áp lực giữ tiến độ mảng dân dụng trước sức hút nhân lực từ sóng hạ tầng. Tuy nhiên, mức biên này vẫn được neo ở vùng cao nhờ định hướng chuẩn xác của ban lãnh đạo: đẩy mạnh tỷ trọng vốn FDI (~50%) và khai thác các dự án kỹ thuật phức tạp có biên gộp dày, giúp triệt tiêu áp lực đội chi phí lao động</a:t>
            </a:r>
            <a:r>
              <a:rPr lang="vi-VN" sz="540" b="1" i="0" dirty="0">
                <a:solidFill>
                  <a:srgbClr val="3A3A3E"/>
                </a:solidFill>
                <a:latin typeface="Arial"/>
              </a:rPr>
              <a:t>.</a:t>
            </a:r>
            <a:endParaRPr lang="en-US" sz="540" b="1" i="0" dirty="0">
              <a:solidFill>
                <a:srgbClr val="3A3A3E"/>
              </a:solidFill>
              <a:latin typeface="Arial"/>
            </a:endParaRPr>
          </a:p>
          <a:p>
            <a:pPr marL="82687" indent="-82687" algn="l">
              <a:lnSpc>
                <a:spcPts val="858"/>
              </a:lnSpc>
              <a:spcBef>
                <a:spcPts val="0"/>
              </a:spcBef>
              <a:spcAft>
                <a:spcPts val="186"/>
              </a:spcAft>
              <a:buClr>
                <a:srgbClr val="E07A86"/>
              </a:buClr>
              <a:buSzPct val="70000"/>
              <a:buFont typeface="Arial"/>
              <a:buChar char="■"/>
            </a:pPr>
            <a:r>
              <a:rPr lang="vi-VN" sz="540" b="1" dirty="0">
                <a:solidFill>
                  <a:srgbClr val="3A3A3E"/>
                </a:solidFill>
                <a:latin typeface="Arial"/>
              </a:rPr>
              <a:t>Backlog 70.000 tỷ bảo chứng doanh thu trung hạn: </a:t>
            </a:r>
            <a:r>
              <a:rPr lang="vi-VN" sz="540" dirty="0">
                <a:solidFill>
                  <a:srgbClr val="3A3A3E"/>
                </a:solidFill>
                <a:latin typeface="Arial"/>
              </a:rPr>
              <a:t>30.000 tỷ gối đầu sang FY28+ giúp doanh thu hiện tại không phụ thuộc vào ký mới (dù thấp hơn kế hoạch 42.000 tỷ, +22%). Độ phủ (backlog ÷ doanh thu) lùi về 1,60x vào FY29E theo giả định ký mới thận trọng 45–50 nghìn tỷ/năm, song vẫn vận hành an toàn trên ngưỡng cảnh báo 1,5x</a:t>
            </a:r>
            <a:endParaRPr lang="en-US" sz="540" dirty="0">
              <a:solidFill>
                <a:srgbClr val="3A3A3E"/>
              </a:solidFill>
              <a:latin typeface="Arial"/>
            </a:endParaRPr>
          </a:p>
          <a:p>
            <a:pPr marL="82687" indent="-82687" algn="l">
              <a:lnSpc>
                <a:spcPts val="858"/>
              </a:lnSpc>
              <a:spcBef>
                <a:spcPts val="0"/>
              </a:spcBef>
              <a:spcAft>
                <a:spcPts val="186"/>
              </a:spcAft>
              <a:buClr>
                <a:srgbClr val="E07A86"/>
              </a:buClr>
              <a:buSzPct val="70000"/>
              <a:buFont typeface="Arial"/>
              <a:buChar char="■"/>
            </a:pPr>
            <a:r>
              <a:rPr lang="vi-VN" sz="540" b="1" i="0" dirty="0">
                <a:solidFill>
                  <a:srgbClr val="3A3A3E"/>
                </a:solidFill>
                <a:latin typeface="Arial"/>
              </a:rPr>
              <a:t>Dòng tiền dương nhờ ứng trước khách hàng (9,029 tỷ): </a:t>
            </a:r>
            <a:r>
              <a:rPr lang="vi-VN" sz="540" i="0" dirty="0">
                <a:solidFill>
                  <a:srgbClr val="3A3A3E"/>
                </a:solidFill>
                <a:latin typeface="Arial"/>
              </a:rPr>
              <a:t>OCF FY27E 236 tỷ, tiền ròng 1,915 tỷ. Phải thu khách hàng 15,381 tỷ (DSO ~176 ngày) và tồn kho 9,906 tỷ vẫn là điểm cần theo dõi.</a:t>
            </a:r>
            <a:endParaRPr lang="vi-VN" sz="540" i="0" dirty="0">
              <a:solidFill>
                <a:srgbClr val="2B2B2E"/>
              </a:solidFill>
              <a:latin typeface="Arial"/>
            </a:endParaRPr>
          </a:p>
        </p:txBody>
      </p:sp>
      <p:sp>
        <p:nvSpPr>
          <p:cNvPr id="41" name="TextBox 40"/>
          <p:cNvSpPr txBox="1"/>
          <p:nvPr/>
        </p:nvSpPr>
        <p:spPr>
          <a:xfrm>
            <a:off x="2451094" y="8939571"/>
            <a:ext cx="4949438" cy="604006"/>
          </a:xfrm>
          <a:prstGeom prst="rect">
            <a:avLst/>
          </a:prstGeom>
          <a:noFill/>
        </p:spPr>
        <p:txBody>
          <a:bodyPr wrap="square" lIns="0" tIns="0" rIns="0" bIns="0" anchor="t"/>
          <a:lstStyle/>
          <a:p>
            <a:pPr marL="82687" indent="-82687" algn="l">
              <a:lnSpc>
                <a:spcPts val="858"/>
              </a:lnSpc>
              <a:spcBef>
                <a:spcPts val="0"/>
              </a:spcBef>
              <a:spcAft>
                <a:spcPts val="186"/>
              </a:spcAft>
              <a:buClr>
                <a:srgbClr val="E07A86"/>
              </a:buClr>
              <a:buSzPct val="70000"/>
              <a:buFont typeface="Arial"/>
              <a:buChar char="■"/>
            </a:pPr>
            <a:r>
              <a:rPr sz="605" b="0" i="0" dirty="0">
                <a:solidFill>
                  <a:srgbClr val="2B2B2E"/>
                </a:solidFill>
                <a:latin typeface="Arial"/>
              </a:rPr>
              <a:t>P/E </a:t>
            </a:r>
            <a:r>
              <a:rPr sz="605" b="0" i="0" dirty="0" err="1">
                <a:solidFill>
                  <a:srgbClr val="2B2B2E"/>
                </a:solidFill>
                <a:latin typeface="Arial"/>
              </a:rPr>
              <a:t>và</a:t>
            </a:r>
            <a:r>
              <a:rPr sz="605" b="0" i="0" dirty="0">
                <a:solidFill>
                  <a:srgbClr val="2B2B2E"/>
                </a:solidFill>
                <a:latin typeface="Arial"/>
              </a:rPr>
              <a:t> P/B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nhóm</a:t>
            </a:r>
            <a:r>
              <a:rPr sz="605" b="0" i="0" dirty="0">
                <a:solidFill>
                  <a:srgbClr val="2B2B2E"/>
                </a:solidFill>
                <a:latin typeface="Arial"/>
              </a:rPr>
              <a:t> so </a:t>
            </a:r>
            <a:r>
              <a:rPr sz="605" b="0" i="0" dirty="0" err="1">
                <a:solidFill>
                  <a:srgbClr val="2B2B2E"/>
                </a:solidFill>
                <a:latin typeface="Arial"/>
              </a:rPr>
              <a:t>sánh</a:t>
            </a:r>
            <a:r>
              <a:rPr sz="605" b="0" i="0" dirty="0">
                <a:solidFill>
                  <a:srgbClr val="2B2B2E"/>
                </a:solidFill>
                <a:latin typeface="Arial"/>
              </a:rPr>
              <a:t> </a:t>
            </a:r>
            <a:r>
              <a:rPr sz="605" b="0" i="0" dirty="0" err="1">
                <a:solidFill>
                  <a:srgbClr val="2B2B2E"/>
                </a:solidFill>
                <a:latin typeface="Arial"/>
              </a:rPr>
              <a:t>chỉ</a:t>
            </a:r>
            <a:r>
              <a:rPr sz="605" b="0" i="0" dirty="0">
                <a:solidFill>
                  <a:srgbClr val="2B2B2E"/>
                </a:solidFill>
                <a:latin typeface="Arial"/>
              </a:rPr>
              <a:t> </a:t>
            </a:r>
            <a:r>
              <a:rPr sz="605" b="0" i="0" dirty="0" err="1">
                <a:solidFill>
                  <a:srgbClr val="2B2B2E"/>
                </a:solidFill>
                <a:latin typeface="Arial"/>
              </a:rPr>
              <a:t>phản</a:t>
            </a:r>
            <a:r>
              <a:rPr sz="605" b="0" i="0" dirty="0">
                <a:solidFill>
                  <a:srgbClr val="2B2B2E"/>
                </a:solidFill>
                <a:latin typeface="Arial"/>
              </a:rPr>
              <a:t> </a:t>
            </a:r>
            <a:r>
              <a:rPr sz="605" b="0" i="0" dirty="0" err="1">
                <a:solidFill>
                  <a:srgbClr val="2B2B2E"/>
                </a:solidFill>
                <a:latin typeface="Arial"/>
              </a:rPr>
              <a:t>ánh</a:t>
            </a:r>
            <a:r>
              <a:rPr sz="605" b="0" i="0" dirty="0">
                <a:solidFill>
                  <a:srgbClr val="2B2B2E"/>
                </a:solidFill>
                <a:latin typeface="Arial"/>
              </a:rPr>
              <a:t> </a:t>
            </a:r>
            <a:r>
              <a:rPr sz="605" b="0" i="0" dirty="0" err="1">
                <a:solidFill>
                  <a:srgbClr val="2B2B2E"/>
                </a:solidFill>
                <a:latin typeface="Arial"/>
              </a:rPr>
              <a:t>mặt</a:t>
            </a:r>
            <a:r>
              <a:rPr sz="605" b="0" i="0" dirty="0">
                <a:solidFill>
                  <a:srgbClr val="2B2B2E"/>
                </a:solidFill>
                <a:latin typeface="Arial"/>
              </a:rPr>
              <a:t> </a:t>
            </a:r>
            <a:r>
              <a:rPr sz="605" b="0" i="0" dirty="0" err="1">
                <a:solidFill>
                  <a:srgbClr val="2B2B2E"/>
                </a:solidFill>
                <a:latin typeface="Arial"/>
              </a:rPr>
              <a:t>bằng</a:t>
            </a:r>
            <a:r>
              <a:rPr sz="605" b="0" i="0" dirty="0">
                <a:solidFill>
                  <a:srgbClr val="2B2B2E"/>
                </a:solidFill>
                <a:latin typeface="Arial"/>
              </a:rPr>
              <a:t> </a:t>
            </a:r>
            <a:r>
              <a:rPr sz="605" b="0" i="0" dirty="0" err="1">
                <a:solidFill>
                  <a:srgbClr val="2B2B2E"/>
                </a:solidFill>
                <a:latin typeface="Arial"/>
              </a:rPr>
              <a:t>thị</a:t>
            </a:r>
            <a:r>
              <a:rPr sz="605" b="0" i="0" dirty="0">
                <a:solidFill>
                  <a:srgbClr val="2B2B2E"/>
                </a:solidFill>
                <a:latin typeface="Arial"/>
              </a:rPr>
              <a:t> </a:t>
            </a:r>
            <a:r>
              <a:rPr sz="605" b="0" i="0" dirty="0" err="1">
                <a:solidFill>
                  <a:srgbClr val="2B2B2E"/>
                </a:solidFill>
                <a:latin typeface="Arial"/>
              </a:rPr>
              <a:t>trường</a:t>
            </a:r>
            <a:r>
              <a:rPr sz="605" b="0" i="0" dirty="0">
                <a:solidFill>
                  <a:srgbClr val="2B2B2E"/>
                </a:solidFill>
                <a:latin typeface="Arial"/>
              </a:rPr>
              <a:t>; DCF </a:t>
            </a:r>
            <a:r>
              <a:rPr sz="605" b="0" i="0" dirty="0" err="1">
                <a:solidFill>
                  <a:srgbClr val="2B2B2E"/>
                </a:solidFill>
                <a:latin typeface="Arial"/>
              </a:rPr>
              <a:t>ghi</a:t>
            </a:r>
            <a:r>
              <a:rPr sz="605" b="0" i="0" dirty="0">
                <a:solidFill>
                  <a:srgbClr val="2B2B2E"/>
                </a:solidFill>
                <a:latin typeface="Arial"/>
              </a:rPr>
              <a:t> </a:t>
            </a:r>
            <a:r>
              <a:rPr sz="605" b="0" i="0" dirty="0" err="1">
                <a:solidFill>
                  <a:srgbClr val="2B2B2E"/>
                </a:solidFill>
                <a:latin typeface="Arial"/>
              </a:rPr>
              <a:t>nhận</a:t>
            </a:r>
            <a:r>
              <a:rPr sz="605" b="0" i="0" dirty="0">
                <a:solidFill>
                  <a:srgbClr val="2B2B2E"/>
                </a:solidFill>
                <a:latin typeface="Arial"/>
              </a:rPr>
              <a:t> backlog,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lưu</a:t>
            </a:r>
            <a:r>
              <a:rPr sz="605" b="0" i="0" dirty="0">
                <a:solidFill>
                  <a:srgbClr val="2B2B2E"/>
                </a:solidFill>
                <a:latin typeface="Arial"/>
              </a:rPr>
              <a:t> </a:t>
            </a:r>
            <a:r>
              <a:rPr sz="605" b="0" i="0" dirty="0" err="1">
                <a:solidFill>
                  <a:srgbClr val="2B2B2E"/>
                </a:solidFill>
                <a:latin typeface="Arial"/>
              </a:rPr>
              <a:t>động</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a:t>
            </a:r>
            <a:r>
              <a:rPr sz="605" b="0" i="0" dirty="0" err="1">
                <a:solidFill>
                  <a:srgbClr val="2B2B2E"/>
                </a:solidFill>
                <a:latin typeface="Arial"/>
              </a:rPr>
              <a:t>biên</a:t>
            </a:r>
            <a:r>
              <a:rPr sz="605" b="0" i="0" dirty="0">
                <a:solidFill>
                  <a:srgbClr val="2B2B2E"/>
                </a:solidFill>
                <a:latin typeface="Arial"/>
              </a:rPr>
              <a:t> 4.45%. WACC 10.9%, g 3%, FCF </a:t>
            </a:r>
            <a:r>
              <a:rPr sz="605" b="0" i="0" dirty="0" err="1">
                <a:solidFill>
                  <a:srgbClr val="2B2B2E"/>
                </a:solidFill>
                <a:latin typeface="Arial"/>
              </a:rPr>
              <a:t>cuối</a:t>
            </a:r>
            <a:r>
              <a:rPr sz="605" b="0" i="0" dirty="0">
                <a:solidFill>
                  <a:srgbClr val="2B2B2E"/>
                </a:solidFill>
                <a:latin typeface="Arial"/>
              </a:rPr>
              <a:t> </a:t>
            </a:r>
            <a:r>
              <a:rPr sz="605" b="0" i="0" dirty="0" err="1">
                <a:solidFill>
                  <a:srgbClr val="2B2B2E"/>
                </a:solidFill>
                <a:latin typeface="Arial"/>
              </a:rPr>
              <a:t>kỳ</a:t>
            </a:r>
            <a:r>
              <a:rPr sz="605" b="0" i="0" dirty="0">
                <a:solidFill>
                  <a:srgbClr val="2B2B2E"/>
                </a:solidFill>
                <a:latin typeface="Arial"/>
              </a:rPr>
              <a:t> </a:t>
            </a:r>
            <a:r>
              <a:rPr sz="605" b="0" i="0" dirty="0" err="1">
                <a:solidFill>
                  <a:srgbClr val="2B2B2E"/>
                </a:solidFill>
                <a:latin typeface="Arial"/>
              </a:rPr>
              <a:t>chuẩn</a:t>
            </a:r>
            <a:r>
              <a:rPr sz="605" b="0" i="0" dirty="0">
                <a:solidFill>
                  <a:srgbClr val="2B2B2E"/>
                </a:solidFill>
                <a:latin typeface="Arial"/>
              </a:rPr>
              <a:t> </a:t>
            </a:r>
            <a:r>
              <a:rPr sz="605" b="0" i="0" dirty="0" err="1">
                <a:solidFill>
                  <a:srgbClr val="2B2B2E"/>
                </a:solidFill>
                <a:latin typeface="Arial"/>
              </a:rPr>
              <a:t>hoá</a:t>
            </a:r>
            <a:r>
              <a:rPr sz="605" b="0" i="0" dirty="0">
                <a:solidFill>
                  <a:srgbClr val="2B2B2E"/>
                </a:solidFill>
                <a:latin typeface="Arial"/>
              </a:rPr>
              <a:t>. </a:t>
            </a:r>
            <a:r>
              <a:rPr sz="605" b="0" i="0" dirty="0" err="1">
                <a:solidFill>
                  <a:srgbClr val="2B2B2E"/>
                </a:solidFill>
                <a:latin typeface="Arial"/>
              </a:rPr>
              <a:t>Ứng</a:t>
            </a:r>
            <a:r>
              <a:rPr sz="605" b="0" i="0" dirty="0">
                <a:solidFill>
                  <a:srgbClr val="2B2B2E"/>
                </a:solidFill>
                <a:latin typeface="Arial"/>
              </a:rPr>
              <a:t> </a:t>
            </a:r>
            <a:r>
              <a:rPr sz="605" b="0" i="0" dirty="0" err="1">
                <a:solidFill>
                  <a:srgbClr val="2B2B2E"/>
                </a:solidFill>
                <a:latin typeface="Arial"/>
              </a:rPr>
              <a:t>trước</a:t>
            </a:r>
            <a:r>
              <a:rPr sz="605" b="0" i="0" dirty="0">
                <a:solidFill>
                  <a:srgbClr val="2B2B2E"/>
                </a:solidFill>
                <a:latin typeface="Arial"/>
              </a:rPr>
              <a:t> </a:t>
            </a:r>
            <a:r>
              <a:rPr sz="605" b="0" i="0" dirty="0" err="1">
                <a:solidFill>
                  <a:srgbClr val="2B2B2E"/>
                </a:solidFill>
                <a:latin typeface="Arial"/>
              </a:rPr>
              <a:t>coi</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lưu</a:t>
            </a:r>
            <a:r>
              <a:rPr sz="605" b="0" i="0" dirty="0">
                <a:solidFill>
                  <a:srgbClr val="2B2B2E"/>
                </a:solidFill>
                <a:latin typeface="Arial"/>
              </a:rPr>
              <a:t> </a:t>
            </a:r>
            <a:r>
              <a:rPr sz="605" b="0" i="0" dirty="0" err="1">
                <a:solidFill>
                  <a:srgbClr val="2B2B2E"/>
                </a:solidFill>
                <a:latin typeface="Arial"/>
              </a:rPr>
              <a:t>động</a:t>
            </a:r>
            <a:r>
              <a:rPr sz="605" b="0" i="0" dirty="0">
                <a:solidFill>
                  <a:srgbClr val="2B2B2E"/>
                </a:solidFill>
                <a:latin typeface="Arial"/>
              </a:rPr>
              <a:t> (0% </a:t>
            </a:r>
            <a:r>
              <a:rPr sz="605" b="0" i="0" dirty="0" err="1">
                <a:solidFill>
                  <a:srgbClr val="2B2B2E"/>
                </a:solidFill>
                <a:latin typeface="Arial"/>
              </a:rPr>
              <a:t>nợ</a:t>
            </a:r>
            <a:r>
              <a:rPr sz="605" b="0" i="0" dirty="0">
                <a:solidFill>
                  <a:srgbClr val="2B2B2E"/>
                </a:solidFill>
                <a:latin typeface="Arial"/>
              </a:rPr>
              <a:t>) </a:t>
            </a:r>
            <a:r>
              <a:rPr sz="605" b="0" i="0" dirty="0" err="1">
                <a:solidFill>
                  <a:srgbClr val="2B2B2E"/>
                </a:solidFill>
                <a:latin typeface="Arial"/>
              </a:rPr>
              <a:t>vì</a:t>
            </a:r>
            <a:r>
              <a:rPr sz="605" b="0" i="0" dirty="0">
                <a:solidFill>
                  <a:srgbClr val="2B2B2E"/>
                </a:solidFill>
                <a:latin typeface="Arial"/>
              </a:rPr>
              <a:t>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nguồn</a:t>
            </a:r>
            <a:r>
              <a:rPr sz="605" b="0" i="0" dirty="0">
                <a:solidFill>
                  <a:srgbClr val="2B2B2E"/>
                </a:solidFill>
                <a:latin typeface="Arial"/>
              </a:rPr>
              <a:t> </a:t>
            </a:r>
            <a:r>
              <a:rPr sz="605" b="0" i="0" dirty="0" err="1">
                <a:solidFill>
                  <a:srgbClr val="2B2B2E"/>
                </a:solidFill>
                <a:latin typeface="Arial"/>
              </a:rPr>
              <a:t>vốn</a:t>
            </a:r>
            <a:r>
              <a:rPr sz="605" b="0" i="0" dirty="0">
                <a:solidFill>
                  <a:srgbClr val="2B2B2E"/>
                </a:solidFill>
                <a:latin typeface="Arial"/>
              </a:rPr>
              <a:t> </a:t>
            </a:r>
            <a:r>
              <a:rPr sz="605" b="0" i="0" dirty="0" err="1">
                <a:solidFill>
                  <a:srgbClr val="2B2B2E"/>
                </a:solidFill>
                <a:latin typeface="Arial"/>
              </a:rPr>
              <a:t>miễn</a:t>
            </a:r>
            <a:r>
              <a:rPr sz="605" b="0" i="0" dirty="0">
                <a:solidFill>
                  <a:srgbClr val="2B2B2E"/>
                </a:solidFill>
                <a:latin typeface="Arial"/>
              </a:rPr>
              <a:t> </a:t>
            </a:r>
            <a:r>
              <a:rPr sz="605" b="0" i="0" dirty="0" err="1">
                <a:solidFill>
                  <a:srgbClr val="2B2B2E"/>
                </a:solidFill>
                <a:latin typeface="Arial"/>
              </a:rPr>
              <a:t>lãi</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chủ</a:t>
            </a:r>
            <a:r>
              <a:rPr sz="605" b="0" i="0" dirty="0">
                <a:solidFill>
                  <a:srgbClr val="2B2B2E"/>
                </a:solidFill>
                <a:latin typeface="Arial"/>
              </a:rPr>
              <a:t> </a:t>
            </a:r>
            <a:r>
              <a:rPr sz="605" b="0" i="0" dirty="0" err="1">
                <a:solidFill>
                  <a:srgbClr val="2B2B2E"/>
                </a:solidFill>
                <a:latin typeface="Arial"/>
              </a:rPr>
              <a:t>đầu</a:t>
            </a:r>
            <a:r>
              <a:rPr sz="605" b="0" i="0" dirty="0">
                <a:solidFill>
                  <a:srgbClr val="2B2B2E"/>
                </a:solidFill>
                <a:latin typeface="Arial"/>
              </a:rPr>
              <a:t> </a:t>
            </a:r>
            <a:r>
              <a:rPr sz="605" b="0" i="0" dirty="0" err="1">
                <a:solidFill>
                  <a:srgbClr val="2B2B2E"/>
                </a:solidFill>
                <a:latin typeface="Arial"/>
              </a:rPr>
              <a:t>tư</a:t>
            </a:r>
            <a:r>
              <a:rPr sz="605" b="0" i="0" dirty="0">
                <a:solidFill>
                  <a:srgbClr val="2B2B2E"/>
                </a:solidFill>
                <a:latin typeface="Arial"/>
              </a:rPr>
              <a:t> </a:t>
            </a:r>
            <a:r>
              <a:rPr sz="605" b="0" i="0" dirty="0" err="1">
                <a:solidFill>
                  <a:srgbClr val="2B2B2E"/>
                </a:solidFill>
                <a:latin typeface="Arial"/>
              </a:rPr>
              <a:t>và</a:t>
            </a:r>
            <a:r>
              <a:rPr sz="605" b="0" i="0" dirty="0">
                <a:solidFill>
                  <a:srgbClr val="2B2B2E"/>
                </a:solidFill>
                <a:latin typeface="Arial"/>
              </a:rPr>
              <a:t> DCF </a:t>
            </a:r>
            <a:r>
              <a:rPr sz="605" b="0" i="0" dirty="0" err="1">
                <a:solidFill>
                  <a:srgbClr val="2B2B2E"/>
                </a:solidFill>
                <a:latin typeface="Arial"/>
              </a:rPr>
              <a:t>đã</a:t>
            </a:r>
            <a:r>
              <a:rPr sz="605" b="0" i="0" dirty="0">
                <a:solidFill>
                  <a:srgbClr val="2B2B2E"/>
                </a:solidFill>
                <a:latin typeface="Arial"/>
              </a:rPr>
              <a:t> </a:t>
            </a:r>
            <a:r>
              <a:rPr sz="605" b="0" i="0" dirty="0" err="1">
                <a:solidFill>
                  <a:srgbClr val="2B2B2E"/>
                </a:solidFill>
                <a:latin typeface="Arial"/>
              </a:rPr>
              <a:t>mô</a:t>
            </a:r>
            <a:r>
              <a:rPr sz="605" b="0" i="0" dirty="0">
                <a:solidFill>
                  <a:srgbClr val="2B2B2E"/>
                </a:solidFill>
                <a:latin typeface="Arial"/>
              </a:rPr>
              <a:t> </a:t>
            </a:r>
            <a:r>
              <a:rPr sz="605" b="0" i="0" dirty="0" err="1">
                <a:solidFill>
                  <a:srgbClr val="2B2B2E"/>
                </a:solidFill>
                <a:latin typeface="Arial"/>
              </a:rPr>
              <a:t>hình</a:t>
            </a:r>
            <a:r>
              <a:rPr sz="605" b="0" i="0" dirty="0">
                <a:solidFill>
                  <a:srgbClr val="2B2B2E"/>
                </a:solidFill>
                <a:latin typeface="Arial"/>
              </a:rPr>
              <a:t> </a:t>
            </a:r>
            <a:r>
              <a:rPr sz="605" b="0" i="0" dirty="0" err="1">
                <a:solidFill>
                  <a:srgbClr val="2B2B2E"/>
                </a:solidFill>
                <a:latin typeface="Arial"/>
              </a:rPr>
              <a:t>hoá</a:t>
            </a:r>
            <a:r>
              <a:rPr sz="605" b="0" i="0" dirty="0">
                <a:solidFill>
                  <a:srgbClr val="2B2B2E"/>
                </a:solidFill>
                <a:latin typeface="Arial"/>
              </a:rPr>
              <a:t> </a:t>
            </a:r>
            <a:r>
              <a:rPr sz="605" b="0" i="0" dirty="0" err="1">
                <a:solidFill>
                  <a:srgbClr val="2B2B2E"/>
                </a:solidFill>
                <a:latin typeface="Arial"/>
              </a:rPr>
              <a:t>diễn</a:t>
            </a:r>
            <a:r>
              <a:rPr sz="605" b="0" i="0" dirty="0">
                <a:solidFill>
                  <a:srgbClr val="2B2B2E"/>
                </a:solidFill>
                <a:latin typeface="Arial"/>
              </a:rPr>
              <a:t> </a:t>
            </a:r>
            <a:r>
              <a:rPr sz="605" b="0" i="0" dirty="0" err="1">
                <a:solidFill>
                  <a:srgbClr val="2B2B2E"/>
                </a:solidFill>
                <a:latin typeface="Arial"/>
              </a:rPr>
              <a:t>biến</a:t>
            </a:r>
            <a:r>
              <a:rPr sz="605" b="0" i="0" dirty="0">
                <a:solidFill>
                  <a:srgbClr val="2B2B2E"/>
                </a:solidFill>
                <a:latin typeface="Arial"/>
              </a:rPr>
              <a:t> </a:t>
            </a:r>
            <a:r>
              <a:rPr sz="605" b="0" i="0" dirty="0" err="1">
                <a:solidFill>
                  <a:srgbClr val="2B2B2E"/>
                </a:solidFill>
                <a:latin typeface="Arial"/>
              </a:rPr>
              <a:t>của</a:t>
            </a:r>
            <a:r>
              <a:rPr sz="605" b="0" i="0" dirty="0">
                <a:solidFill>
                  <a:srgbClr val="2B2B2E"/>
                </a:solidFill>
                <a:latin typeface="Arial"/>
              </a:rPr>
              <a:t> </a:t>
            </a:r>
            <a:r>
              <a:rPr sz="605" b="0" i="0" dirty="0" err="1">
                <a:solidFill>
                  <a:srgbClr val="2B2B2E"/>
                </a:solidFill>
                <a:latin typeface="Arial"/>
              </a:rPr>
              <a:t>nó</a:t>
            </a:r>
            <a:r>
              <a:rPr sz="605" b="0" i="0" dirty="0">
                <a:solidFill>
                  <a:srgbClr val="2B2B2E"/>
                </a:solidFill>
                <a:latin typeface="Arial"/>
              </a:rPr>
              <a:t>; </a:t>
            </a:r>
            <a:r>
              <a:rPr sz="605" b="0" i="0" dirty="0" err="1">
                <a:solidFill>
                  <a:srgbClr val="2B2B2E"/>
                </a:solidFill>
                <a:latin typeface="Arial"/>
              </a:rPr>
              <a:t>nếu</a:t>
            </a:r>
            <a:r>
              <a:rPr sz="605" b="0" i="0" dirty="0">
                <a:solidFill>
                  <a:srgbClr val="2B2B2E"/>
                </a:solidFill>
                <a:latin typeface="Arial"/>
              </a:rPr>
              <a:t> 25% </a:t>
            </a:r>
            <a:r>
              <a:rPr sz="605" b="0" i="0" dirty="0" err="1">
                <a:solidFill>
                  <a:srgbClr val="2B2B2E"/>
                </a:solidFill>
                <a:latin typeface="Arial"/>
              </a:rPr>
              <a:t>là</a:t>
            </a:r>
            <a:r>
              <a:rPr sz="605" b="0" i="0" dirty="0">
                <a:solidFill>
                  <a:srgbClr val="2B2B2E"/>
                </a:solidFill>
                <a:latin typeface="Arial"/>
              </a:rPr>
              <a:t> </a:t>
            </a:r>
            <a:r>
              <a:rPr sz="605" b="0" i="0" dirty="0" err="1">
                <a:solidFill>
                  <a:srgbClr val="2B2B2E"/>
                </a:solidFill>
                <a:latin typeface="Arial"/>
              </a:rPr>
              <a:t>nợ</a:t>
            </a:r>
            <a:r>
              <a:rPr sz="605" b="0" i="0" dirty="0">
                <a:solidFill>
                  <a:srgbClr val="2B2B2E"/>
                </a:solidFill>
                <a:latin typeface="Arial"/>
              </a:rPr>
              <a:t>, </a:t>
            </a:r>
            <a:r>
              <a:rPr sz="605" b="0" i="0" dirty="0" err="1">
                <a:solidFill>
                  <a:srgbClr val="2B2B2E"/>
                </a:solidFill>
                <a:latin typeface="Arial"/>
              </a:rPr>
              <a:t>giá</a:t>
            </a:r>
            <a:r>
              <a:rPr sz="605" b="0" i="0" dirty="0">
                <a:solidFill>
                  <a:srgbClr val="2B2B2E"/>
                </a:solidFill>
                <a:latin typeface="Arial"/>
              </a:rPr>
              <a:t> </a:t>
            </a:r>
            <a:r>
              <a:rPr sz="605" b="0" i="0" dirty="0" err="1">
                <a:solidFill>
                  <a:srgbClr val="2B2B2E"/>
                </a:solidFill>
                <a:latin typeface="Arial"/>
              </a:rPr>
              <a:t>mục</a:t>
            </a:r>
            <a:r>
              <a:rPr sz="605" b="0" i="0" dirty="0">
                <a:solidFill>
                  <a:srgbClr val="2B2B2E"/>
                </a:solidFill>
                <a:latin typeface="Arial"/>
              </a:rPr>
              <a:t> </a:t>
            </a:r>
            <a:r>
              <a:rPr sz="605" b="0" i="0" dirty="0" err="1">
                <a:solidFill>
                  <a:srgbClr val="2B2B2E"/>
                </a:solidFill>
                <a:latin typeface="Arial"/>
              </a:rPr>
              <a:t>tiêu</a:t>
            </a:r>
            <a:r>
              <a:rPr sz="605" b="0" i="0" dirty="0">
                <a:solidFill>
                  <a:srgbClr val="2B2B2E"/>
                </a:solidFill>
                <a:latin typeface="Arial"/>
              </a:rPr>
              <a:t> ~75,600 (+27%), </a:t>
            </a:r>
            <a:r>
              <a:rPr sz="605" b="0" i="0" dirty="0" err="1">
                <a:solidFill>
                  <a:srgbClr val="2B2B2E"/>
                </a:solidFill>
                <a:latin typeface="Arial"/>
              </a:rPr>
              <a:t>nếu</a:t>
            </a:r>
            <a:r>
              <a:rPr sz="605" b="0" i="0" dirty="0">
                <a:solidFill>
                  <a:srgbClr val="2B2B2E"/>
                </a:solidFill>
                <a:latin typeface="Arial"/>
              </a:rPr>
              <a:t> 50% </a:t>
            </a:r>
            <a:r>
              <a:rPr sz="605" b="0" i="0" dirty="0" err="1">
                <a:solidFill>
                  <a:srgbClr val="2B2B2E"/>
                </a:solidFill>
                <a:latin typeface="Arial"/>
              </a:rPr>
              <a:t>thì</a:t>
            </a:r>
            <a:r>
              <a:rPr sz="605" b="0" i="0" dirty="0">
                <a:solidFill>
                  <a:srgbClr val="2B2B2E"/>
                </a:solidFill>
                <a:latin typeface="Arial"/>
              </a:rPr>
              <a:t> ~67,500 (+14%).</a:t>
            </a:r>
          </a:p>
        </p:txBody>
      </p:sp>
      <p:pic>
        <p:nvPicPr>
          <p:cNvPr id="42" name="Picture 41" descr="p1_0.png"/>
          <p:cNvPicPr>
            <a:picLocks noChangeAspect="1"/>
          </p:cNvPicPr>
          <p:nvPr/>
        </p:nvPicPr>
        <p:blipFill>
          <a:blip r:embed="rId3"/>
          <a:stretch>
            <a:fillRect/>
          </a:stretch>
        </p:blipFill>
        <p:spPr>
          <a:xfrm>
            <a:off x="236250" y="1235883"/>
            <a:ext cx="2090812" cy="945000"/>
          </a:xfrm>
          <a:prstGeom prst="rect">
            <a:avLst/>
          </a:prstGeom>
        </p:spPr>
      </p:pic>
      <p:pic>
        <p:nvPicPr>
          <p:cNvPr id="43" name="Picture 42" descr="p1_1.png"/>
          <p:cNvPicPr>
            <a:picLocks noChangeAspect="1"/>
          </p:cNvPicPr>
          <p:nvPr/>
        </p:nvPicPr>
        <p:blipFill>
          <a:blip r:embed="rId4"/>
          <a:stretch>
            <a:fillRect/>
          </a:stretch>
        </p:blipFill>
        <p:spPr>
          <a:xfrm>
            <a:off x="236250" y="3019201"/>
            <a:ext cx="2090812" cy="992250"/>
          </a:xfrm>
          <a:prstGeom prst="rect">
            <a:avLst/>
          </a:prstGeom>
        </p:spPr>
      </p:pic>
      <p:pic>
        <p:nvPicPr>
          <p:cNvPr id="44" name="Picture 43" descr="p1_2.png"/>
          <p:cNvPicPr>
            <a:picLocks noChangeAspect="1"/>
          </p:cNvPicPr>
          <p:nvPr/>
        </p:nvPicPr>
        <p:blipFill>
          <a:blip r:embed="rId5"/>
          <a:stretch>
            <a:fillRect/>
          </a:stretch>
        </p:blipFill>
        <p:spPr>
          <a:xfrm>
            <a:off x="236250" y="4802796"/>
            <a:ext cx="2090812" cy="637875"/>
          </a:xfrm>
          <a:prstGeom prst="rect">
            <a:avLst/>
          </a:prstGeom>
        </p:spPr>
      </p:pic>
      <p:pic>
        <p:nvPicPr>
          <p:cNvPr id="45" name="Picture 44" descr="p1_3.png"/>
          <p:cNvPicPr>
            <a:picLocks noChangeAspect="1"/>
          </p:cNvPicPr>
          <p:nvPr/>
        </p:nvPicPr>
        <p:blipFill>
          <a:blip r:embed="rId6"/>
          <a:stretch>
            <a:fillRect/>
          </a:stretch>
        </p:blipFill>
        <p:spPr>
          <a:xfrm>
            <a:off x="236250" y="5761085"/>
            <a:ext cx="2090812" cy="661500"/>
          </a:xfrm>
          <a:prstGeom prst="rect">
            <a:avLst/>
          </a:prstGeom>
        </p:spPr>
      </p:pic>
      <p:pic>
        <p:nvPicPr>
          <p:cNvPr id="46" name="Picture 45" descr="p1_4.png"/>
          <p:cNvPicPr>
            <a:picLocks noChangeAspect="1"/>
          </p:cNvPicPr>
          <p:nvPr/>
        </p:nvPicPr>
        <p:blipFill>
          <a:blip r:embed="rId7"/>
          <a:stretch>
            <a:fillRect/>
          </a:stretch>
        </p:blipFill>
        <p:spPr>
          <a:xfrm>
            <a:off x="236250" y="7001213"/>
            <a:ext cx="7087500" cy="992250"/>
          </a:xfrm>
          <a:prstGeom prst="rect">
            <a:avLst/>
          </a:prstGeom>
        </p:spPr>
      </p:pic>
      <p:pic>
        <p:nvPicPr>
          <p:cNvPr id="47" name="Picture 46" descr="p1_5.png"/>
          <p:cNvPicPr>
            <a:picLocks noChangeAspect="1"/>
          </p:cNvPicPr>
          <p:nvPr/>
        </p:nvPicPr>
        <p:blipFill>
          <a:blip r:embed="rId8"/>
          <a:stretch>
            <a:fillRect/>
          </a:stretch>
        </p:blipFill>
        <p:spPr>
          <a:xfrm>
            <a:off x="236250" y="8243741"/>
            <a:ext cx="2090812" cy="708750"/>
          </a:xfrm>
          <a:prstGeom prst="rect">
            <a:avLst/>
          </a:prstGeom>
        </p:spPr>
      </p:pic>
      <p:graphicFrame>
        <p:nvGraphicFramePr>
          <p:cNvPr id="50" name="Table 49"/>
          <p:cNvGraphicFramePr>
            <a:graphicFrameLocks noGrp="1"/>
          </p:cNvGraphicFramePr>
          <p:nvPr>
            <p:extLst>
              <p:ext uri="{D42A27DB-BD31-4B8C-83A1-F6EECF244321}">
                <p14:modId xmlns:p14="http://schemas.microsoft.com/office/powerpoint/2010/main" val="3264457562"/>
              </p:ext>
            </p:extLst>
          </p:nvPr>
        </p:nvGraphicFramePr>
        <p:xfrm>
          <a:off x="2489033" y="5703438"/>
          <a:ext cx="4746180" cy="892828"/>
        </p:xfrm>
        <a:graphic>
          <a:graphicData uri="http://schemas.openxmlformats.org/drawingml/2006/table">
            <a:tbl>
              <a:tblPr>
                <a:tableStyleId>{2D5ABB26-0587-4C30-8999-92F81FD0307C}</a:tableStyleId>
              </a:tblPr>
              <a:tblGrid>
                <a:gridCol w="1694409">
                  <a:extLst>
                    <a:ext uri="{9D8B030D-6E8A-4147-A177-3AD203B41FA5}">
                      <a16:colId xmlns:a16="http://schemas.microsoft.com/office/drawing/2014/main" val="20000"/>
                    </a:ext>
                  </a:extLst>
                </a:gridCol>
                <a:gridCol w="613432">
                  <a:extLst>
                    <a:ext uri="{9D8B030D-6E8A-4147-A177-3AD203B41FA5}">
                      <a16:colId xmlns:a16="http://schemas.microsoft.com/office/drawing/2014/main" val="20001"/>
                    </a:ext>
                  </a:extLst>
                </a:gridCol>
                <a:gridCol w="609472">
                  <a:extLst>
                    <a:ext uri="{9D8B030D-6E8A-4147-A177-3AD203B41FA5}">
                      <a16:colId xmlns:a16="http://schemas.microsoft.com/office/drawing/2014/main" val="20002"/>
                    </a:ext>
                  </a:extLst>
                </a:gridCol>
                <a:gridCol w="609472">
                  <a:extLst>
                    <a:ext uri="{9D8B030D-6E8A-4147-A177-3AD203B41FA5}">
                      <a16:colId xmlns:a16="http://schemas.microsoft.com/office/drawing/2014/main" val="20003"/>
                    </a:ext>
                  </a:extLst>
                </a:gridCol>
                <a:gridCol w="609472">
                  <a:extLst>
                    <a:ext uri="{9D8B030D-6E8A-4147-A177-3AD203B41FA5}">
                      <a16:colId xmlns:a16="http://schemas.microsoft.com/office/drawing/2014/main" val="20004"/>
                    </a:ext>
                  </a:extLst>
                </a:gridCol>
                <a:gridCol w="609923">
                  <a:extLst>
                    <a:ext uri="{9D8B030D-6E8A-4147-A177-3AD203B41FA5}">
                      <a16:colId xmlns:a16="http://schemas.microsoft.com/office/drawing/2014/main" val="20005"/>
                    </a:ext>
                  </a:extLst>
                </a:gridCol>
              </a:tblGrid>
              <a:tr h="89776">
                <a:tc>
                  <a:txBody>
                    <a:bodyPr/>
                    <a:lstStyle/>
                    <a:p>
                      <a:pPr algn="l">
                        <a:lnSpc>
                          <a:spcPts val="623"/>
                        </a:lnSpc>
                        <a:spcBef>
                          <a:spcPts val="0"/>
                        </a:spcBef>
                        <a:spcAft>
                          <a:spcPts val="0"/>
                        </a:spcAft>
                      </a:pPr>
                      <a:r>
                        <a:rPr sz="465" b="1" i="0" dirty="0" err="1">
                          <a:solidFill>
                            <a:srgbClr val="FFFFFF"/>
                          </a:solidFill>
                          <a:latin typeface="Arial"/>
                        </a:rPr>
                        <a:t>Tỷ</a:t>
                      </a:r>
                      <a:r>
                        <a:rPr sz="465" b="1" i="0" dirty="0">
                          <a:solidFill>
                            <a:srgbClr val="FFFFFF"/>
                          </a:solidFill>
                          <a:latin typeface="Arial"/>
                        </a:rPr>
                        <a:t> </a:t>
                      </a:r>
                      <a:r>
                        <a:rPr sz="465" b="1" i="0" dirty="0" err="1">
                          <a:solidFill>
                            <a:srgbClr val="FFFFFF"/>
                          </a:solidFill>
                          <a:latin typeface="Arial"/>
                        </a:rPr>
                        <a:t>đồng</a:t>
                      </a:r>
                      <a:endParaRPr lang="vi-VN" sz="600" dirty="0"/>
                    </a:p>
                  </a:txBody>
                  <a:tcPr marL="35438" marR="35438" marT="11812" marB="11812">
                    <a:lnL w="0">
                      <a:noFill/>
                    </a:lnL>
                    <a:lnR w="0">
                      <a:noFill/>
                    </a:lnR>
                    <a:lnT w="0">
                      <a:noFill/>
                    </a:lnT>
                    <a:lnB w="9525">
                      <a:solidFill>
                        <a:srgbClr val="FFFFFF"/>
                      </a:solidFill>
                    </a:lnB>
                    <a:solidFill>
                      <a:srgbClr val="3A3A3E"/>
                    </a:solidFill>
                  </a:tcPr>
                </a:tc>
                <a:tc>
                  <a:txBody>
                    <a:bodyPr/>
                    <a:lstStyle/>
                    <a:p>
                      <a:pPr algn="r">
                        <a:lnSpc>
                          <a:spcPts val="623"/>
                        </a:lnSpc>
                        <a:spcBef>
                          <a:spcPts val="0"/>
                        </a:spcBef>
                        <a:spcAft>
                          <a:spcPts val="0"/>
                        </a:spcAft>
                      </a:pPr>
                      <a:r>
                        <a:rPr sz="465" b="1" i="0">
                          <a:solidFill>
                            <a:srgbClr val="FFFFFF"/>
                          </a:solidFill>
                          <a:latin typeface="Arial"/>
                        </a:rPr>
                        <a:t>FY25A</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r">
                        <a:lnSpc>
                          <a:spcPts val="623"/>
                        </a:lnSpc>
                        <a:spcBef>
                          <a:spcPts val="0"/>
                        </a:spcBef>
                        <a:spcAft>
                          <a:spcPts val="0"/>
                        </a:spcAft>
                      </a:pPr>
                      <a:r>
                        <a:rPr sz="465" b="1" i="0">
                          <a:solidFill>
                            <a:srgbClr val="FFFFFF"/>
                          </a:solidFill>
                          <a:latin typeface="Arial"/>
                        </a:rPr>
                        <a:t>FY26A</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r">
                        <a:lnSpc>
                          <a:spcPts val="623"/>
                        </a:lnSpc>
                        <a:spcBef>
                          <a:spcPts val="0"/>
                        </a:spcBef>
                        <a:spcAft>
                          <a:spcPts val="0"/>
                        </a:spcAft>
                      </a:pPr>
                      <a:r>
                        <a:rPr sz="465" b="1" i="0" dirty="0">
                          <a:solidFill>
                            <a:srgbClr val="3A3A3E"/>
                          </a:solidFill>
                          <a:latin typeface="Arial"/>
                        </a:rPr>
                        <a:t>FY27E</a:t>
                      </a:r>
                      <a:endParaRPr lang="vi-VN" sz="600" dirty="0"/>
                    </a:p>
                  </a:txBody>
                  <a:tcPr marL="35438" marR="35438" marT="11812" marB="11812">
                    <a:lnL w="0">
                      <a:noFill/>
                    </a:lnL>
                    <a:lnR w="0">
                      <a:noFill/>
                    </a:lnR>
                    <a:lnT w="0">
                      <a:noFill/>
                    </a:lnT>
                    <a:lnB w="9525">
                      <a:solidFill>
                        <a:srgbClr val="FFFFFF"/>
                      </a:solidFill>
                    </a:lnB>
                    <a:solidFill>
                      <a:srgbClr val="ECECEE"/>
                    </a:solidFill>
                  </a:tcPr>
                </a:tc>
                <a:tc>
                  <a:txBody>
                    <a:bodyPr/>
                    <a:lstStyle/>
                    <a:p>
                      <a:pPr algn="r">
                        <a:lnSpc>
                          <a:spcPts val="623"/>
                        </a:lnSpc>
                        <a:spcBef>
                          <a:spcPts val="0"/>
                        </a:spcBef>
                        <a:spcAft>
                          <a:spcPts val="0"/>
                        </a:spcAft>
                      </a:pPr>
                      <a:r>
                        <a:rPr sz="465" b="1" i="0">
                          <a:solidFill>
                            <a:srgbClr val="3A3A3E"/>
                          </a:solidFill>
                          <a:latin typeface="Arial"/>
                        </a:rPr>
                        <a:t>FY28E</a:t>
                      </a:r>
                      <a:endParaRPr lang="vi-VN" sz="600"/>
                    </a:p>
                  </a:txBody>
                  <a:tcPr marL="35438" marR="35438" marT="11812" marB="11812">
                    <a:lnL w="0">
                      <a:noFill/>
                    </a:lnL>
                    <a:lnR w="0">
                      <a:noFill/>
                    </a:lnR>
                    <a:lnT w="0">
                      <a:noFill/>
                    </a:lnT>
                    <a:lnB w="9525">
                      <a:solidFill>
                        <a:srgbClr val="FFFFFF"/>
                      </a:solidFill>
                    </a:lnB>
                    <a:solidFill>
                      <a:srgbClr val="ECECEE"/>
                    </a:solidFill>
                  </a:tcPr>
                </a:tc>
                <a:tc>
                  <a:txBody>
                    <a:bodyPr/>
                    <a:lstStyle/>
                    <a:p>
                      <a:pPr algn="r">
                        <a:lnSpc>
                          <a:spcPts val="623"/>
                        </a:lnSpc>
                        <a:spcBef>
                          <a:spcPts val="0"/>
                        </a:spcBef>
                        <a:spcAft>
                          <a:spcPts val="0"/>
                        </a:spcAft>
                      </a:pPr>
                      <a:r>
                        <a:rPr sz="465" b="1" i="0">
                          <a:solidFill>
                            <a:srgbClr val="3A3A3E"/>
                          </a:solidFill>
                          <a:latin typeface="Arial"/>
                        </a:rPr>
                        <a:t>FY29E</a:t>
                      </a:r>
                      <a:endParaRPr lang="vi-VN" sz="600"/>
                    </a:p>
                  </a:txBody>
                  <a:tcPr marL="35438" marR="35438" marT="11812" marB="11812">
                    <a:lnL w="0">
                      <a:noFill/>
                    </a:lnL>
                    <a:lnR w="0">
                      <a:noFill/>
                    </a:lnR>
                    <a:lnT w="0">
                      <a:noFill/>
                    </a:lnT>
                    <a:lnB w="9525">
                      <a:solidFill>
                        <a:srgbClr val="FFFFFF"/>
                      </a:solidFill>
                    </a:lnB>
                    <a:solidFill>
                      <a:srgbClr val="ECECEE"/>
                    </a:solidFill>
                  </a:tcPr>
                </a:tc>
                <a:extLst>
                  <a:ext uri="{0D108BD9-81ED-4DB2-BD59-A6C34878D82A}">
                    <a16:rowId xmlns:a16="http://schemas.microsoft.com/office/drawing/2014/main" val="10000"/>
                  </a:ext>
                </a:extLst>
              </a:tr>
              <a:tr h="95099">
                <a:tc>
                  <a:txBody>
                    <a:bodyPr/>
                    <a:lstStyle/>
                    <a:p>
                      <a:pPr algn="l">
                        <a:lnSpc>
                          <a:spcPts val="623"/>
                        </a:lnSpc>
                        <a:spcBef>
                          <a:spcPts val="0"/>
                        </a:spcBef>
                        <a:spcAft>
                          <a:spcPts val="0"/>
                        </a:spcAft>
                      </a:pPr>
                      <a:r>
                        <a:rPr sz="512" b="0" i="0">
                          <a:solidFill>
                            <a:srgbClr val="2B2B2E"/>
                          </a:solidFill>
                          <a:latin typeface="Arial"/>
                        </a:rPr>
                        <a:t>Doanh thu</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r">
                        <a:lnSpc>
                          <a:spcPts val="623"/>
                        </a:lnSpc>
                        <a:spcBef>
                          <a:spcPts val="0"/>
                        </a:spcBef>
                        <a:spcAft>
                          <a:spcPts val="0"/>
                        </a:spcAft>
                      </a:pPr>
                      <a:r>
                        <a:rPr sz="512" b="0" i="0" dirty="0">
                          <a:solidFill>
                            <a:srgbClr val="2B2B2E"/>
                          </a:solidFill>
                          <a:latin typeface="Arial"/>
                        </a:rPr>
                        <a:t>24,885</a:t>
                      </a:r>
                      <a:endParaRPr lang="vi-VN" sz="600" dirty="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2B2B2E"/>
                          </a:solidFill>
                          <a:latin typeface="Arial"/>
                        </a:rPr>
                        <a:t>34,340</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r">
                        <a:lnSpc>
                          <a:spcPts val="623"/>
                        </a:lnSpc>
                        <a:spcBef>
                          <a:spcPts val="0"/>
                        </a:spcBef>
                        <a:spcAft>
                          <a:spcPts val="0"/>
                        </a:spcAft>
                      </a:pPr>
                      <a:r>
                        <a:rPr sz="512" b="0" i="0" dirty="0">
                          <a:solidFill>
                            <a:srgbClr val="3A3A3E"/>
                          </a:solidFill>
                          <a:latin typeface="Arial"/>
                        </a:rPr>
                        <a:t>40,000</a:t>
                      </a:r>
                      <a:endParaRPr lang="vi-VN" sz="600" dirty="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44,800</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49,300</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1"/>
                  </a:ext>
                </a:extLst>
              </a:tr>
              <a:tr h="95099">
                <a:tc>
                  <a:txBody>
                    <a:bodyPr/>
                    <a:lstStyle/>
                    <a:p>
                      <a:pPr algn="l">
                        <a:lnSpc>
                          <a:spcPts val="623"/>
                        </a:lnSpc>
                        <a:spcBef>
                          <a:spcPts val="0"/>
                        </a:spcBef>
                        <a:spcAft>
                          <a:spcPts val="0"/>
                        </a:spcAft>
                      </a:pPr>
                      <a:r>
                        <a:rPr sz="512" b="0" i="0">
                          <a:solidFill>
                            <a:srgbClr val="2B2B2E"/>
                          </a:solidFill>
                          <a:latin typeface="Arial"/>
                        </a:rPr>
                        <a:t>Tăng trưởng</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18.2%</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38.0%</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dirty="0">
                          <a:solidFill>
                            <a:srgbClr val="3A3A3E"/>
                          </a:solidFill>
                          <a:latin typeface="Arial"/>
                        </a:rPr>
                        <a:t>16.5%</a:t>
                      </a:r>
                      <a:endParaRPr lang="vi-VN" sz="600" dirty="0"/>
                    </a:p>
                  </a:txBody>
                  <a:tcPr marL="35438" marR="35438" marT="11812" marB="11812">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12.0%</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10.0%</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2"/>
                  </a:ext>
                </a:extLst>
              </a:tr>
              <a:tr h="95099">
                <a:tc>
                  <a:txBody>
                    <a:bodyPr/>
                    <a:lstStyle/>
                    <a:p>
                      <a:pPr algn="l">
                        <a:lnSpc>
                          <a:spcPts val="623"/>
                        </a:lnSpc>
                        <a:spcBef>
                          <a:spcPts val="0"/>
                        </a:spcBef>
                        <a:spcAft>
                          <a:spcPts val="0"/>
                        </a:spcAft>
                      </a:pPr>
                      <a:r>
                        <a:rPr sz="512" b="1" i="0">
                          <a:solidFill>
                            <a:srgbClr val="3A3A3E"/>
                          </a:solidFill>
                          <a:latin typeface="Arial"/>
                        </a:rPr>
                        <a:t>Biên gộp</a:t>
                      </a:r>
                      <a:endParaRPr lang="vi-VN" sz="60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dirty="0">
                          <a:solidFill>
                            <a:srgbClr val="3A3A3E"/>
                          </a:solidFill>
                          <a:latin typeface="Arial"/>
                        </a:rPr>
                        <a:t>3.28%</a:t>
                      </a:r>
                      <a:endParaRPr lang="vi-VN" sz="600" dirty="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a:solidFill>
                            <a:srgbClr val="3A3A3E"/>
                          </a:solidFill>
                          <a:latin typeface="Arial"/>
                        </a:rPr>
                        <a:t>4.21%</a:t>
                      </a:r>
                      <a:endParaRPr lang="vi-VN" sz="60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a:solidFill>
                            <a:srgbClr val="3A3A3E"/>
                          </a:solidFill>
                          <a:latin typeface="Arial"/>
                        </a:rPr>
                        <a:t>4.45%</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1" i="0" dirty="0">
                          <a:solidFill>
                            <a:srgbClr val="3A3A3E"/>
                          </a:solidFill>
                          <a:latin typeface="Arial"/>
                        </a:rPr>
                        <a:t>4.45%</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1" i="0">
                          <a:solidFill>
                            <a:srgbClr val="3A3A3E"/>
                          </a:solidFill>
                          <a:latin typeface="Arial"/>
                        </a:rPr>
                        <a:t>4.45%</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3"/>
                  </a:ext>
                </a:extLst>
              </a:tr>
              <a:tr h="95099">
                <a:tc>
                  <a:txBody>
                    <a:bodyPr/>
                    <a:lstStyle/>
                    <a:p>
                      <a:pPr algn="l">
                        <a:lnSpc>
                          <a:spcPts val="623"/>
                        </a:lnSpc>
                        <a:spcBef>
                          <a:spcPts val="0"/>
                        </a:spcBef>
                        <a:spcAft>
                          <a:spcPts val="0"/>
                        </a:spcAft>
                      </a:pPr>
                      <a:r>
                        <a:rPr sz="512" b="0" i="0" dirty="0">
                          <a:solidFill>
                            <a:srgbClr val="2B2B2E"/>
                          </a:solidFill>
                          <a:latin typeface="Arial"/>
                        </a:rPr>
                        <a:t>EBIT</a:t>
                      </a:r>
                      <a:r>
                        <a:rPr lang="en-US" sz="512" b="0" i="0" dirty="0">
                          <a:solidFill>
                            <a:srgbClr val="2B2B2E"/>
                          </a:solidFill>
                          <a:latin typeface="Arial"/>
                        </a:rPr>
                        <a:t>¹</a:t>
                      </a:r>
                      <a:endParaRPr lang="vi-VN" sz="600" dirty="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533</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826</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3A3A3E"/>
                          </a:solidFill>
                          <a:latin typeface="Arial"/>
                        </a:rPr>
                        <a:t>1,100</a:t>
                      </a:r>
                      <a:endParaRPr lang="vi-VN" sz="600"/>
                    </a:p>
                  </a:txBody>
                  <a:tcPr marL="35438" marR="35438" marT="11812" marB="11812">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1,247</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1,391</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4"/>
                  </a:ext>
                </a:extLst>
              </a:tr>
              <a:tr h="95099">
                <a:tc>
                  <a:txBody>
                    <a:bodyPr/>
                    <a:lstStyle/>
                    <a:p>
                      <a:pPr algn="l">
                        <a:lnSpc>
                          <a:spcPts val="623"/>
                        </a:lnSpc>
                        <a:spcBef>
                          <a:spcPts val="0"/>
                        </a:spcBef>
                        <a:spcAft>
                          <a:spcPts val="0"/>
                        </a:spcAft>
                      </a:pPr>
                      <a:r>
                        <a:rPr sz="512" b="1" i="0">
                          <a:solidFill>
                            <a:srgbClr val="3A3A3E"/>
                          </a:solidFill>
                          <a:latin typeface="Arial"/>
                        </a:rPr>
                        <a:t>LNST</a:t>
                      </a:r>
                      <a:endParaRPr lang="vi-VN" sz="60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a:solidFill>
                            <a:srgbClr val="3A3A3E"/>
                          </a:solidFill>
                          <a:latin typeface="Arial"/>
                        </a:rPr>
                        <a:t>456</a:t>
                      </a:r>
                      <a:endParaRPr lang="vi-VN" sz="60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a:solidFill>
                            <a:srgbClr val="3A3A3E"/>
                          </a:solidFill>
                          <a:latin typeface="Arial"/>
                        </a:rPr>
                        <a:t>788</a:t>
                      </a:r>
                      <a:endParaRPr lang="vi-VN" sz="600"/>
                    </a:p>
                  </a:txBody>
                  <a:tcPr marL="35438" marR="35438" marT="11812" marB="11812">
                    <a:lnL w="0">
                      <a:noFill/>
                    </a:lnL>
                    <a:lnR w="0">
                      <a:noFill/>
                    </a:lnR>
                    <a:lnB w="9525">
                      <a:solidFill>
                        <a:srgbClr val="E3E0E0"/>
                      </a:solidFill>
                    </a:lnB>
                    <a:solidFill>
                      <a:srgbClr val="E9E6E7"/>
                    </a:solidFill>
                  </a:tcPr>
                </a:tc>
                <a:tc>
                  <a:txBody>
                    <a:bodyPr/>
                    <a:lstStyle/>
                    <a:p>
                      <a:pPr algn="r">
                        <a:lnSpc>
                          <a:spcPts val="623"/>
                        </a:lnSpc>
                        <a:spcBef>
                          <a:spcPts val="0"/>
                        </a:spcBef>
                        <a:spcAft>
                          <a:spcPts val="0"/>
                        </a:spcAft>
                      </a:pPr>
                      <a:r>
                        <a:rPr sz="512" b="1" i="0">
                          <a:solidFill>
                            <a:srgbClr val="3A3A3E"/>
                          </a:solidFill>
                          <a:latin typeface="Arial"/>
                        </a:rPr>
                        <a:t>894</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1" i="0" dirty="0">
                          <a:solidFill>
                            <a:srgbClr val="3A3A3E"/>
                          </a:solidFill>
                          <a:latin typeface="Arial"/>
                        </a:rPr>
                        <a:t>1,010</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1" i="0">
                          <a:solidFill>
                            <a:srgbClr val="3A3A3E"/>
                          </a:solidFill>
                          <a:latin typeface="Arial"/>
                        </a:rPr>
                        <a:t>1,129</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5"/>
                  </a:ext>
                </a:extLst>
              </a:tr>
              <a:tr h="95099">
                <a:tc>
                  <a:txBody>
                    <a:bodyPr/>
                    <a:lstStyle/>
                    <a:p>
                      <a:pPr algn="l">
                        <a:lnSpc>
                          <a:spcPts val="623"/>
                        </a:lnSpc>
                        <a:spcBef>
                          <a:spcPts val="0"/>
                        </a:spcBef>
                        <a:spcAft>
                          <a:spcPts val="0"/>
                        </a:spcAft>
                      </a:pPr>
                      <a:r>
                        <a:rPr sz="512" b="0" i="0" dirty="0">
                          <a:solidFill>
                            <a:srgbClr val="2B2B2E"/>
                          </a:solidFill>
                          <a:latin typeface="Arial"/>
                        </a:rPr>
                        <a:t>EPS (</a:t>
                      </a:r>
                      <a:r>
                        <a:rPr sz="512" b="0" i="0" dirty="0" err="1">
                          <a:solidFill>
                            <a:srgbClr val="2B2B2E"/>
                          </a:solidFill>
                          <a:latin typeface="Arial"/>
                        </a:rPr>
                        <a:t>đồng</a:t>
                      </a:r>
                      <a:r>
                        <a:rPr sz="512" b="0" i="0" dirty="0">
                          <a:solidFill>
                            <a:srgbClr val="2B2B2E"/>
                          </a:solidFill>
                          <a:latin typeface="Arial"/>
                        </a:rPr>
                        <a:t>)</a:t>
                      </a:r>
                      <a:endParaRPr lang="vi-VN" sz="600" dirty="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4,079</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7,045</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3A3A3E"/>
                          </a:solidFill>
                          <a:latin typeface="Arial"/>
                        </a:rPr>
                        <a:t>7,998</a:t>
                      </a:r>
                      <a:endParaRPr lang="vi-VN" sz="600"/>
                    </a:p>
                  </a:txBody>
                  <a:tcPr marL="35438" marR="35438" marT="11812" marB="11812">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9,032</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10,097</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6"/>
                  </a:ext>
                </a:extLst>
              </a:tr>
              <a:tr h="95099">
                <a:tc>
                  <a:txBody>
                    <a:bodyPr/>
                    <a:lstStyle/>
                    <a:p>
                      <a:pPr algn="l">
                        <a:lnSpc>
                          <a:spcPts val="623"/>
                        </a:lnSpc>
                        <a:spcBef>
                          <a:spcPts val="0"/>
                        </a:spcBef>
                        <a:spcAft>
                          <a:spcPts val="0"/>
                        </a:spcAft>
                      </a:pPr>
                      <a:r>
                        <a:rPr sz="512" b="0" i="0" dirty="0" err="1">
                          <a:solidFill>
                            <a:srgbClr val="2B2B2E"/>
                          </a:solidFill>
                          <a:latin typeface="Arial"/>
                        </a:rPr>
                        <a:t>Dòng</a:t>
                      </a:r>
                      <a:r>
                        <a:rPr sz="512" b="0" i="0" dirty="0">
                          <a:solidFill>
                            <a:srgbClr val="2B2B2E"/>
                          </a:solidFill>
                          <a:latin typeface="Arial"/>
                        </a:rPr>
                        <a:t> </a:t>
                      </a:r>
                      <a:r>
                        <a:rPr sz="512" b="0" i="0" dirty="0" err="1">
                          <a:solidFill>
                            <a:srgbClr val="2B2B2E"/>
                          </a:solidFill>
                          <a:latin typeface="Arial"/>
                        </a:rPr>
                        <a:t>tiền</a:t>
                      </a:r>
                      <a:r>
                        <a:rPr sz="512" b="0" i="0" dirty="0">
                          <a:solidFill>
                            <a:srgbClr val="2B2B2E"/>
                          </a:solidFill>
                          <a:latin typeface="Arial"/>
                        </a:rPr>
                        <a:t> HĐKD (OCF)</a:t>
                      </a:r>
                      <a:endParaRPr lang="vi-VN" sz="600" dirty="0"/>
                    </a:p>
                  </a:txBody>
                  <a:tcPr marL="35438" marR="35438" marT="11812" marB="11812">
                    <a:lnL w="0">
                      <a:noFill/>
                    </a:lnL>
                    <a:lnR w="0">
                      <a:noFill/>
                    </a:lnR>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2B2B2E"/>
                          </a:solidFill>
                          <a:latin typeface="Arial"/>
                        </a:rPr>
                        <a:t>−1,154</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2B2B2E"/>
                          </a:solidFill>
                          <a:latin typeface="Arial"/>
                        </a:rPr>
                        <a:t>816</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3A3A3E"/>
                          </a:solidFill>
                          <a:latin typeface="Arial"/>
                        </a:rPr>
                        <a:t>236</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466</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626</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7"/>
                  </a:ext>
                </a:extLst>
              </a:tr>
              <a:tr h="95099">
                <a:tc>
                  <a:txBody>
                    <a:bodyPr/>
                    <a:lstStyle/>
                    <a:p>
                      <a:pPr algn="l">
                        <a:lnSpc>
                          <a:spcPts val="623"/>
                        </a:lnSpc>
                        <a:spcBef>
                          <a:spcPts val="0"/>
                        </a:spcBef>
                        <a:spcAft>
                          <a:spcPts val="0"/>
                        </a:spcAft>
                      </a:pPr>
                      <a:r>
                        <a:rPr sz="512" b="0" i="0">
                          <a:solidFill>
                            <a:srgbClr val="2B2B2E"/>
                          </a:solidFill>
                          <a:latin typeface="Arial"/>
                        </a:rPr>
                        <a:t>Tiền ròng²</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dirty="0">
                          <a:solidFill>
                            <a:srgbClr val="2B2B2E"/>
                          </a:solidFill>
                          <a:latin typeface="Arial"/>
                        </a:rPr>
                        <a:t>1,315</a:t>
                      </a:r>
                      <a:endParaRPr lang="vi-VN" sz="600" dirty="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dirty="0">
                          <a:solidFill>
                            <a:srgbClr val="2B2B2E"/>
                          </a:solidFill>
                          <a:latin typeface="Arial"/>
                        </a:rPr>
                        <a:t>1,880</a:t>
                      </a:r>
                      <a:endParaRPr lang="vi-VN" sz="600" dirty="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3A3A3E"/>
                          </a:solidFill>
                          <a:latin typeface="Arial"/>
                        </a:rPr>
                        <a:t>1,915</a:t>
                      </a:r>
                      <a:endParaRPr lang="vi-VN" sz="600"/>
                    </a:p>
                  </a:txBody>
                  <a:tcPr marL="35438" marR="35438" marT="11812" marB="11812">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a:solidFill>
                            <a:srgbClr val="3A3A3E"/>
                          </a:solidFill>
                          <a:latin typeface="Arial"/>
                        </a:rPr>
                        <a:t>2,068</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tc>
                  <a:txBody>
                    <a:bodyPr/>
                    <a:lstStyle/>
                    <a:p>
                      <a:pPr algn="r">
                        <a:lnSpc>
                          <a:spcPts val="623"/>
                        </a:lnSpc>
                        <a:spcBef>
                          <a:spcPts val="0"/>
                        </a:spcBef>
                        <a:spcAft>
                          <a:spcPts val="0"/>
                        </a:spcAft>
                      </a:pPr>
                      <a:r>
                        <a:rPr sz="512" b="0" i="0" dirty="0">
                          <a:solidFill>
                            <a:srgbClr val="3A3A3E"/>
                          </a:solidFill>
                          <a:latin typeface="Arial"/>
                        </a:rPr>
                        <a:t>2,381</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CECEE"/>
                    </a:solidFill>
                  </a:tcPr>
                </a:tc>
                <a:extLst>
                  <a:ext uri="{0D108BD9-81ED-4DB2-BD59-A6C34878D82A}">
                    <a16:rowId xmlns:a16="http://schemas.microsoft.com/office/drawing/2014/main" val="10008"/>
                  </a:ext>
                </a:extLst>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322723726"/>
              </p:ext>
            </p:extLst>
          </p:nvPr>
        </p:nvGraphicFramePr>
        <p:xfrm>
          <a:off x="2457000" y="8110850"/>
          <a:ext cx="4810246" cy="778702"/>
        </p:xfrm>
        <a:graphic>
          <a:graphicData uri="http://schemas.openxmlformats.org/drawingml/2006/table">
            <a:tbl>
              <a:tblPr>
                <a:tableStyleId>{2D5ABB26-0587-4C30-8999-92F81FD0307C}</a:tableStyleId>
              </a:tblPr>
              <a:tblGrid>
                <a:gridCol w="754246">
                  <a:extLst>
                    <a:ext uri="{9D8B030D-6E8A-4147-A177-3AD203B41FA5}">
                      <a16:colId xmlns:a16="http://schemas.microsoft.com/office/drawing/2014/main" val="20000"/>
                    </a:ext>
                  </a:extLst>
                </a:gridCol>
                <a:gridCol w="3268552">
                  <a:extLst>
                    <a:ext uri="{9D8B030D-6E8A-4147-A177-3AD203B41FA5}">
                      <a16:colId xmlns:a16="http://schemas.microsoft.com/office/drawing/2014/main" val="20001"/>
                    </a:ext>
                  </a:extLst>
                </a:gridCol>
                <a:gridCol w="787448">
                  <a:extLst>
                    <a:ext uri="{9D8B030D-6E8A-4147-A177-3AD203B41FA5}">
                      <a16:colId xmlns:a16="http://schemas.microsoft.com/office/drawing/2014/main" val="20002"/>
                    </a:ext>
                  </a:extLst>
                </a:gridCol>
              </a:tblGrid>
              <a:tr h="131312">
                <a:tc>
                  <a:txBody>
                    <a:bodyPr/>
                    <a:lstStyle/>
                    <a:p>
                      <a:pPr algn="l">
                        <a:lnSpc>
                          <a:spcPts val="623"/>
                        </a:lnSpc>
                        <a:spcBef>
                          <a:spcPts val="0"/>
                        </a:spcBef>
                        <a:spcAft>
                          <a:spcPts val="0"/>
                        </a:spcAft>
                      </a:pPr>
                      <a:r>
                        <a:rPr sz="465" b="1" i="0">
                          <a:solidFill>
                            <a:srgbClr val="FFFFFF"/>
                          </a:solidFill>
                          <a:latin typeface="Arial"/>
                        </a:rPr>
                        <a:t>Phương pháp</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Tham số</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r">
                        <a:lnSpc>
                          <a:spcPts val="623"/>
                        </a:lnSpc>
                        <a:spcBef>
                          <a:spcPts val="0"/>
                        </a:spcBef>
                        <a:spcAft>
                          <a:spcPts val="0"/>
                        </a:spcAft>
                      </a:pPr>
                      <a:r>
                        <a:rPr sz="465" b="1" i="0">
                          <a:solidFill>
                            <a:srgbClr val="FFFFFF"/>
                          </a:solidFill>
                          <a:latin typeface="Arial"/>
                        </a:rPr>
                        <a:t>Đồng/cổ phiếu</a:t>
                      </a:r>
                      <a:endParaRPr lang="vi-VN" sz="600"/>
                    </a:p>
                  </a:txBody>
                  <a:tcPr marL="35438" marR="35438" marT="11812" marB="11812">
                    <a:lnL w="0">
                      <a:noFill/>
                    </a:lnL>
                    <a:lnR w="0">
                      <a:noFill/>
                    </a:lnR>
                    <a:lnT w="0">
                      <a:noFill/>
                    </a:lnT>
                    <a:lnB w="9525">
                      <a:solidFill>
                        <a:srgbClr val="FFFFFF"/>
                      </a:solidFill>
                    </a:lnB>
                    <a:solidFill>
                      <a:srgbClr val="3A3A3E"/>
                    </a:solidFill>
                  </a:tcPr>
                </a:tc>
                <a:extLst>
                  <a:ext uri="{0D108BD9-81ED-4DB2-BD59-A6C34878D82A}">
                    <a16:rowId xmlns:a16="http://schemas.microsoft.com/office/drawing/2014/main" val="10000"/>
                  </a:ext>
                </a:extLst>
              </a:tr>
              <a:tr h="158951">
                <a:tc>
                  <a:txBody>
                    <a:bodyPr/>
                    <a:lstStyle/>
                    <a:p>
                      <a:pPr algn="l">
                        <a:lnSpc>
                          <a:spcPts val="623"/>
                        </a:lnSpc>
                        <a:spcBef>
                          <a:spcPts val="0"/>
                        </a:spcBef>
                        <a:spcAft>
                          <a:spcPts val="0"/>
                        </a:spcAft>
                      </a:pPr>
                      <a:r>
                        <a:rPr sz="512" b="1" i="0">
                          <a:solidFill>
                            <a:srgbClr val="3A3A3E"/>
                          </a:solidFill>
                          <a:latin typeface="Arial"/>
                        </a:rPr>
                        <a:t>P/E (30%)</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9.5x × EPS FY27E 7,998</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2B2B2E"/>
                          </a:solidFill>
                          <a:latin typeface="Arial"/>
                        </a:rPr>
                        <a:t>75,980</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extLst>
                  <a:ext uri="{0D108BD9-81ED-4DB2-BD59-A6C34878D82A}">
                    <a16:rowId xmlns:a16="http://schemas.microsoft.com/office/drawing/2014/main" val="10001"/>
                  </a:ext>
                </a:extLst>
              </a:tr>
              <a:tr h="162813">
                <a:tc>
                  <a:txBody>
                    <a:bodyPr/>
                    <a:lstStyle/>
                    <a:p>
                      <a:pPr algn="l">
                        <a:lnSpc>
                          <a:spcPts val="623"/>
                        </a:lnSpc>
                        <a:spcBef>
                          <a:spcPts val="0"/>
                        </a:spcBef>
                        <a:spcAft>
                          <a:spcPts val="0"/>
                        </a:spcAft>
                      </a:pPr>
                      <a:r>
                        <a:rPr sz="512" b="1" i="0">
                          <a:solidFill>
                            <a:srgbClr val="3A3A3E"/>
                          </a:solidFill>
                          <a:latin typeface="Arial"/>
                        </a:rPr>
                        <a:t>P/B (30%)</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0.87x × BVPS 6/2027E 93,410</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r">
                        <a:lnSpc>
                          <a:spcPts val="623"/>
                        </a:lnSpc>
                        <a:spcBef>
                          <a:spcPts val="0"/>
                        </a:spcBef>
                        <a:spcAft>
                          <a:spcPts val="0"/>
                        </a:spcAft>
                      </a:pPr>
                      <a:r>
                        <a:rPr sz="512" b="0" i="0">
                          <a:solidFill>
                            <a:srgbClr val="2B2B2E"/>
                          </a:solidFill>
                          <a:latin typeface="Arial"/>
                        </a:rPr>
                        <a:t>81,267</a:t>
                      </a:r>
                      <a:endParaRPr lang="vi-VN" sz="600"/>
                    </a:p>
                  </a:txBody>
                  <a:tcPr marL="35438" marR="35438" marT="11812" marB="11812">
                    <a:lnT w="9525" cap="flat" cmpd="sng" algn="ctr">
                      <a:solidFill>
                        <a:srgbClr val="E3E0E0"/>
                      </a:solidFill>
                      <a:prstDash val="solid"/>
                      <a:round/>
                      <a:headEnd type="none" w="med" len="med"/>
                      <a:tailEnd type="none" w="med" len="med"/>
                    </a:lnT>
                    <a:noFill/>
                  </a:tcPr>
                </a:tc>
                <a:extLst>
                  <a:ext uri="{0D108BD9-81ED-4DB2-BD59-A6C34878D82A}">
                    <a16:rowId xmlns:a16="http://schemas.microsoft.com/office/drawing/2014/main" val="10002"/>
                  </a:ext>
                </a:extLst>
              </a:tr>
              <a:tr h="162813">
                <a:tc>
                  <a:txBody>
                    <a:bodyPr/>
                    <a:lstStyle/>
                    <a:p>
                      <a:pPr algn="l">
                        <a:lnSpc>
                          <a:spcPts val="623"/>
                        </a:lnSpc>
                        <a:spcBef>
                          <a:spcPts val="0"/>
                        </a:spcBef>
                        <a:spcAft>
                          <a:spcPts val="0"/>
                        </a:spcAft>
                      </a:pPr>
                      <a:r>
                        <a:rPr sz="512" b="1" i="0">
                          <a:solidFill>
                            <a:srgbClr val="3A3A3E"/>
                          </a:solidFill>
                          <a:latin typeface="Arial"/>
                        </a:rPr>
                        <a:t>DCF (40%)</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Trung bình: nhân EBITDA 6.0x (82,385) và Gordon g 3% (100,121)</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r">
                        <a:lnSpc>
                          <a:spcPts val="623"/>
                        </a:lnSpc>
                        <a:spcBef>
                          <a:spcPts val="0"/>
                        </a:spcBef>
                        <a:spcAft>
                          <a:spcPts val="0"/>
                        </a:spcAft>
                      </a:pPr>
                      <a:r>
                        <a:rPr sz="512" b="0" i="0">
                          <a:solidFill>
                            <a:srgbClr val="2B2B2E"/>
                          </a:solidFill>
                          <a:latin typeface="Arial"/>
                        </a:rPr>
                        <a:t>91,253</a:t>
                      </a:r>
                      <a:endParaRPr lang="vi-VN" sz="600"/>
                    </a:p>
                  </a:txBody>
                  <a:tcPr marL="35438" marR="35438" marT="11812" marB="11812">
                    <a:lnL w="0">
                      <a:noFill/>
                    </a:lnL>
                    <a:lnR w="0">
                      <a:noFill/>
                    </a:lnR>
                    <a:lnB w="9525">
                      <a:solidFill>
                        <a:srgbClr val="E3E0E0"/>
                      </a:solidFill>
                    </a:lnB>
                    <a:solidFill>
                      <a:srgbClr val="F6F3F3"/>
                    </a:solidFill>
                  </a:tcPr>
                </a:tc>
                <a:extLst>
                  <a:ext uri="{0D108BD9-81ED-4DB2-BD59-A6C34878D82A}">
                    <a16:rowId xmlns:a16="http://schemas.microsoft.com/office/drawing/2014/main" val="10003"/>
                  </a:ext>
                </a:extLst>
              </a:tr>
              <a:tr h="162813">
                <a:tc>
                  <a:txBody>
                    <a:bodyPr/>
                    <a:lstStyle/>
                    <a:p>
                      <a:pPr algn="l">
                        <a:lnSpc>
                          <a:spcPts val="623"/>
                        </a:lnSpc>
                        <a:spcBef>
                          <a:spcPts val="0"/>
                        </a:spcBef>
                        <a:spcAft>
                          <a:spcPts val="0"/>
                        </a:spcAft>
                      </a:pPr>
                      <a:r>
                        <a:rPr sz="512" b="1" i="0">
                          <a:solidFill>
                            <a:srgbClr val="3A3A3E"/>
                          </a:solidFill>
                          <a:latin typeface="Arial"/>
                        </a:rPr>
                        <a:t>Giá mục tiêu</a:t>
                      </a:r>
                      <a:endParaRPr lang="vi-VN" sz="60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9E6E7"/>
                    </a:solidFill>
                  </a:tcPr>
                </a:tc>
                <a:tc>
                  <a:txBody>
                    <a:bodyPr/>
                    <a:lstStyle/>
                    <a:p>
                      <a:pPr algn="l">
                        <a:lnSpc>
                          <a:spcPts val="623"/>
                        </a:lnSpc>
                        <a:spcBef>
                          <a:spcPts val="0"/>
                        </a:spcBef>
                        <a:spcAft>
                          <a:spcPts val="0"/>
                        </a:spcAft>
                      </a:pP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9E6E7"/>
                    </a:solidFill>
                  </a:tcPr>
                </a:tc>
                <a:tc>
                  <a:txBody>
                    <a:bodyPr/>
                    <a:lstStyle/>
                    <a:p>
                      <a:pPr algn="r">
                        <a:lnSpc>
                          <a:spcPts val="623"/>
                        </a:lnSpc>
                        <a:spcBef>
                          <a:spcPts val="0"/>
                        </a:spcBef>
                        <a:spcAft>
                          <a:spcPts val="0"/>
                        </a:spcAft>
                      </a:pPr>
                      <a:r>
                        <a:rPr lang="en-US" sz="512" b="1" i="0" dirty="0">
                          <a:solidFill>
                            <a:srgbClr val="3A3A3E"/>
                          </a:solidFill>
                          <a:latin typeface="Arial"/>
                        </a:rPr>
                        <a:t>~</a:t>
                      </a:r>
                      <a:r>
                        <a:rPr sz="512" b="1" i="0" dirty="0">
                          <a:solidFill>
                            <a:srgbClr val="3A3A3E"/>
                          </a:solidFill>
                          <a:latin typeface="Arial"/>
                        </a:rPr>
                        <a:t>83,500</a:t>
                      </a:r>
                      <a:endParaRPr lang="vi-VN" sz="600" dirty="0"/>
                    </a:p>
                  </a:txBody>
                  <a:tcPr marL="35438" marR="35438" marT="11812" marB="11812">
                    <a:lnL w="0">
                      <a:noFill/>
                    </a:lnL>
                    <a:lnR w="0">
                      <a:noFill/>
                    </a:lnR>
                    <a:lnT w="9525" cap="flat" cmpd="sng" algn="ctr">
                      <a:solidFill>
                        <a:srgbClr val="E3E0E0"/>
                      </a:solidFill>
                      <a:prstDash val="solid"/>
                      <a:round/>
                      <a:headEnd type="none" w="med" len="med"/>
                      <a:tailEnd type="none" w="med" len="med"/>
                    </a:lnT>
                    <a:lnB w="9525">
                      <a:solidFill>
                        <a:srgbClr val="E3E0E0"/>
                      </a:solidFill>
                    </a:lnB>
                    <a:solidFill>
                      <a:srgbClr val="E9E6E7"/>
                    </a:solidFill>
                  </a:tcPr>
                </a:tc>
                <a:extLst>
                  <a:ext uri="{0D108BD9-81ED-4DB2-BD59-A6C34878D82A}">
                    <a16:rowId xmlns:a16="http://schemas.microsoft.com/office/drawing/2014/main" val="10004"/>
                  </a:ext>
                </a:extLst>
              </a:tr>
            </a:tbl>
          </a:graphicData>
        </a:graphic>
      </p:graphicFrame>
      <p:graphicFrame>
        <p:nvGraphicFramePr>
          <p:cNvPr id="52" name="Table 51"/>
          <p:cNvGraphicFramePr>
            <a:graphicFrameLocks noGrp="1"/>
          </p:cNvGraphicFramePr>
          <p:nvPr/>
        </p:nvGraphicFramePr>
        <p:xfrm>
          <a:off x="236250" y="9561296"/>
          <a:ext cx="7087500" cy="719918"/>
        </p:xfrm>
        <a:graphic>
          <a:graphicData uri="http://schemas.openxmlformats.org/drawingml/2006/table">
            <a:tbl>
              <a:tblPr>
                <a:tableStyleId>{2D5ABB26-0587-4C30-8999-92F81FD0307C}</a:tableStyleId>
              </a:tblPr>
              <a:tblGrid>
                <a:gridCol w="1488375">
                  <a:extLst>
                    <a:ext uri="{9D8B030D-6E8A-4147-A177-3AD203B41FA5}">
                      <a16:colId xmlns:a16="http://schemas.microsoft.com/office/drawing/2014/main" val="20000"/>
                    </a:ext>
                  </a:extLst>
                </a:gridCol>
                <a:gridCol w="2551500">
                  <a:extLst>
                    <a:ext uri="{9D8B030D-6E8A-4147-A177-3AD203B41FA5}">
                      <a16:colId xmlns:a16="http://schemas.microsoft.com/office/drawing/2014/main" val="20001"/>
                    </a:ext>
                  </a:extLst>
                </a:gridCol>
                <a:gridCol w="2126250">
                  <a:extLst>
                    <a:ext uri="{9D8B030D-6E8A-4147-A177-3AD203B41FA5}">
                      <a16:colId xmlns:a16="http://schemas.microsoft.com/office/drawing/2014/main" val="20002"/>
                    </a:ext>
                  </a:extLst>
                </a:gridCol>
                <a:gridCol w="921375">
                  <a:extLst>
                    <a:ext uri="{9D8B030D-6E8A-4147-A177-3AD203B41FA5}">
                      <a16:colId xmlns:a16="http://schemas.microsoft.com/office/drawing/2014/main" val="20003"/>
                    </a:ext>
                  </a:extLst>
                </a:gridCol>
              </a:tblGrid>
              <a:tr h="100406">
                <a:tc>
                  <a:txBody>
                    <a:bodyPr/>
                    <a:lstStyle/>
                    <a:p>
                      <a:pPr algn="l">
                        <a:lnSpc>
                          <a:spcPts val="623"/>
                        </a:lnSpc>
                        <a:spcBef>
                          <a:spcPts val="0"/>
                        </a:spcBef>
                        <a:spcAft>
                          <a:spcPts val="0"/>
                        </a:spcAft>
                      </a:pPr>
                      <a:r>
                        <a:rPr sz="465" b="1" i="0" dirty="0" err="1">
                          <a:solidFill>
                            <a:srgbClr val="FFFFFF"/>
                          </a:solidFill>
                          <a:latin typeface="Arial"/>
                        </a:rPr>
                        <a:t>Rủi</a:t>
                      </a:r>
                      <a:r>
                        <a:rPr sz="465" b="1" i="0" dirty="0">
                          <a:solidFill>
                            <a:srgbClr val="FFFFFF"/>
                          </a:solidFill>
                          <a:latin typeface="Arial"/>
                        </a:rPr>
                        <a:t> </a:t>
                      </a:r>
                      <a:r>
                        <a:rPr sz="465" b="1" i="0" dirty="0" err="1">
                          <a:solidFill>
                            <a:srgbClr val="FFFFFF"/>
                          </a:solidFill>
                          <a:latin typeface="Arial"/>
                        </a:rPr>
                        <a:t>ro</a:t>
                      </a:r>
                      <a:endParaRPr lang="vi-VN" sz="600" dirty="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Tín hiệu theo dõi</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Ngưỡng xem xét lại MUA</a:t>
                      </a:r>
                      <a:endParaRPr lang="vi-VN" sz="600"/>
                    </a:p>
                  </a:txBody>
                  <a:tcPr marL="35438" marR="35438" marT="11812" marB="11812">
                    <a:lnL w="0">
                      <a:noFill/>
                    </a:lnL>
                    <a:lnR w="0">
                      <a:noFill/>
                    </a:lnR>
                    <a:lnT w="0">
                      <a:noFill/>
                    </a:lnT>
                    <a:lnB w="9525">
                      <a:solidFill>
                        <a:srgbClr val="FFFFFF"/>
                      </a:solidFill>
                    </a:lnB>
                    <a:solidFill>
                      <a:srgbClr val="3A3A3E"/>
                    </a:solidFill>
                  </a:tcPr>
                </a:tc>
                <a:tc>
                  <a:txBody>
                    <a:bodyPr/>
                    <a:lstStyle/>
                    <a:p>
                      <a:pPr algn="l">
                        <a:lnSpc>
                          <a:spcPts val="623"/>
                        </a:lnSpc>
                        <a:spcBef>
                          <a:spcPts val="0"/>
                        </a:spcBef>
                        <a:spcAft>
                          <a:spcPts val="0"/>
                        </a:spcAft>
                      </a:pPr>
                      <a:r>
                        <a:rPr sz="465" b="1" i="0">
                          <a:solidFill>
                            <a:srgbClr val="FFFFFF"/>
                          </a:solidFill>
                          <a:latin typeface="Arial"/>
                        </a:rPr>
                        <a:t>Mức độ</a:t>
                      </a:r>
                      <a:endParaRPr lang="vi-VN" sz="600"/>
                    </a:p>
                  </a:txBody>
                  <a:tcPr marL="35438" marR="35438" marT="11812" marB="11812">
                    <a:lnL w="0">
                      <a:noFill/>
                    </a:lnL>
                    <a:lnR w="0">
                      <a:noFill/>
                    </a:lnR>
                    <a:lnT w="0">
                      <a:noFill/>
                    </a:lnT>
                    <a:lnB w="9525">
                      <a:solidFill>
                        <a:srgbClr val="FFFFFF"/>
                      </a:solidFill>
                    </a:lnB>
                    <a:solidFill>
                      <a:srgbClr val="3A3A3E"/>
                    </a:solidFill>
                  </a:tcPr>
                </a:tc>
                <a:extLst>
                  <a:ext uri="{0D108BD9-81ED-4DB2-BD59-A6C34878D82A}">
                    <a16:rowId xmlns:a16="http://schemas.microsoft.com/office/drawing/2014/main" val="10000"/>
                  </a:ext>
                </a:extLst>
              </a:tr>
              <a:tr h="121540">
                <a:tc>
                  <a:txBody>
                    <a:bodyPr/>
                    <a:lstStyle/>
                    <a:p>
                      <a:pPr algn="l">
                        <a:lnSpc>
                          <a:spcPts val="623"/>
                        </a:lnSpc>
                        <a:spcBef>
                          <a:spcPts val="0"/>
                        </a:spcBef>
                        <a:spcAft>
                          <a:spcPts val="0"/>
                        </a:spcAft>
                      </a:pPr>
                      <a:r>
                        <a:rPr sz="512" b="1" i="0">
                          <a:solidFill>
                            <a:srgbClr val="2B2B2E"/>
                          </a:solidFill>
                          <a:latin typeface="Arial"/>
                        </a:rPr>
                        <a:t>BĐS và nhà ở cao tầng (65% backlog)</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dirty="0" err="1">
                          <a:solidFill>
                            <a:srgbClr val="2B2B2E"/>
                          </a:solidFill>
                          <a:latin typeface="Arial"/>
                        </a:rPr>
                        <a:t>Phải</a:t>
                      </a:r>
                      <a:r>
                        <a:rPr sz="512" b="0" i="0" dirty="0">
                          <a:solidFill>
                            <a:srgbClr val="2B2B2E"/>
                          </a:solidFill>
                          <a:latin typeface="Arial"/>
                        </a:rPr>
                        <a:t> </a:t>
                      </a:r>
                      <a:r>
                        <a:rPr sz="512" b="0" i="0" dirty="0" err="1">
                          <a:solidFill>
                            <a:srgbClr val="2B2B2E"/>
                          </a:solidFill>
                          <a:latin typeface="Arial"/>
                        </a:rPr>
                        <a:t>thu</a:t>
                      </a:r>
                      <a:r>
                        <a:rPr sz="512" b="0" i="0" dirty="0">
                          <a:solidFill>
                            <a:srgbClr val="2B2B2E"/>
                          </a:solidFill>
                          <a:latin typeface="Arial"/>
                        </a:rPr>
                        <a:t> </a:t>
                      </a:r>
                      <a:r>
                        <a:rPr sz="512" b="0" i="0" dirty="0" err="1">
                          <a:solidFill>
                            <a:srgbClr val="2B2B2E"/>
                          </a:solidFill>
                          <a:latin typeface="Arial"/>
                        </a:rPr>
                        <a:t>khách</a:t>
                      </a:r>
                      <a:r>
                        <a:rPr sz="512" b="0" i="0" dirty="0">
                          <a:solidFill>
                            <a:srgbClr val="2B2B2E"/>
                          </a:solidFill>
                          <a:latin typeface="Arial"/>
                        </a:rPr>
                        <a:t> </a:t>
                      </a:r>
                      <a:r>
                        <a:rPr sz="512" b="0" i="0" dirty="0" err="1">
                          <a:solidFill>
                            <a:srgbClr val="2B2B2E"/>
                          </a:solidFill>
                          <a:latin typeface="Arial"/>
                        </a:rPr>
                        <a:t>hàng</a:t>
                      </a:r>
                      <a:r>
                        <a:rPr sz="512" b="0" i="0" dirty="0">
                          <a:solidFill>
                            <a:srgbClr val="2B2B2E"/>
                          </a:solidFill>
                          <a:latin typeface="Arial"/>
                        </a:rPr>
                        <a:t> 15,381 </a:t>
                      </a:r>
                      <a:r>
                        <a:rPr sz="512" b="0" i="0" dirty="0" err="1">
                          <a:solidFill>
                            <a:srgbClr val="2B2B2E"/>
                          </a:solidFill>
                          <a:latin typeface="Arial"/>
                        </a:rPr>
                        <a:t>tỷ</a:t>
                      </a:r>
                      <a:r>
                        <a:rPr sz="512" b="0" i="0" dirty="0">
                          <a:solidFill>
                            <a:srgbClr val="2B2B2E"/>
                          </a:solidFill>
                          <a:latin typeface="Arial"/>
                        </a:rPr>
                        <a:t> (40% </a:t>
                      </a:r>
                      <a:r>
                        <a:rPr sz="512" b="0" i="0" dirty="0" err="1">
                          <a:solidFill>
                            <a:srgbClr val="2B2B2E"/>
                          </a:solidFill>
                          <a:latin typeface="Arial"/>
                        </a:rPr>
                        <a:t>tài</a:t>
                      </a:r>
                      <a:r>
                        <a:rPr sz="512" b="0" i="0" dirty="0">
                          <a:solidFill>
                            <a:srgbClr val="2B2B2E"/>
                          </a:solidFill>
                          <a:latin typeface="Arial"/>
                        </a:rPr>
                        <a:t> </a:t>
                      </a:r>
                      <a:r>
                        <a:rPr sz="512" b="0" i="0" dirty="0" err="1">
                          <a:solidFill>
                            <a:srgbClr val="2B2B2E"/>
                          </a:solidFill>
                          <a:latin typeface="Arial"/>
                        </a:rPr>
                        <a:t>sản</a:t>
                      </a:r>
                      <a:r>
                        <a:rPr sz="512" b="0" i="0" dirty="0">
                          <a:solidFill>
                            <a:srgbClr val="2B2B2E"/>
                          </a:solidFill>
                          <a:latin typeface="Arial"/>
                        </a:rPr>
                        <a:t>), </a:t>
                      </a:r>
                      <a:r>
                        <a:rPr sz="512" b="0" i="0" dirty="0" err="1">
                          <a:solidFill>
                            <a:srgbClr val="2B2B2E"/>
                          </a:solidFill>
                          <a:latin typeface="Arial"/>
                        </a:rPr>
                        <a:t>dự</a:t>
                      </a:r>
                      <a:r>
                        <a:rPr sz="512" b="0" i="0" dirty="0">
                          <a:solidFill>
                            <a:srgbClr val="2B2B2E"/>
                          </a:solidFill>
                          <a:latin typeface="Arial"/>
                        </a:rPr>
                        <a:t> </a:t>
                      </a:r>
                      <a:r>
                        <a:rPr sz="512" b="0" i="0" dirty="0" err="1">
                          <a:solidFill>
                            <a:srgbClr val="2B2B2E"/>
                          </a:solidFill>
                          <a:latin typeface="Arial"/>
                        </a:rPr>
                        <a:t>phòng</a:t>
                      </a:r>
                      <a:r>
                        <a:rPr sz="512" b="0" i="0" dirty="0">
                          <a:solidFill>
                            <a:srgbClr val="2B2B2E"/>
                          </a:solidFill>
                          <a:latin typeface="Arial"/>
                        </a:rPr>
                        <a:t> 1,374 </a:t>
                      </a:r>
                      <a:r>
                        <a:rPr sz="512" b="0" i="0" dirty="0" err="1">
                          <a:solidFill>
                            <a:srgbClr val="2B2B2E"/>
                          </a:solidFill>
                          <a:latin typeface="Arial"/>
                        </a:rPr>
                        <a:t>tỷ</a:t>
                      </a:r>
                      <a:endParaRPr lang="vi-VN" sz="600" dirty="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Trích lập thêm dự phòng &gt;500 tỷ</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Cao</a:t>
                      </a:r>
                      <a:endParaRPr lang="vi-VN" sz="600"/>
                    </a:p>
                  </a:txBody>
                  <a:tcPr marL="35438" marR="35438" marT="11812" marB="11812">
                    <a:lnL w="0">
                      <a:noFill/>
                    </a:lnL>
                    <a:lnR w="0">
                      <a:noFill/>
                    </a:lnR>
                    <a:lnT w="9525" cap="flat" cmpd="sng" algn="ctr">
                      <a:solidFill>
                        <a:srgbClr val="FFFFFF"/>
                      </a:solidFill>
                      <a:prstDash val="solid"/>
                      <a:round/>
                      <a:headEnd type="none" w="med" len="med"/>
                      <a:tailEnd type="none" w="med" len="med"/>
                    </a:lnT>
                    <a:lnB w="9525">
                      <a:solidFill>
                        <a:srgbClr val="E3E0E0"/>
                      </a:solidFill>
                    </a:lnB>
                    <a:solidFill>
                      <a:srgbClr val="F6F3F3"/>
                    </a:solidFill>
                  </a:tcPr>
                </a:tc>
                <a:extLst>
                  <a:ext uri="{0D108BD9-81ED-4DB2-BD59-A6C34878D82A}">
                    <a16:rowId xmlns:a16="http://schemas.microsoft.com/office/drawing/2014/main" val="10001"/>
                  </a:ext>
                </a:extLst>
              </a:tr>
              <a:tr h="124493">
                <a:tc>
                  <a:txBody>
                    <a:bodyPr/>
                    <a:lstStyle/>
                    <a:p>
                      <a:pPr algn="l">
                        <a:lnSpc>
                          <a:spcPts val="623"/>
                        </a:lnSpc>
                        <a:spcBef>
                          <a:spcPts val="0"/>
                        </a:spcBef>
                        <a:spcAft>
                          <a:spcPts val="0"/>
                        </a:spcAft>
                      </a:pPr>
                      <a:r>
                        <a:rPr sz="512" b="1" i="0">
                          <a:solidFill>
                            <a:srgbClr val="2B2B2E"/>
                          </a:solidFill>
                          <a:latin typeface="Arial"/>
                        </a:rPr>
                        <a:t>Giá vật liệu và biên gộp</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dirty="0" err="1">
                          <a:solidFill>
                            <a:srgbClr val="2B2B2E"/>
                          </a:solidFill>
                          <a:latin typeface="Arial"/>
                        </a:rPr>
                        <a:t>Vật</a:t>
                      </a:r>
                      <a:r>
                        <a:rPr sz="512" b="0" i="0" dirty="0">
                          <a:solidFill>
                            <a:srgbClr val="2B2B2E"/>
                          </a:solidFill>
                          <a:latin typeface="Arial"/>
                        </a:rPr>
                        <a:t> </a:t>
                      </a:r>
                      <a:r>
                        <a:rPr sz="512" b="0" i="0" dirty="0" err="1">
                          <a:solidFill>
                            <a:srgbClr val="2B2B2E"/>
                          </a:solidFill>
                          <a:latin typeface="Arial"/>
                        </a:rPr>
                        <a:t>liệu</a:t>
                      </a:r>
                      <a:r>
                        <a:rPr sz="512" b="0" i="0" dirty="0">
                          <a:solidFill>
                            <a:srgbClr val="2B2B2E"/>
                          </a:solidFill>
                          <a:latin typeface="Arial"/>
                        </a:rPr>
                        <a:t> +20</a:t>
                      </a:r>
                      <a:r>
                        <a:rPr lang="en-US" sz="512" b="0" i="0" dirty="0">
                          <a:solidFill>
                            <a:srgbClr val="2B2B2E"/>
                          </a:solidFill>
                          <a:latin typeface="Arial"/>
                        </a:rPr>
                        <a:t>-</a:t>
                      </a:r>
                      <a:r>
                        <a:rPr sz="512" b="0" i="0" dirty="0">
                          <a:solidFill>
                            <a:srgbClr val="2B2B2E"/>
                          </a:solidFill>
                          <a:latin typeface="Arial"/>
                        </a:rPr>
                        <a:t>32%; </a:t>
                      </a:r>
                      <a:r>
                        <a:rPr sz="512" b="0" i="0" dirty="0" err="1">
                          <a:solidFill>
                            <a:srgbClr val="2B2B2E"/>
                          </a:solidFill>
                          <a:latin typeface="Arial"/>
                        </a:rPr>
                        <a:t>hợp</a:t>
                      </a:r>
                      <a:r>
                        <a:rPr sz="512" b="0" i="0" dirty="0">
                          <a:solidFill>
                            <a:srgbClr val="2B2B2E"/>
                          </a:solidFill>
                          <a:latin typeface="Arial"/>
                        </a:rPr>
                        <a:t> </a:t>
                      </a:r>
                      <a:r>
                        <a:rPr sz="512" b="0" i="0" dirty="0" err="1">
                          <a:solidFill>
                            <a:srgbClr val="2B2B2E"/>
                          </a:solidFill>
                          <a:latin typeface="Arial"/>
                        </a:rPr>
                        <a:t>đồng</a:t>
                      </a:r>
                      <a:r>
                        <a:rPr sz="512" b="0" i="0" dirty="0">
                          <a:solidFill>
                            <a:srgbClr val="2B2B2E"/>
                          </a:solidFill>
                          <a:latin typeface="Arial"/>
                        </a:rPr>
                        <a:t> </a:t>
                      </a:r>
                      <a:r>
                        <a:rPr sz="512" b="0" i="0" dirty="0" err="1">
                          <a:solidFill>
                            <a:srgbClr val="2B2B2E"/>
                          </a:solidFill>
                          <a:latin typeface="Arial"/>
                        </a:rPr>
                        <a:t>giá</a:t>
                      </a:r>
                      <a:r>
                        <a:rPr sz="512" b="0" i="0" dirty="0">
                          <a:solidFill>
                            <a:srgbClr val="2B2B2E"/>
                          </a:solidFill>
                          <a:latin typeface="Arial"/>
                        </a:rPr>
                        <a:t> </a:t>
                      </a:r>
                      <a:r>
                        <a:rPr sz="512" b="0" i="0" dirty="0" err="1">
                          <a:solidFill>
                            <a:srgbClr val="2B2B2E"/>
                          </a:solidFill>
                          <a:latin typeface="Arial"/>
                        </a:rPr>
                        <a:t>cố</a:t>
                      </a:r>
                      <a:r>
                        <a:rPr sz="512" b="0" i="0" dirty="0">
                          <a:solidFill>
                            <a:srgbClr val="2B2B2E"/>
                          </a:solidFill>
                          <a:latin typeface="Arial"/>
                        </a:rPr>
                        <a:t> </a:t>
                      </a:r>
                      <a:r>
                        <a:rPr sz="512" b="0" i="0" dirty="0" err="1">
                          <a:solidFill>
                            <a:srgbClr val="2B2B2E"/>
                          </a:solidFill>
                          <a:latin typeface="Arial"/>
                        </a:rPr>
                        <a:t>định</a:t>
                      </a:r>
                      <a:r>
                        <a:rPr sz="512" b="0" i="0" dirty="0">
                          <a:solidFill>
                            <a:srgbClr val="2B2B2E"/>
                          </a:solidFill>
                          <a:latin typeface="Arial"/>
                        </a:rPr>
                        <a:t> </a:t>
                      </a:r>
                      <a:r>
                        <a:rPr sz="512" b="0" i="0" dirty="0" err="1">
                          <a:solidFill>
                            <a:srgbClr val="2B2B2E"/>
                          </a:solidFill>
                          <a:latin typeface="Arial"/>
                        </a:rPr>
                        <a:t>hết</a:t>
                      </a:r>
                      <a:r>
                        <a:rPr sz="512" b="0" i="0" dirty="0">
                          <a:solidFill>
                            <a:srgbClr val="2B2B2E"/>
                          </a:solidFill>
                          <a:latin typeface="Arial"/>
                        </a:rPr>
                        <a:t> </a:t>
                      </a:r>
                      <a:r>
                        <a:rPr sz="512" b="0" i="0" dirty="0" err="1">
                          <a:solidFill>
                            <a:srgbClr val="2B2B2E"/>
                          </a:solidFill>
                          <a:latin typeface="Arial"/>
                        </a:rPr>
                        <a:t>hạn</a:t>
                      </a:r>
                      <a:r>
                        <a:rPr sz="512" b="0" i="0" dirty="0">
                          <a:solidFill>
                            <a:srgbClr val="2B2B2E"/>
                          </a:solidFill>
                          <a:latin typeface="Arial"/>
                        </a:rPr>
                        <a:t> 2027</a:t>
                      </a:r>
                      <a:endParaRPr lang="vi-VN" sz="600" dirty="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Biên gộp &lt;3.8% hai quý (0.1 điểm ≈ 2.2% giá mục tiêu)</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Cao</a:t>
                      </a:r>
                      <a:endParaRPr lang="vi-VN" sz="600"/>
                    </a:p>
                  </a:txBody>
                  <a:tcPr marL="35438" marR="35438" marT="11812" marB="11812">
                    <a:lnT w="9525" cap="flat" cmpd="sng" algn="ctr">
                      <a:solidFill>
                        <a:srgbClr val="E3E0E0"/>
                      </a:solidFill>
                      <a:prstDash val="solid"/>
                      <a:round/>
                      <a:headEnd type="none" w="med" len="med"/>
                      <a:tailEnd type="none" w="med" len="med"/>
                    </a:lnT>
                    <a:noFill/>
                  </a:tcPr>
                </a:tc>
                <a:extLst>
                  <a:ext uri="{0D108BD9-81ED-4DB2-BD59-A6C34878D82A}">
                    <a16:rowId xmlns:a16="http://schemas.microsoft.com/office/drawing/2014/main" val="10002"/>
                  </a:ext>
                </a:extLst>
              </a:tr>
              <a:tr h="124493">
                <a:tc>
                  <a:txBody>
                    <a:bodyPr/>
                    <a:lstStyle/>
                    <a:p>
                      <a:pPr algn="l">
                        <a:lnSpc>
                          <a:spcPts val="623"/>
                        </a:lnSpc>
                        <a:spcBef>
                          <a:spcPts val="0"/>
                        </a:spcBef>
                        <a:spcAft>
                          <a:spcPts val="0"/>
                        </a:spcAft>
                      </a:pPr>
                      <a:r>
                        <a:rPr sz="512" b="1" i="0">
                          <a:solidFill>
                            <a:srgbClr val="2B2B2E"/>
                          </a:solidFill>
                          <a:latin typeface="Arial"/>
                        </a:rPr>
                        <a:t>Dòng tiền phụ thuộc ứng trước</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OCF FY25 −1,154 tỷ; ứng trước 9,029 tỷ</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OCF âm hai quý và ứng trước giảm; độ phủ &lt;1.5x</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Cao (stress: 83.5 → 67.5)</a:t>
                      </a:r>
                      <a:endParaRPr lang="vi-VN" sz="600"/>
                    </a:p>
                  </a:txBody>
                  <a:tcPr marL="35438" marR="35438" marT="11812" marB="11812">
                    <a:lnL w="0">
                      <a:noFill/>
                    </a:lnL>
                    <a:lnR w="0">
                      <a:noFill/>
                    </a:lnR>
                    <a:lnB w="9525">
                      <a:solidFill>
                        <a:srgbClr val="E3E0E0"/>
                      </a:solidFill>
                    </a:lnB>
                    <a:solidFill>
                      <a:srgbClr val="F6F3F3"/>
                    </a:solidFill>
                  </a:tcPr>
                </a:tc>
                <a:extLst>
                  <a:ext uri="{0D108BD9-81ED-4DB2-BD59-A6C34878D82A}">
                    <a16:rowId xmlns:a16="http://schemas.microsoft.com/office/drawing/2014/main" val="10003"/>
                  </a:ext>
                </a:extLst>
              </a:tr>
              <a:tr h="124493">
                <a:tc>
                  <a:txBody>
                    <a:bodyPr/>
                    <a:lstStyle/>
                    <a:p>
                      <a:pPr algn="l">
                        <a:lnSpc>
                          <a:spcPts val="623"/>
                        </a:lnSpc>
                        <a:spcBef>
                          <a:spcPts val="0"/>
                        </a:spcBef>
                        <a:spcAft>
                          <a:spcPts val="0"/>
                        </a:spcAft>
                      </a:pPr>
                      <a:r>
                        <a:rPr sz="512" b="1" i="0">
                          <a:solidFill>
                            <a:srgbClr val="2B2B2E"/>
                          </a:solidFill>
                          <a:latin typeface="Arial"/>
                        </a:rPr>
                        <a:t>Lãi suất và nợ vay</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Vay 5,943 tỷ; lãi vay +146% lên 351 tỷ</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Thu nhập tài chính ±100 tỷ = ±4.6% giá mục tiêu</a:t>
                      </a:r>
                      <a:endParaRPr lang="vi-VN" sz="600"/>
                    </a:p>
                  </a:txBody>
                  <a:tcPr marL="35438" marR="35438" marT="11812" marB="11812">
                    <a:lnT w="9525" cap="flat" cmpd="sng" algn="ctr">
                      <a:solidFill>
                        <a:srgbClr val="E3E0E0"/>
                      </a:solidFill>
                      <a:prstDash val="solid"/>
                      <a:round/>
                      <a:headEnd type="none" w="med" len="med"/>
                      <a:tailEnd type="none" w="med" len="med"/>
                    </a:lnT>
                    <a:noFill/>
                  </a:tcPr>
                </a:tc>
                <a:tc>
                  <a:txBody>
                    <a:bodyPr/>
                    <a:lstStyle/>
                    <a:p>
                      <a:pPr algn="l">
                        <a:lnSpc>
                          <a:spcPts val="623"/>
                        </a:lnSpc>
                        <a:spcBef>
                          <a:spcPts val="0"/>
                        </a:spcBef>
                        <a:spcAft>
                          <a:spcPts val="0"/>
                        </a:spcAft>
                      </a:pPr>
                      <a:r>
                        <a:rPr sz="512" b="0" i="0">
                          <a:solidFill>
                            <a:srgbClr val="2B2B2E"/>
                          </a:solidFill>
                          <a:latin typeface="Arial"/>
                        </a:rPr>
                        <a:t>Vừa</a:t>
                      </a:r>
                      <a:endParaRPr lang="vi-VN" sz="600"/>
                    </a:p>
                  </a:txBody>
                  <a:tcPr marL="35438" marR="35438" marT="11812" marB="11812">
                    <a:lnT w="9525" cap="flat" cmpd="sng" algn="ctr">
                      <a:solidFill>
                        <a:srgbClr val="E3E0E0"/>
                      </a:solidFill>
                      <a:prstDash val="solid"/>
                      <a:round/>
                      <a:headEnd type="none" w="med" len="med"/>
                      <a:tailEnd type="none" w="med" len="med"/>
                    </a:lnT>
                    <a:noFill/>
                  </a:tcPr>
                </a:tc>
                <a:extLst>
                  <a:ext uri="{0D108BD9-81ED-4DB2-BD59-A6C34878D82A}">
                    <a16:rowId xmlns:a16="http://schemas.microsoft.com/office/drawing/2014/main" val="10004"/>
                  </a:ext>
                </a:extLst>
              </a:tr>
              <a:tr h="124493">
                <a:tc>
                  <a:txBody>
                    <a:bodyPr/>
                    <a:lstStyle/>
                    <a:p>
                      <a:pPr algn="l">
                        <a:lnSpc>
                          <a:spcPts val="623"/>
                        </a:lnSpc>
                        <a:spcBef>
                          <a:spcPts val="0"/>
                        </a:spcBef>
                        <a:spcAft>
                          <a:spcPts val="0"/>
                        </a:spcAft>
                      </a:pPr>
                      <a:r>
                        <a:rPr sz="512" b="1" i="0">
                          <a:solidFill>
                            <a:srgbClr val="2B2B2E"/>
                          </a:solidFill>
                          <a:latin typeface="Arial"/>
                        </a:rPr>
                        <a:t>Quản trị và nhân sự tài chính</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CFO rời công ty 26/4/2026; Tân Hoàng Minh 526 tỷ đã trích lập</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a:solidFill>
                            <a:srgbClr val="2B2B2E"/>
                          </a:solidFill>
                          <a:latin typeface="Arial"/>
                        </a:rPr>
                        <a:t>Kết quả hoà giải chưa chắc chắn</a:t>
                      </a:r>
                      <a:endParaRPr lang="vi-VN" sz="600"/>
                    </a:p>
                  </a:txBody>
                  <a:tcPr marL="35438" marR="35438" marT="11812" marB="11812">
                    <a:lnL w="0">
                      <a:noFill/>
                    </a:lnL>
                    <a:lnR w="0">
                      <a:noFill/>
                    </a:lnR>
                    <a:lnB w="9525">
                      <a:solidFill>
                        <a:srgbClr val="E3E0E0"/>
                      </a:solidFill>
                    </a:lnB>
                    <a:solidFill>
                      <a:srgbClr val="F6F3F3"/>
                    </a:solidFill>
                  </a:tcPr>
                </a:tc>
                <a:tc>
                  <a:txBody>
                    <a:bodyPr/>
                    <a:lstStyle/>
                    <a:p>
                      <a:pPr algn="l">
                        <a:lnSpc>
                          <a:spcPts val="623"/>
                        </a:lnSpc>
                        <a:spcBef>
                          <a:spcPts val="0"/>
                        </a:spcBef>
                        <a:spcAft>
                          <a:spcPts val="0"/>
                        </a:spcAft>
                      </a:pPr>
                      <a:r>
                        <a:rPr sz="512" b="0" i="0" dirty="0" err="1">
                          <a:solidFill>
                            <a:srgbClr val="2B2B2E"/>
                          </a:solidFill>
                          <a:latin typeface="Arial"/>
                        </a:rPr>
                        <a:t>Vừa</a:t>
                      </a:r>
                      <a:endParaRPr lang="vi-VN" sz="600" dirty="0"/>
                    </a:p>
                  </a:txBody>
                  <a:tcPr marL="35438" marR="35438" marT="11812" marB="11812">
                    <a:lnL w="0">
                      <a:noFill/>
                    </a:lnL>
                    <a:lnR w="0">
                      <a:noFill/>
                    </a:lnR>
                    <a:lnB w="9525">
                      <a:solidFill>
                        <a:srgbClr val="E3E0E0"/>
                      </a:solidFill>
                    </a:lnB>
                    <a:solidFill>
                      <a:srgbClr val="F6F3F3"/>
                    </a:solidFill>
                  </a:tcPr>
                </a:tc>
                <a:extLst>
                  <a:ext uri="{0D108BD9-81ED-4DB2-BD59-A6C34878D82A}">
                    <a16:rowId xmlns:a16="http://schemas.microsoft.com/office/drawing/2014/main" val="10005"/>
                  </a:ext>
                </a:extLst>
              </a:tr>
            </a:tbl>
          </a:graphicData>
        </a:graphic>
      </p:graphicFrame>
      <p:sp>
        <p:nvSpPr>
          <p:cNvPr id="53" name="TextBox 52"/>
          <p:cNvSpPr txBox="1"/>
          <p:nvPr/>
        </p:nvSpPr>
        <p:spPr>
          <a:xfrm>
            <a:off x="230344" y="10554469"/>
            <a:ext cx="4125555" cy="70875"/>
          </a:xfrm>
          <a:prstGeom prst="rect">
            <a:avLst/>
          </a:prstGeom>
          <a:noFill/>
        </p:spPr>
        <p:txBody>
          <a:bodyPr wrap="square" lIns="0" tIns="0" rIns="0" bIns="0" anchor="t"/>
          <a:lstStyle/>
          <a:p>
            <a:pPr algn="l">
              <a:lnSpc>
                <a:spcPts val="494"/>
              </a:lnSpc>
              <a:spcBef>
                <a:spcPts val="0"/>
              </a:spcBef>
              <a:spcAft>
                <a:spcPts val="0"/>
              </a:spcAft>
            </a:pPr>
            <a:r>
              <a:rPr sz="419" b="0" i="0">
                <a:solidFill>
                  <a:srgbClr val="8C8C91"/>
                </a:solidFill>
                <a:latin typeface="Arial"/>
              </a:rPr>
              <a:t>Số liệu tính đến 1/10/2026. (F) = dự phóng của nhóm, không phải số công bố. Nguồn ghi dưới từng hình; giá mục tiêu theo mô hình CTD_Financial_Model_v4_analyst.</a:t>
            </a:r>
          </a:p>
        </p:txBody>
      </p:sp>
      <p:sp>
        <p:nvSpPr>
          <p:cNvPr id="54" name="TextBox 53"/>
          <p:cNvSpPr txBox="1"/>
          <p:nvPr/>
        </p:nvSpPr>
        <p:spPr>
          <a:xfrm>
            <a:off x="6253704" y="10554469"/>
            <a:ext cx="1146828" cy="70875"/>
          </a:xfrm>
          <a:prstGeom prst="rect">
            <a:avLst/>
          </a:prstGeom>
          <a:noFill/>
        </p:spPr>
        <p:txBody>
          <a:bodyPr wrap="square" lIns="0" tIns="0" rIns="0" bIns="0" anchor="t"/>
          <a:lstStyle/>
          <a:p>
            <a:pPr algn="l">
              <a:lnSpc>
                <a:spcPts val="494"/>
              </a:lnSpc>
              <a:spcBef>
                <a:spcPts val="0"/>
              </a:spcBef>
              <a:spcAft>
                <a:spcPts val="0"/>
              </a:spcAft>
            </a:pPr>
            <a:r>
              <a:rPr sz="419" b="0" i="0">
                <a:solidFill>
                  <a:srgbClr val="8C8C91"/>
                </a:solidFill>
                <a:latin typeface="Arial"/>
              </a:rPr>
              <a:t>Không phải khuyến nghị đầu tư cá nhân · 2/2</a:t>
            </a:r>
          </a:p>
        </p:txBody>
      </p:sp>
      <p:sp>
        <p:nvSpPr>
          <p:cNvPr id="55" name="Rectangle 54"/>
          <p:cNvSpPr/>
          <p:nvPr/>
        </p:nvSpPr>
        <p:spPr>
          <a:xfrm>
            <a:off x="236250" y="10530844"/>
            <a:ext cx="7087500" cy="5906"/>
          </a:xfrm>
          <a:prstGeom prst="rect">
            <a:avLst/>
          </a:prstGeom>
          <a:solidFill>
            <a:srgbClr val="E3E0E0"/>
          </a:solidFill>
          <a:ln>
            <a:noFill/>
          </a:ln>
          <a:effectLst/>
        </p:spPr>
        <p:txBody>
          <a:bodyPr rtlCol="0" anchor="ctr"/>
          <a:lstStyle/>
          <a:p>
            <a:pPr algn="ctr"/>
            <a:endParaRPr/>
          </a:p>
        </p:txBody>
      </p:sp>
      <p:sp>
        <p:nvSpPr>
          <p:cNvPr id="57" name="Rectangle 56">
            <a:extLst>
              <a:ext uri="{FF2B5EF4-FFF2-40B4-BE49-F238E27FC236}">
                <a16:creationId xmlns:a16="http://schemas.microsoft.com/office/drawing/2014/main" id="{AB5BC877-AB1C-4720-8801-FCED12D06EF7}"/>
              </a:ext>
            </a:extLst>
          </p:cNvPr>
          <p:cNvSpPr/>
          <p:nvPr/>
        </p:nvSpPr>
        <p:spPr>
          <a:xfrm>
            <a:off x="2293121" y="6565650"/>
            <a:ext cx="116945" cy="61232"/>
          </a:xfrm>
          <a:prstGeom prst="rect">
            <a:avLst/>
          </a:prstGeom>
          <a:solidFill>
            <a:srgbClr val="FCFBFB"/>
          </a:solidFill>
          <a:ln>
            <a:solidFill>
              <a:srgbClr val="FCFB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TotalTime>
  <Words>3913</Words>
  <Application>Microsoft Office PowerPoint</Application>
  <PresentationFormat>Custom</PresentationFormat>
  <Paragraphs>192</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craven lord</cp:lastModifiedBy>
  <cp:revision>2</cp:revision>
  <dcterms:created xsi:type="dcterms:W3CDTF">2013-01-27T09:14:16Z</dcterms:created>
  <dcterms:modified xsi:type="dcterms:W3CDTF">2026-10-03T05:32:21Z</dcterms:modified>
  <cp:category/>
</cp:coreProperties>
</file>